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FCFS</c:v>
                </c:pt>
              </c:strCache>
            </c:strRef>
          </c:tx>
          <c:spPr>
            <a:solidFill>
              <a:srgbClr val="00000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Enterprise</c:v>
                  </c:pt>
                  <c:pt idx="1">
                    <c:v>Premium</c:v>
                  </c:pt>
                  <c:pt idx="2">
                    <c:v>Standard</c:v>
                  </c:pt>
                  <c:pt idx="3">
                    <c:v>Free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432</c:v>
                </c:pt>
                <c:pt idx="1">
                  <c:v>1480</c:v>
                </c:pt>
                <c:pt idx="2">
                  <c:v>2522</c:v>
                </c:pt>
                <c:pt idx="3">
                  <c:v>3561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Priority</c:v>
                </c:pt>
              </c:strCache>
            </c:strRef>
          </c:tx>
          <c:spPr>
            <a:solidFill>
              <a:srgbClr val="66666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Enterprise</c:v>
                  </c:pt>
                  <c:pt idx="1">
                    <c:v>Premium</c:v>
                  </c:pt>
                  <c:pt idx="2">
                    <c:v>Standard</c:v>
                  </c:pt>
                  <c:pt idx="3">
                    <c:v>Free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664</c:v>
                </c:pt>
                <c:pt idx="1">
                  <c:v>1333</c:v>
                </c:pt>
                <c:pt idx="2">
                  <c:v>2541</c:v>
                </c:pt>
                <c:pt idx="3">
                  <c:v>3371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WFQ</c:v>
                </c:pt>
              </c:strCache>
            </c:strRef>
          </c:tx>
          <c:spPr>
            <a:solidFill>
              <a:srgbClr val="CCCCC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Enterprise</c:v>
                  </c:pt>
                  <c:pt idx="1">
                    <c:v>Premium</c:v>
                  </c:pt>
                  <c:pt idx="2">
                    <c:v>Standard</c:v>
                  </c:pt>
                  <c:pt idx="3">
                    <c:v>Free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410</c:v>
                </c:pt>
                <c:pt idx="1">
                  <c:v>1458</c:v>
                </c:pt>
                <c:pt idx="2">
                  <c:v>2496</c:v>
                </c:pt>
                <c:pt idx="3">
                  <c:v>3542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8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DDDDD"/>
              </a:solidFill>
              <a:prstDash val="dot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8595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1. 시스템 아키텍처 (System Architecture)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457200" y="685800"/>
            <a:ext cx="8229600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740664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클라이언트 계층 (Client)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3282696" y="941832"/>
            <a:ext cx="237744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282696" y="941832"/>
            <a:ext cx="2377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REST Client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769864" y="941832"/>
            <a:ext cx="237744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769864" y="941832"/>
            <a:ext cx="2377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대시보드 (Dashboard)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57200" y="1783080"/>
            <a:ext cx="8229600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837944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API 계층 (Express.js + Rate Limiter)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715768" y="2039112"/>
            <a:ext cx="141732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715768" y="2039112"/>
            <a:ext cx="1417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요청 접수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242816" y="2039112"/>
            <a:ext cx="141732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242816" y="2039112"/>
            <a:ext cx="1417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스케줄러 전환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769864" y="2039112"/>
            <a:ext cx="141732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769864" y="2039112"/>
            <a:ext cx="1417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통계 조회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7296912" y="2039112"/>
            <a:ext cx="1417320" cy="384048"/>
          </a:xfrm>
          <a:prstGeom prst="rect">
            <a:avLst/>
          </a:prstGeom>
          <a:solidFill>
            <a:srgbClr val="F5F5F5"/>
          </a:solidFill>
          <a:ln w="12700">
            <a:solidFill>
              <a:srgbClr val="1F3A5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296912" y="2039112"/>
            <a:ext cx="1417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Rate Limiter (구독 등급·429 응답)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457200" y="2880360"/>
            <a:ext cx="8229600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2935224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스케줄러 계층 (Scheduler)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2715768" y="3136392"/>
            <a:ext cx="141732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715768" y="3136392"/>
            <a:ext cx="1417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FCFS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4242816" y="3136392"/>
            <a:ext cx="141732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242816" y="3136392"/>
            <a:ext cx="1417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Priority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5769864" y="3136392"/>
            <a:ext cx="141732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769864" y="3136392"/>
            <a:ext cx="1417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MLFQ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7296912" y="3136392"/>
            <a:ext cx="141732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296912" y="3136392"/>
            <a:ext cx="1417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WFQ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457200" y="3977640"/>
            <a:ext cx="8229600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0080" y="4032504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저장소/LLM 계층 (Storage/LLM)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2862072" y="4233672"/>
            <a:ext cx="182880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862072" y="4233672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메모리 큐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4800600" y="4233672"/>
            <a:ext cx="182880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800600" y="4233672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JSON 로그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6739128" y="4233672"/>
            <a:ext cx="182880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739128" y="4233672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Ollama LLM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110228" y="1417320"/>
            <a:ext cx="9144" cy="18288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 rot="10800000">
            <a:off x="4041648" y="1527048"/>
            <a:ext cx="146304" cy="91440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520440" y="1417320"/>
            <a:ext cx="502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요청</a:t>
            </a:r>
            <a:endParaRPr lang="en-US" sz="700" dirty="0"/>
          </a:p>
        </p:txBody>
      </p:sp>
      <p:sp>
        <p:nvSpPr>
          <p:cNvPr id="40" name="Shape 38"/>
          <p:cNvSpPr/>
          <p:nvPr/>
        </p:nvSpPr>
        <p:spPr>
          <a:xfrm>
            <a:off x="4658868" y="1600200"/>
            <a:ext cx="9144" cy="182880"/>
          </a:xfrm>
          <a:prstGeom prst="rect">
            <a:avLst/>
          </a:prstGeom>
          <a:solidFill>
            <a:srgbClr val="6666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4590288" y="1417320"/>
            <a:ext cx="146304" cy="91440"/>
          </a:xfrm>
          <a:prstGeom prst="triangle">
            <a:avLst/>
          </a:prstGeom>
          <a:solidFill>
            <a:srgbClr val="666666"/>
          </a:solidFill>
          <a:ln w="6350">
            <a:solidFill>
              <a:srgbClr val="666666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166360" y="1417320"/>
            <a:ext cx="502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666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응답</a:t>
            </a:r>
            <a:endParaRPr lang="en-US" sz="700" dirty="0"/>
          </a:p>
        </p:txBody>
      </p:sp>
      <p:sp>
        <p:nvSpPr>
          <p:cNvPr id="43" name="Shape 41"/>
          <p:cNvSpPr/>
          <p:nvPr/>
        </p:nvSpPr>
        <p:spPr>
          <a:xfrm>
            <a:off x="4110228" y="2514600"/>
            <a:ext cx="9144" cy="18288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 rot="10800000">
            <a:off x="4041648" y="2624328"/>
            <a:ext cx="146304" cy="91440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520440" y="2514600"/>
            <a:ext cx="502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요청</a:t>
            </a:r>
            <a:endParaRPr lang="en-US" sz="700" dirty="0"/>
          </a:p>
        </p:txBody>
      </p:sp>
      <p:sp>
        <p:nvSpPr>
          <p:cNvPr id="46" name="Shape 44"/>
          <p:cNvSpPr/>
          <p:nvPr/>
        </p:nvSpPr>
        <p:spPr>
          <a:xfrm>
            <a:off x="4658868" y="2697480"/>
            <a:ext cx="9144" cy="182880"/>
          </a:xfrm>
          <a:prstGeom prst="rect">
            <a:avLst/>
          </a:prstGeom>
          <a:solidFill>
            <a:srgbClr val="6666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4590288" y="2514600"/>
            <a:ext cx="146304" cy="91440"/>
          </a:xfrm>
          <a:prstGeom prst="triangle">
            <a:avLst/>
          </a:prstGeom>
          <a:solidFill>
            <a:srgbClr val="666666"/>
          </a:solidFill>
          <a:ln w="6350">
            <a:solidFill>
              <a:srgbClr val="666666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166360" y="2514600"/>
            <a:ext cx="502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666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응답</a:t>
            </a:r>
            <a:endParaRPr lang="en-US" sz="700" dirty="0"/>
          </a:p>
        </p:txBody>
      </p:sp>
      <p:sp>
        <p:nvSpPr>
          <p:cNvPr id="49" name="Shape 47"/>
          <p:cNvSpPr/>
          <p:nvPr/>
        </p:nvSpPr>
        <p:spPr>
          <a:xfrm>
            <a:off x="4110228" y="3611880"/>
            <a:ext cx="9144" cy="18288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 rot="10800000">
            <a:off x="4041648" y="3721608"/>
            <a:ext cx="146304" cy="91440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3520440" y="3611880"/>
            <a:ext cx="502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요청</a:t>
            </a:r>
            <a:endParaRPr lang="en-US" sz="700" dirty="0"/>
          </a:p>
        </p:txBody>
      </p:sp>
      <p:sp>
        <p:nvSpPr>
          <p:cNvPr id="52" name="Shape 50"/>
          <p:cNvSpPr/>
          <p:nvPr/>
        </p:nvSpPr>
        <p:spPr>
          <a:xfrm>
            <a:off x="4658868" y="3794760"/>
            <a:ext cx="9144" cy="182880"/>
          </a:xfrm>
          <a:prstGeom prst="rect">
            <a:avLst/>
          </a:prstGeom>
          <a:solidFill>
            <a:srgbClr val="6666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4590288" y="3611880"/>
            <a:ext cx="146304" cy="91440"/>
          </a:xfrm>
          <a:prstGeom prst="triangle">
            <a:avLst/>
          </a:prstGeom>
          <a:solidFill>
            <a:srgbClr val="666666"/>
          </a:solidFill>
          <a:ln w="6350">
            <a:solidFill>
              <a:srgbClr val="666666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166360" y="3611880"/>
            <a:ext cx="502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666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응답</a:t>
            </a:r>
            <a:endParaRPr lang="en-US" sz="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8595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2. 데이터 흐름도 (Data Flow)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274320" y="640080"/>
            <a:ext cx="18288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7315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 요청 전송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274320" y="120700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POST /api/requests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103120" y="1092708"/>
            <a:ext cx="137160" cy="9144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rot="5400000">
            <a:off x="2194560" y="1042416"/>
            <a:ext cx="91440" cy="109728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286000" y="640080"/>
            <a:ext cx="18288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286000" y="7315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 요청 객체 생성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2286000" y="120700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API 계층 처리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114800" y="1092708"/>
            <a:ext cx="137160" cy="9144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rot="5400000">
            <a:off x="4206240" y="1042416"/>
            <a:ext cx="91440" cy="109728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297680" y="640080"/>
            <a:ext cx="18288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297680" y="7315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Rate Limiter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(구독 등급 확인)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297680" y="120700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429 or PASS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6126480" y="1092708"/>
            <a:ext cx="137160" cy="9144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 rot="5400000">
            <a:off x="6217920" y="1042416"/>
            <a:ext cx="91440" cy="109728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309360" y="640080"/>
            <a:ext cx="18288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309360" y="7315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4. 큐 등록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309360" y="120700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enqueue()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7219188" y="1554480"/>
            <a:ext cx="9144" cy="59436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rot="10800000">
            <a:off x="7159752" y="2130552"/>
            <a:ext cx="128016" cy="109728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286000" y="2240280"/>
            <a:ext cx="18288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286000" y="23317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 스케줄링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2286000" y="280720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dequeue()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297680" y="2240280"/>
            <a:ext cx="18288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297680" y="23317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 LLM 처리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4297680" y="280720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Ollama API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6309360" y="2240280"/>
            <a:ext cx="18288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309360" y="23317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 결과 반환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 JSON 기록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6309360" y="280720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COMPLETED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4114800" y="2692908"/>
            <a:ext cx="137160" cy="9144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 rot="16200000">
            <a:off x="4114800" y="2642616"/>
            <a:ext cx="91440" cy="109728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126480" y="2692908"/>
            <a:ext cx="137160" cy="9144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 rot="16200000">
            <a:off x="6126480" y="2642616"/>
            <a:ext cx="91440" cy="109728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207508" y="1554480"/>
            <a:ext cx="9144" cy="41148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389120" y="1993392"/>
            <a:ext cx="164592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333333"/>
            </a:solidFill>
            <a:prstDash val="dash"/>
          </a:ln>
        </p:spPr>
      </p:sp>
      <p:sp>
        <p:nvSpPr>
          <p:cNvPr id="38" name="Text 36"/>
          <p:cNvSpPr/>
          <p:nvPr/>
        </p:nvSpPr>
        <p:spPr>
          <a:xfrm>
            <a:off x="4389120" y="1993392"/>
            <a:ext cx="1645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429 Too Many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Requests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274320" y="2240280"/>
            <a:ext cx="1691640" cy="914400"/>
          </a:xfrm>
          <a:prstGeom prst="rect">
            <a:avLst/>
          </a:prstGeom>
          <a:solidFill>
            <a:srgbClr val="F5F5F5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20040" y="2286000"/>
            <a:ext cx="1600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요청 수명 주기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347472" y="2514600"/>
            <a:ext cx="15544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PENDING →</a:t>
            </a:r>
            <a:endParaRPr lang="en-US" sz="800" dirty="0"/>
          </a:p>
        </p:txBody>
      </p:sp>
      <p:sp>
        <p:nvSpPr>
          <p:cNvPr id="42" name="Text 40"/>
          <p:cNvSpPr/>
          <p:nvPr/>
        </p:nvSpPr>
        <p:spPr>
          <a:xfrm>
            <a:off x="347472" y="2670048"/>
            <a:ext cx="15544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QUEUED →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347472" y="2825496"/>
            <a:ext cx="15544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PROCESSING →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347472" y="2980944"/>
            <a:ext cx="15544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COMPLETED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8595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 모듈 구조도 (Module Structure)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1783080" y="594360"/>
            <a:ext cx="1965960" cy="457200"/>
          </a:xfrm>
          <a:prstGeom prst="rect">
            <a:avLst/>
          </a:prstGeom>
          <a:solidFill>
            <a:srgbClr val="333333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783080" y="594360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index.js (진입점)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3794760" y="809244"/>
            <a:ext cx="548640" cy="27432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rot="5400000">
            <a:off x="4315968" y="749808"/>
            <a:ext cx="118872" cy="146304"/>
          </a:xfrm>
          <a:prstGeom prst="triangle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794760" y="1069848"/>
            <a:ext cx="64008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호출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4434840" y="594360"/>
            <a:ext cx="2377440" cy="457200"/>
          </a:xfrm>
          <a:prstGeom prst="rect">
            <a:avLst/>
          </a:prstGeom>
          <a:solidFill>
            <a:srgbClr val="333333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434840" y="59436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server.js (서버 구성)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228600" y="1691640"/>
            <a:ext cx="1554480" cy="777240"/>
          </a:xfrm>
          <a:prstGeom prst="rect">
            <a:avLst/>
          </a:prstGeom>
          <a:solidFill>
            <a:srgbClr val="F5F5F5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28600" y="1691640"/>
            <a:ext cx="1554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api/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(라우터)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1965960" y="1691640"/>
            <a:ext cx="1554480" cy="777240"/>
          </a:xfrm>
          <a:prstGeom prst="rect">
            <a:avLst/>
          </a:prstGeom>
          <a:solidFill>
            <a:srgbClr val="F5F5F5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965960" y="1691640"/>
            <a:ext cx="1554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schedulers/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(FCFS, Priority, MLFQ, WFQ)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3886200" y="1691640"/>
            <a:ext cx="1554480" cy="777240"/>
          </a:xfrm>
          <a:prstGeom prst="rect">
            <a:avLst/>
          </a:prstGeom>
          <a:solidFill>
            <a:srgbClr val="F5F5F5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886200" y="1691640"/>
            <a:ext cx="1554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queue/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(메모리 큐)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5623560" y="1691640"/>
            <a:ext cx="1554480" cy="777240"/>
          </a:xfrm>
          <a:prstGeom prst="rect">
            <a:avLst/>
          </a:prstGeom>
          <a:solidFill>
            <a:srgbClr val="F5F5F5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623560" y="1691640"/>
            <a:ext cx="1554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storage/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(JSON 저장)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7360920" y="1691640"/>
            <a:ext cx="1554480" cy="777240"/>
          </a:xfrm>
          <a:prstGeom prst="rect">
            <a:avLst/>
          </a:prstGeom>
          <a:solidFill>
            <a:srgbClr val="F5F5F5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360920" y="1691640"/>
            <a:ext cx="1554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llm/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(Ollama 연동)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5618988" y="1051560"/>
            <a:ext cx="9144" cy="32004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05840" y="1367028"/>
            <a:ext cx="7132320" cy="9144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001268" y="1371600"/>
            <a:ext cx="9144" cy="22860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rot="10800000">
            <a:off x="941832" y="1581912"/>
            <a:ext cx="128016" cy="109728"/>
          </a:xfrm>
          <a:prstGeom prst="triangle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738628" y="1371600"/>
            <a:ext cx="9144" cy="22860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rot="10800000">
            <a:off x="2679192" y="1581912"/>
            <a:ext cx="128016" cy="109728"/>
          </a:xfrm>
          <a:prstGeom prst="triangle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658868" y="1371600"/>
            <a:ext cx="9144" cy="22860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rot="10800000">
            <a:off x="4599432" y="1581912"/>
            <a:ext cx="128016" cy="109728"/>
          </a:xfrm>
          <a:prstGeom prst="triangle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396228" y="1371600"/>
            <a:ext cx="9144" cy="22860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rot="10800000">
            <a:off x="6336792" y="1581912"/>
            <a:ext cx="128016" cy="109728"/>
          </a:xfrm>
          <a:prstGeom prst="triangle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133588" y="1371600"/>
            <a:ext cx="9144" cy="22860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 rot="10800000">
            <a:off x="8074152" y="1581912"/>
            <a:ext cx="128016" cy="109728"/>
          </a:xfrm>
          <a:prstGeom prst="triangle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508760" y="2560320"/>
            <a:ext cx="502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호출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3337560" y="2560320"/>
            <a:ext cx="502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사용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228600" y="2926080"/>
            <a:ext cx="1554480" cy="548640"/>
          </a:xfrm>
          <a:prstGeom prst="rect">
            <a:avLst/>
          </a:prstGeom>
          <a:solidFill>
            <a:srgbClr val="F5F5F5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28600" y="2926080"/>
            <a:ext cx="1554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utils/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rateLimiter.js (요청 제한)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274320" y="3749040"/>
            <a:ext cx="8595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화살표: 의존 관계 (호출 방향)  ·  외부 의존성: Express.js (1개)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8595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4. 실서버 구독 등급별 평균 대기시간 (ms)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274320" y="475488"/>
            <a:ext cx="8595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Ollama 실서버 실험 20건 | 단위: ms</a:t>
            </a:r>
            <a:endParaRPr lang="en-US" sz="9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777240"/>
          <a:ext cx="8229600" cy="3840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최종보고서 그림</dc:title>
  <dc:subject>PptxGenJS Presentation</dc:subject>
  <dc:creator>서민지 (C235180)</dc:creator>
  <cp:lastModifiedBy>서민지 (C235180)</cp:lastModifiedBy>
  <cp:revision>1</cp:revision>
  <dcterms:created xsi:type="dcterms:W3CDTF">2026-05-02T14:57:38Z</dcterms:created>
  <dcterms:modified xsi:type="dcterms:W3CDTF">2026-05-02T14:57:38Z</dcterms:modified>
</cp:coreProperties>
</file>