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FCFS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짧은 요청 (Short)</c:v>
                  </c:pt>
                  <c:pt idx="1">
                    <c:v>중간 요청 (Medium)</c:v>
                  </c:pt>
                  <c:pt idx="2">
                    <c:v>긴 요청 (Long)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635</c:v>
                </c:pt>
                <c:pt idx="1">
                  <c:v>645</c:v>
                </c:pt>
                <c:pt idx="2">
                  <c:v>650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MLFQ (선점형)</c:v>
                </c:pt>
              </c:strCache>
            </c:strRef>
          </c:tx>
          <c:spPr>
            <a:solidFill>
              <a:srgbClr val="33333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짧은 요청 (Short)</c:v>
                  </c:pt>
                  <c:pt idx="1">
                    <c:v>중간 요청 (Medium)</c:v>
                  </c:pt>
                  <c:pt idx="2">
                    <c:v>긴 요청 (Long)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170</c:v>
                </c:pt>
                <c:pt idx="1">
                  <c:v>729</c:v>
                </c:pt>
                <c:pt idx="2">
                  <c:v>1226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DDDDD"/>
              </a:solidFill>
              <a:prstDash val="dot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FCFS</c:v>
                </c:pt>
              </c:strCache>
            </c:strRef>
          </c:tx>
          <c:spPr>
            <a:solidFill>
              <a:srgbClr val="0000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Enterprise</c:v>
                  </c:pt>
                  <c:pt idx="1">
                    <c:v>Premium</c:v>
                  </c:pt>
                  <c:pt idx="2">
                    <c:v>Standard</c:v>
                  </c:pt>
                  <c:pt idx="3">
                    <c:v>Free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432</c:v>
                </c:pt>
                <c:pt idx="1">
                  <c:v>1480</c:v>
                </c:pt>
                <c:pt idx="2">
                  <c:v>2522</c:v>
                </c:pt>
                <c:pt idx="3">
                  <c:v>3561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Priority</c:v>
                </c:pt>
              </c:strCache>
            </c:strRef>
          </c:tx>
          <c:spPr>
            <a:solidFill>
              <a:srgbClr val="66666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Enterprise</c:v>
                  </c:pt>
                  <c:pt idx="1">
                    <c:v>Premium</c:v>
                  </c:pt>
                  <c:pt idx="2">
                    <c:v>Standard</c:v>
                  </c:pt>
                  <c:pt idx="3">
                    <c:v>Free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664</c:v>
                </c:pt>
                <c:pt idx="1">
                  <c:v>1333</c:v>
                </c:pt>
                <c:pt idx="2">
                  <c:v>2541</c:v>
                </c:pt>
                <c:pt idx="3">
                  <c:v>3371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WFQ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Enterprise</c:v>
                  </c:pt>
                  <c:pt idx="1">
                    <c:v>Premium</c:v>
                  </c:pt>
                  <c:pt idx="2">
                    <c:v>Standard</c:v>
                  </c:pt>
                  <c:pt idx="3">
                    <c:v>Free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410</c:v>
                </c:pt>
                <c:pt idx="1">
                  <c:v>1458</c:v>
                </c:pt>
                <c:pt idx="2">
                  <c:v>2496</c:v>
                </c:pt>
                <c:pt idx="3">
                  <c:v>3542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DDDDD"/>
              </a:solidFill>
              <a:prstDash val="dot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1. 시스템 아키텍처 (System Architecture)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457200" y="68580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74066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클라이언트 계층 (Client)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282696" y="941832"/>
            <a:ext cx="237744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82696" y="941832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REST Client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769864" y="941832"/>
            <a:ext cx="237744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69864" y="941832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대시보드 (Dashboard)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78308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3794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 계층 (Express.js + Rate Limiter)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15768" y="203911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15768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 접수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242816" y="203911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42816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스케줄러 전환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769864" y="203911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769864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통계 조회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296912" y="2039112"/>
            <a:ext cx="1417320" cy="384048"/>
          </a:xfrm>
          <a:prstGeom prst="rect">
            <a:avLst/>
          </a:prstGeom>
          <a:solidFill>
            <a:srgbClr val="F5F5F5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296912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Rate Limiter (구독 등급·429 응답)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457200" y="288036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293522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스케줄러 계층 (Scheduler)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715768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715768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FCFS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242816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242816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Priority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769864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769864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MLFQ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7296912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296912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WFQ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57200" y="397764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403250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저장소/LLM 계층 (Storage/LLM)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862072" y="4233672"/>
            <a:ext cx="182880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862072" y="423367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메모리 큐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800600" y="4233672"/>
            <a:ext cx="182880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800600" y="423367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JSON 로그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739128" y="4233672"/>
            <a:ext cx="182880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739128" y="423367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 LLM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110228" y="1417320"/>
            <a:ext cx="9144" cy="1828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rot="10800000">
            <a:off x="4041648" y="1527048"/>
            <a:ext cx="146304" cy="91440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520440" y="141732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4658868" y="1600200"/>
            <a:ext cx="9144" cy="182880"/>
          </a:xfrm>
          <a:prstGeom prst="rect">
            <a:avLst/>
          </a:prstGeom>
          <a:solidFill>
            <a:srgbClr val="666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590288" y="1417320"/>
            <a:ext cx="146304" cy="91440"/>
          </a:xfrm>
          <a:prstGeom prst="triangle">
            <a:avLst/>
          </a:prstGeom>
          <a:solidFill>
            <a:srgbClr val="666666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166360" y="141732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  <p:sp>
        <p:nvSpPr>
          <p:cNvPr id="43" name="Shape 41"/>
          <p:cNvSpPr/>
          <p:nvPr/>
        </p:nvSpPr>
        <p:spPr>
          <a:xfrm>
            <a:off x="4110228" y="2514600"/>
            <a:ext cx="9144" cy="1828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rot="10800000">
            <a:off x="4041648" y="2624328"/>
            <a:ext cx="146304" cy="91440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520440" y="251460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46" name="Shape 44"/>
          <p:cNvSpPr/>
          <p:nvPr/>
        </p:nvSpPr>
        <p:spPr>
          <a:xfrm>
            <a:off x="4658868" y="2697480"/>
            <a:ext cx="9144" cy="182880"/>
          </a:xfrm>
          <a:prstGeom prst="rect">
            <a:avLst/>
          </a:prstGeom>
          <a:solidFill>
            <a:srgbClr val="666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590288" y="2514600"/>
            <a:ext cx="146304" cy="91440"/>
          </a:xfrm>
          <a:prstGeom prst="triangle">
            <a:avLst/>
          </a:prstGeom>
          <a:solidFill>
            <a:srgbClr val="666666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166360" y="251460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  <p:sp>
        <p:nvSpPr>
          <p:cNvPr id="49" name="Shape 47"/>
          <p:cNvSpPr/>
          <p:nvPr/>
        </p:nvSpPr>
        <p:spPr>
          <a:xfrm>
            <a:off x="4110228" y="3611880"/>
            <a:ext cx="9144" cy="1828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rot="10800000">
            <a:off x="4041648" y="3721608"/>
            <a:ext cx="146304" cy="91440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520440" y="361188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52" name="Shape 50"/>
          <p:cNvSpPr/>
          <p:nvPr/>
        </p:nvSpPr>
        <p:spPr>
          <a:xfrm>
            <a:off x="4658868" y="3794760"/>
            <a:ext cx="9144" cy="182880"/>
          </a:xfrm>
          <a:prstGeom prst="rect">
            <a:avLst/>
          </a:prstGeom>
          <a:solidFill>
            <a:srgbClr val="666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590288" y="3611880"/>
            <a:ext cx="146304" cy="91440"/>
          </a:xfrm>
          <a:prstGeom prst="triangle">
            <a:avLst/>
          </a:prstGeom>
          <a:solidFill>
            <a:srgbClr val="666666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166360" y="361188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2. 데이터 흐름도 (Data Flow)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27432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요청 전송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POST /api/requests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03120" y="10927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5400000">
            <a:off x="2194560" y="10424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8600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요청 객체 생성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28600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 계층 처리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114800" y="10927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rot="5400000">
            <a:off x="4206240" y="10424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9768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9768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Rate Limiter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(구독 등급 확인)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29768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429 or PASS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126480" y="10927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rot="5400000">
            <a:off x="6217920" y="10424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30936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0936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큐 등록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30936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enqueue()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7219188" y="1554480"/>
            <a:ext cx="9144" cy="59436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10800000">
            <a:off x="7159752" y="2130552"/>
            <a:ext cx="128016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286000" y="22402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286000" y="23317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 스케줄링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2286000" y="28072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dequeue()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297680" y="22402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297680" y="23317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 LLM 처리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297680" y="28072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 API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309360" y="22402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309360" y="23317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 결과 반환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JSON 기록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309360" y="28072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COMPLETED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114800" y="26929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rot="16200000">
            <a:off x="4114800" y="26426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26480" y="26929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rot="16200000">
            <a:off x="6126480" y="26426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207508" y="1554480"/>
            <a:ext cx="9144" cy="4114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89120" y="1993392"/>
            <a:ext cx="16459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333333"/>
            </a:solidFill>
            <a:prstDash val="dash"/>
          </a:ln>
        </p:spPr>
      </p:sp>
      <p:sp>
        <p:nvSpPr>
          <p:cNvPr id="38" name="Text 36"/>
          <p:cNvSpPr/>
          <p:nvPr/>
        </p:nvSpPr>
        <p:spPr>
          <a:xfrm>
            <a:off x="4389120" y="1993392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429 Too Many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Requests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274320" y="2240280"/>
            <a:ext cx="1691640" cy="914400"/>
          </a:xfrm>
          <a:prstGeom prst="rect">
            <a:avLst/>
          </a:prstGeom>
          <a:solidFill>
            <a:srgbClr val="F5F5F5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0040" y="2286000"/>
            <a:ext cx="1600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 수명 주기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347472" y="2514600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PENDING →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347472" y="2670048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QUEUED →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347472" y="2825496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PROCESSING →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347472" y="2980944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COMPLETED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 모듈 구조도 (Module Structure)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1783080" y="594360"/>
            <a:ext cx="1965960" cy="457200"/>
          </a:xfrm>
          <a:prstGeom prst="rect">
            <a:avLst/>
          </a:prstGeom>
          <a:solidFill>
            <a:srgbClr val="333333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783080" y="594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index.js (진입점)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794760" y="809244"/>
            <a:ext cx="548640" cy="27432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5400000">
            <a:off x="4315968" y="749808"/>
            <a:ext cx="118872" cy="146304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794760" y="1069848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호출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434840" y="594360"/>
            <a:ext cx="2377440" cy="457200"/>
          </a:xfrm>
          <a:prstGeom prst="rect">
            <a:avLst/>
          </a:prstGeom>
          <a:solidFill>
            <a:srgbClr val="333333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34840" y="59436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server.js (서버 구성)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2860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2860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(라우터)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96596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96596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schedulers/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(FCFS, Priority, MLFQ, WFQ)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88620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8620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queue/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(메모리 큐)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62356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2356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storage/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(JSON 저장)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736092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6092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llm/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(Ollama 연동)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618988" y="1051560"/>
            <a:ext cx="9144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05840" y="1367028"/>
            <a:ext cx="713232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0126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rot="10800000">
            <a:off x="94183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73862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rot="10800000">
            <a:off x="267919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65886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rot="10800000">
            <a:off x="459943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622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10800000">
            <a:off x="633679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13358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rot="10800000">
            <a:off x="807415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508760" y="256032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호출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3337560" y="256032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2926080"/>
            <a:ext cx="1554480" cy="5486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292608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utils/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rateLimiter.js (요청 제한)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274320" y="3749040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화살표: 의존 관계 (호출 방향)  ·  외부 의존성: Express.js (1개)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4. MLFQ 선점형 vs FCFS — 요청 유형별 응답시간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274320" y="475488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5시드 평균 | 버스트 패턴 | 단위: 초(s)</a:t>
            </a:r>
            <a:endParaRPr lang="en-US" sz="9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777240"/>
          <a:ext cx="77724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5. 실서버 구독 등급별 평균 대기시간 (ms)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274320" y="475488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 실서버 실험 20건 | 단위: ms</a:t>
            </a:r>
            <a:endParaRPr lang="en-US" sz="9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777240"/>
          <a:ext cx="822960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최종보고서 그림</dc:title>
  <dc:subject>PptxGenJS Presentation</dc:subject>
  <dc:creator>서민지 (C235180)</dc:creator>
  <cp:lastModifiedBy>서민지 (C235180)</cp:lastModifiedBy>
  <cp:revision>1</cp:revision>
  <dcterms:created xsi:type="dcterms:W3CDTF">2026-05-01T09:32:05Z</dcterms:created>
  <dcterms:modified xsi:type="dcterms:W3CDTF">2026-05-01T09:32:05Z</dcterms:modified>
</cp:coreProperties>
</file>