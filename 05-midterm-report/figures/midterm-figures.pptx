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2572</c:v>
                </c:pt>
                <c:pt idx="1">
                  <c:v>2677</c:v>
                </c:pt>
                <c:pt idx="2">
                  <c:v>2572</c:v>
                </c:pt>
                <c:pt idx="3">
                  <c:v>2476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대기시간 (ms)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
(w=100)</c:v>
                  </c:pt>
                  <c:pt idx="1">
                    <c:v>Premium
(w=50)</c:v>
                  </c:pt>
                  <c:pt idx="2">
                    <c:v>Standard
(w=10)</c:v>
                  </c:pt>
                  <c:pt idx="3">
                    <c:v>Free
(w=1)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429</c:v>
                </c:pt>
                <c:pt idx="1">
                  <c:v>1817</c:v>
                </c:pt>
                <c:pt idx="2">
                  <c:v>3116</c:v>
                </c:pt>
                <c:pt idx="3">
                  <c:v>4543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B0BEC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짧은 요청 평균 응답시간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짧은 요청 평균 응답시간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chart" Target="/ppt/charts/chart6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822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2563EB">
              <a:alpha val="10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841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25980" y="1188720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25980" y="11887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40580" y="1188720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0580" y="11887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14400" y="1965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059669">
              <a:alpha val="10000"/>
            </a:srgbClr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984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544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544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118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18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692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" y="3108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D97706">
              <a:alpha val="10000"/>
            </a:srgbClr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127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25730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5730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94894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4894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4058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4058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33222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3222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14400" y="4251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64748B">
              <a:alpha val="10000"/>
            </a:srgbClr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4270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 계층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5544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44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118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118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023360" y="1737360"/>
            <a:ext cx="457200" cy="228600"/>
          </a:xfrm>
          <a:prstGeom prst="downArrow">
            <a:avLst/>
          </a:prstGeom>
          <a:solidFill>
            <a:srgbClr val="2563EB"/>
          </a:solidFill>
          <a:ln/>
        </p:spPr>
      </p:sp>
      <p:sp>
        <p:nvSpPr>
          <p:cNvPr id="36" name="Text 34"/>
          <p:cNvSpPr/>
          <p:nvPr/>
        </p:nvSpPr>
        <p:spPr>
          <a:xfrm>
            <a:off x="3383280" y="1719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4663440" y="1737360"/>
            <a:ext cx="457200" cy="228600"/>
          </a:xfrm>
          <a:prstGeom prst="upArrow">
            <a:avLst/>
          </a:prstGeom>
          <a:solidFill>
            <a:srgbClr val="059669"/>
          </a:solidFill>
          <a:ln/>
        </p:spPr>
      </p:sp>
      <p:sp>
        <p:nvSpPr>
          <p:cNvPr id="38" name="Text 36"/>
          <p:cNvSpPr/>
          <p:nvPr/>
        </p:nvSpPr>
        <p:spPr>
          <a:xfrm>
            <a:off x="5166360" y="1719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023360" y="2880360"/>
            <a:ext cx="457200" cy="228600"/>
          </a:xfrm>
          <a:prstGeom prst="downArrow">
            <a:avLst/>
          </a:prstGeom>
          <a:solidFill>
            <a:srgbClr val="059669"/>
          </a:solidFill>
          <a:ln/>
        </p:spPr>
      </p:sp>
      <p:sp>
        <p:nvSpPr>
          <p:cNvPr id="40" name="Text 38"/>
          <p:cNvSpPr/>
          <p:nvPr/>
        </p:nvSpPr>
        <p:spPr>
          <a:xfrm>
            <a:off x="3383280" y="2862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4663440" y="2880360"/>
            <a:ext cx="457200" cy="228600"/>
          </a:xfrm>
          <a:prstGeom prst="upArrow">
            <a:avLst/>
          </a:prstGeom>
          <a:solidFill>
            <a:srgbClr val="D97706"/>
          </a:solidFill>
          <a:ln/>
        </p:spPr>
      </p:sp>
      <p:sp>
        <p:nvSpPr>
          <p:cNvPr id="42" name="Text 40"/>
          <p:cNvSpPr/>
          <p:nvPr/>
        </p:nvSpPr>
        <p:spPr>
          <a:xfrm>
            <a:off x="5166360" y="2862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023360" y="4023360"/>
            <a:ext cx="457200" cy="228600"/>
          </a:xfrm>
          <a:prstGeom prst="downArrow">
            <a:avLst/>
          </a:prstGeom>
          <a:solidFill>
            <a:srgbClr val="D97706"/>
          </a:solidFill>
          <a:ln/>
        </p:spPr>
      </p:sp>
      <p:sp>
        <p:nvSpPr>
          <p:cNvPr id="44" name="Text 42"/>
          <p:cNvSpPr/>
          <p:nvPr/>
        </p:nvSpPr>
        <p:spPr>
          <a:xfrm>
            <a:off x="3383280" y="4005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4663440" y="4023360"/>
            <a:ext cx="457200" cy="228600"/>
          </a:xfrm>
          <a:prstGeom prst="upArrow">
            <a:avLst/>
          </a:prstGeom>
          <a:solidFill>
            <a:srgbClr val="64748B"/>
          </a:solidFill>
          <a:ln/>
        </p:spPr>
      </p:sp>
      <p:sp>
        <p:nvSpPr>
          <p:cNvPr id="46" name="Text 44"/>
          <p:cNvSpPr/>
          <p:nvPr/>
        </p:nvSpPr>
        <p:spPr>
          <a:xfrm>
            <a:off x="5166360" y="4005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모듈 구조도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200400" y="822960"/>
            <a:ext cx="274320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0" y="8229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(진입점)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728216"/>
            <a:ext cx="320040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6245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728216"/>
            <a:ext cx="11887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7413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728216"/>
            <a:ext cx="8229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8581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1728216"/>
            <a:ext cx="283464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9749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routes.js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6888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(4개 알고리즘)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8056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64748B">
              <a:alpha val="15000"/>
            </a:srgbClr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MemoryQueue.js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9224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64748B">
              <a:alpha val="15000"/>
            </a:srgbClr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JSONStore.js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14400" y="3291840"/>
            <a:ext cx="1371600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914400" y="32918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인터페이스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468880" y="3246120"/>
            <a:ext cx="4206240" cy="548640"/>
          </a:xfrm>
          <a:prstGeom prst="roundRect">
            <a:avLst>
              <a:gd name="adj" fmla="val 833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324612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BaseScheduler (enqueue / dequeue)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04825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0273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5721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1169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0" y="37947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상속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37160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92608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2608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48056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8056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03504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3504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492240" y="3246120"/>
            <a:ext cx="1828800" cy="548640"/>
          </a:xfrm>
          <a:prstGeom prst="roundRect">
            <a:avLst>
              <a:gd name="adj" fmla="val 8333"/>
            </a:avLst>
          </a:prstGeom>
          <a:solidFill>
            <a:srgbClr val="2563EB">
              <a:alpha val="15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92240" y="32461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OllamaClient.js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397496" y="2926080"/>
            <a:ext cx="18288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데이터 흐름도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2563EB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96596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6596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입력 검증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96596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4884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059669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4884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365760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큐 등록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84048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D97706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534924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4924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스케줄링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34924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53212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D97706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212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04088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4088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LLM 호출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04088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22376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2563EB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178308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29" name="Shape 27"/>
          <p:cNvSpPr/>
          <p:nvPr/>
        </p:nvSpPr>
        <p:spPr>
          <a:xfrm>
            <a:off x="347472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0" name="Shape 28"/>
          <p:cNvSpPr/>
          <p:nvPr/>
        </p:nvSpPr>
        <p:spPr>
          <a:xfrm>
            <a:off x="516636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1" name="Shape 29"/>
          <p:cNvSpPr/>
          <p:nvPr/>
        </p:nvSpPr>
        <p:spPr>
          <a:xfrm>
            <a:off x="685800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2" name="Shape 30"/>
          <p:cNvSpPr/>
          <p:nvPr/>
        </p:nvSpPr>
        <p:spPr>
          <a:xfrm>
            <a:off x="7498080" y="2468880"/>
            <a:ext cx="457200" cy="45720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33" name="Shape 31"/>
          <p:cNvSpPr/>
          <p:nvPr/>
        </p:nvSpPr>
        <p:spPr>
          <a:xfrm>
            <a:off x="5349240" y="292608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49240" y="3017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응답 반환 + 이력 저장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349240" y="33832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 기록 / 클라이언트 응답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63640" y="397764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059669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6364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402836" y="3383280"/>
            <a:ext cx="93726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954780" y="3246120"/>
            <a:ext cx="457200" cy="320040"/>
          </a:xfrm>
          <a:prstGeom prst="leftArrow">
            <a:avLst/>
          </a:prstGeom>
          <a:solidFill>
            <a:srgbClr val="D97706">
              <a:alpha val="60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4114800" y="3474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 (다음 요청 처리)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74320" y="2926080"/>
            <a:ext cx="475488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457200" y="301752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 (Request Lifecycle)
</a:t>
            </a:r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단계에서 상태가 JSON 로그에 기록됨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스케줄링 알고리즘 비교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1965960"/>
            <a:ext cx="8595360" cy="13716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685800"/>
            <a:ext cx="13716" cy="41605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 (선착순)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875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온 순서대로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8872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92024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R3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5176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R4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8328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114800" y="1371600"/>
            <a:ext cx="365760" cy="274320"/>
          </a:xfrm>
          <a:prstGeom prst="rightArrow">
            <a:avLst/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4023360" y="16916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846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 (우선순위)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9875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급한 것 먼저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0" y="1280160"/>
            <a:ext cx="822960" cy="457200"/>
          </a:xfrm>
          <a:prstGeom prst="rect">
            <a:avLst/>
          </a:prstGeom>
          <a:solidFill>
            <a:srgbClr val="DC2626">
              <a:alpha val="30000"/>
            </a:srgbClr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URG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943600" y="1280160"/>
            <a:ext cx="822960" cy="457200"/>
          </a:xfrm>
          <a:prstGeom prst="rect">
            <a:avLst/>
          </a:prstGeom>
          <a:solidFill>
            <a:srgbClr val="EA580C">
              <a:alpha val="30000"/>
            </a:srgbClr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HIGH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858000" y="1280160"/>
            <a:ext cx="822960" cy="457200"/>
          </a:xfrm>
          <a:prstGeom prst="rect">
            <a:avLst/>
          </a:prstGeom>
          <a:solidFill>
            <a:srgbClr val="CA8A04">
              <a:alpha val="30000"/>
            </a:srgbClr>
          </a:solidFill>
          <a:ln w="12700">
            <a:solidFill>
              <a:srgbClr val="CA8A0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NORM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772400" y="1280160"/>
            <a:ext cx="822960" cy="457200"/>
          </a:xfrm>
          <a:prstGeom prst="rect">
            <a:avLst/>
          </a:prstGeom>
          <a:solidFill>
            <a:srgbClr val="65A30D">
              <a:alpha val="30000"/>
            </a:srgbClr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5A30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 (다단계 피드백 큐)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74320" y="23591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 우선 + 자동 조정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2651760"/>
            <a:ext cx="3200400" cy="347472"/>
          </a:xfrm>
          <a:prstGeom prst="rect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65176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Q0 (1초)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063240"/>
            <a:ext cx="3200400" cy="347472"/>
          </a:xfrm>
          <a:prstGeom prst="rect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306324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B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 (3초)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474720"/>
            <a:ext cx="3200400" cy="347472"/>
          </a:xfrm>
          <a:prstGeom prst="rect">
            <a:avLst/>
          </a:prstGeom>
          <a:solidFill>
            <a:srgbClr val="60A5FA">
              <a:alpha val="20000"/>
            </a:srgbClr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4747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 (8초)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3886200"/>
            <a:ext cx="3200400" cy="347472"/>
          </a:xfrm>
          <a:prstGeom prst="rect">
            <a:avLst/>
          </a:prstGeom>
          <a:solidFill>
            <a:srgbClr val="93C5FD">
              <a:alpha val="20000"/>
            </a:srgbClr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388620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C5F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Q3 (무제한)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468880" y="2999232"/>
            <a:ext cx="320040" cy="105156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40" name="Text 38"/>
          <p:cNvSpPr/>
          <p:nvPr/>
        </p:nvSpPr>
        <p:spPr>
          <a:xfrm>
            <a:off x="2834640" y="32004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초과 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강등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749040" y="3566160"/>
            <a:ext cx="274320" cy="548640"/>
          </a:xfrm>
          <a:prstGeom prst="upArrow">
            <a:avLst/>
          </a:prstGeom>
          <a:solidFill>
            <a:srgbClr val="2563EB">
              <a:alpha val="5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3703320" y="41605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Boost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84632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 (가중치 공정 큐잉)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846320" y="23591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가중치만큼 공정하게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029200" y="2651760"/>
            <a:ext cx="3200400" cy="320040"/>
          </a:xfrm>
          <a:prstGeom prst="rect">
            <a:avLst/>
          </a:prstGeom>
          <a:solidFill>
            <a:srgbClr val="059669">
              <a:alpha val="30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120640" y="2651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(w=100)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029200" y="3063240"/>
            <a:ext cx="2286000" cy="320040"/>
          </a:xfrm>
          <a:prstGeom prst="rect">
            <a:avLst/>
          </a:prstGeom>
          <a:solidFill>
            <a:srgbClr val="059669">
              <a:alpha val="25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20640" y="30632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Premium (w=50)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029200" y="3474720"/>
            <a:ext cx="1371600" cy="320040"/>
          </a:xfrm>
          <a:prstGeom prst="rect">
            <a:avLst/>
          </a:prstGeom>
          <a:solidFill>
            <a:srgbClr val="059669">
              <a:alpha val="20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0" y="3474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Standard (w=10)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029200" y="3886200"/>
            <a:ext cx="731520" cy="320040"/>
          </a:xfrm>
          <a:prstGeom prst="rect">
            <a:avLst/>
          </a:prstGeom>
          <a:solidFill>
            <a:srgbClr val="059669">
              <a:alpha val="15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20640" y="3886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Free (w=1)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029200" y="4206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가중치에 비례하여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자원 배분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중간 실험 결과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731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(a) 알고리즘별 평균 대기시간 (100건 실험)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41148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" y="1500759"/>
            <a:ext cx="3200400" cy="13716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926080" y="1299591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avg: 2,574ms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4846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(b) WFQ 등급별 대기시간 (ms)</a:t>
            </a:r>
            <a:endParaRPr lang="en-US" sz="11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4846320" y="1005840"/>
          <a:ext cx="38404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27432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(c) MLFQ 선점형 효과 — 짧은 요청 응답시간 (5회 반복)</a:t>
            </a:r>
            <a:endParaRPr lang="en-US" sz="1100" dirty="0"/>
          </a:p>
        </p:txBody>
      </p:sp>
      <p:graphicFrame>
        <p:nvGraphicFramePr>
          <p:cNvPr id="10" name="Chart 2" descr=""/>
          <p:cNvGraphicFramePr/>
          <p:nvPr/>
        </p:nvGraphicFramePr>
        <p:xfrm>
          <a:off x="274320" y="3749040"/>
          <a:ext cx="411480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1371600" y="39319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73% 감소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846320" y="3749040"/>
            <a:ext cx="3840480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029200" y="379476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결과 요약
</a:t>
            </a:r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
</a:t>
            </a:r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URGENT 약 42ms (거의 즉시)
</a:t>
            </a:r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vs Free 약 10배 차이
</a:t>
            </a:r>
            <a:pPr indent="0" marL="0">
              <a:buNone/>
            </a:pPr>
            <a:r>
              <a:rPr lang="en-US" sz="900" i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 JFI = 0.32
</a:t>
            </a:r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 약 73% 개선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중간보고서 그림</dc:title>
  <dc:subject>PptxGenJS Presentation</dc:subject>
  <dc:creator>서민지 (C235180)</dc:creator>
  <cp:lastModifiedBy>서민지 (C235180)</cp:lastModifiedBy>
  <cp:revision>1</cp:revision>
  <dcterms:created xsi:type="dcterms:W3CDTF">2026-04-08T02:09:11Z</dcterms:created>
  <dcterms:modified xsi:type="dcterms:W3CDTF">2026-04-08T02:09:11Z</dcterms:modified>
</cp:coreProperties>
</file>