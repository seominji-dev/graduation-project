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대기시간 (ms)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2572</c:v>
                </c:pt>
                <c:pt idx="1">
                  <c:v>2677</c:v>
                </c:pt>
                <c:pt idx="2">
                  <c:v>2572</c:v>
                </c:pt>
                <c:pt idx="3">
                  <c:v>2476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대기시간 (ms)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
(w=100)</c:v>
                  </c:pt>
                  <c:pt idx="1">
                    <c:v>Premium
(w=50)</c:v>
                  </c:pt>
                  <c:pt idx="2">
                    <c:v>Standard
(w=10)</c:v>
                  </c:pt>
                  <c:pt idx="3">
                    <c:v>Free
(w=1)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429</c:v>
                </c:pt>
                <c:pt idx="1">
                  <c:v>1817</c:v>
                </c:pt>
                <c:pt idx="2">
                  <c:v>3116</c:v>
                </c:pt>
                <c:pt idx="3">
                  <c:v>4543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B0BEC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짧은 요청 평균 대기시간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MLFQ (선점형)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짧은 요청 평균 대기시간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1. 시스템 아키텍처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822960"/>
            <a:ext cx="7315200" cy="914400"/>
          </a:xfrm>
          <a:prstGeom prst="roundRect">
            <a:avLst>
              <a:gd name="adj" fmla="val 10000"/>
            </a:avLst>
          </a:prstGeom>
          <a:solidFill>
            <a:srgbClr val="2563EB">
              <a:alpha val="10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8412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계층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125980" y="1188720"/>
            <a:ext cx="2286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25980" y="1188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Client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40580" y="1188720"/>
            <a:ext cx="2286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0580" y="1188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1965960"/>
            <a:ext cx="7315200" cy="914400"/>
          </a:xfrm>
          <a:prstGeom prst="roundRect">
            <a:avLst>
              <a:gd name="adj" fmla="val 10000"/>
            </a:avLst>
          </a:prstGeom>
          <a:solidFill>
            <a:srgbClr val="059669">
              <a:alpha val="10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9842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(Express.js)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54480" y="233172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2331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접수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11880" y="233172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2331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전환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0" y="233172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331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조회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" y="3108960"/>
            <a:ext cx="7315200" cy="914400"/>
          </a:xfrm>
          <a:prstGeom prst="roundRect">
            <a:avLst>
              <a:gd name="adj" fmla="val 10000"/>
            </a:avLst>
          </a:prstGeom>
          <a:solidFill>
            <a:srgbClr val="D97706">
              <a:alpha val="10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1272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257300" y="347472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57300" y="3474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948940" y="347472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48940" y="3474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40580" y="347472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0580" y="3474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32220" y="347472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2220" y="3474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14400" y="4251960"/>
            <a:ext cx="7315200" cy="914400"/>
          </a:xfrm>
          <a:prstGeom prst="roundRect">
            <a:avLst>
              <a:gd name="adj" fmla="val 10000"/>
            </a:avLst>
          </a:prstGeom>
          <a:solidFill>
            <a:srgbClr val="64748B">
              <a:alpha val="10000"/>
            </a:srgbClr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42702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계층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554480" y="461772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54480" y="4617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큐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11880" y="461772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11880" y="4617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로그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0" y="461772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4617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023360" y="1737360"/>
            <a:ext cx="457200" cy="228600"/>
          </a:xfrm>
          <a:prstGeom prst="downArrow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3383280" y="1719072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663440" y="1737360"/>
            <a:ext cx="457200" cy="228600"/>
          </a:xfrm>
          <a:prstGeom prst="upArrow">
            <a:avLst/>
          </a:prstGeom>
          <a:solidFill>
            <a:srgbClr val="059669"/>
          </a:solidFill>
          <a:ln/>
        </p:spPr>
      </p:sp>
      <p:sp>
        <p:nvSpPr>
          <p:cNvPr id="38" name="Text 36"/>
          <p:cNvSpPr/>
          <p:nvPr/>
        </p:nvSpPr>
        <p:spPr>
          <a:xfrm>
            <a:off x="5166360" y="1719072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023360" y="2880360"/>
            <a:ext cx="457200" cy="228600"/>
          </a:xfrm>
          <a:prstGeom prst="downArrow">
            <a:avLst/>
          </a:prstGeom>
          <a:solidFill>
            <a:srgbClr val="059669"/>
          </a:solidFill>
          <a:ln/>
        </p:spPr>
      </p:sp>
      <p:sp>
        <p:nvSpPr>
          <p:cNvPr id="40" name="Text 38"/>
          <p:cNvSpPr/>
          <p:nvPr/>
        </p:nvSpPr>
        <p:spPr>
          <a:xfrm>
            <a:off x="3383280" y="2862072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663440" y="2880360"/>
            <a:ext cx="457200" cy="228600"/>
          </a:xfrm>
          <a:prstGeom prst="upArrow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5166360" y="2862072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023360" y="4023360"/>
            <a:ext cx="457200" cy="228600"/>
          </a:xfrm>
          <a:prstGeom prst="downArrow">
            <a:avLst/>
          </a:prstGeom>
          <a:solidFill>
            <a:srgbClr val="D97706"/>
          </a:solidFill>
          <a:ln/>
        </p:spPr>
      </p:sp>
      <p:sp>
        <p:nvSpPr>
          <p:cNvPr id="44" name="Text 42"/>
          <p:cNvSpPr/>
          <p:nvPr/>
        </p:nvSpPr>
        <p:spPr>
          <a:xfrm>
            <a:off x="3383280" y="4005072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663440" y="4023360"/>
            <a:ext cx="457200" cy="228600"/>
          </a:xfrm>
          <a:prstGeom prst="upArrow">
            <a:avLst/>
          </a:prstGeom>
          <a:solidFill>
            <a:srgbClr val="64748B"/>
          </a:solidFill>
          <a:ln/>
        </p:spPr>
      </p:sp>
      <p:sp>
        <p:nvSpPr>
          <p:cNvPr id="46" name="Text 44"/>
          <p:cNvSpPr/>
          <p:nvPr/>
        </p:nvSpPr>
        <p:spPr>
          <a:xfrm>
            <a:off x="5166360" y="4005072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2. 모듈 구조도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0" y="82296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822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server.js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(진입점)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62856" y="1463040"/>
            <a:ext cx="18288" cy="27432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728216"/>
            <a:ext cx="32004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62456" y="1737360"/>
            <a:ext cx="18288" cy="36576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62856" y="1463040"/>
            <a:ext cx="18288" cy="27432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728216"/>
            <a:ext cx="118872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74136" y="1737360"/>
            <a:ext cx="18288" cy="36576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62856" y="1463040"/>
            <a:ext cx="18288" cy="27432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728216"/>
            <a:ext cx="82296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85816" y="1737360"/>
            <a:ext cx="18288" cy="36576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62856" y="1463040"/>
            <a:ext cx="18288" cy="27432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728216"/>
            <a:ext cx="283464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7496" y="1737360"/>
            <a:ext cx="18288" cy="36576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10312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059669">
              <a:alpha val="15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103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routes.js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68880" y="210312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D97706">
              <a:alpha val="15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2103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schedulers/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(4개 알고리즘)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0560" y="210312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64748B">
              <a:alpha val="15000"/>
            </a:srgbClr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2103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MemoryQueue.js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92240" y="210312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64748B">
              <a:alpha val="15000"/>
            </a:srgbClr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103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storage/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JSONStore.js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" y="329184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914400" y="3291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인터페이스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468880" y="3246120"/>
            <a:ext cx="4206240" cy="54864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8880" y="32461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BaseScheduler (enqueue / dequeue)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048256" y="3794760"/>
            <a:ext cx="18288" cy="320040"/>
          </a:xfrm>
          <a:prstGeom prst="rect">
            <a:avLst/>
          </a:prstGeom>
          <a:solidFill>
            <a:srgbClr val="D97706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02736" y="3794760"/>
            <a:ext cx="18288" cy="320040"/>
          </a:xfrm>
          <a:prstGeom prst="rect">
            <a:avLst/>
          </a:prstGeom>
          <a:solidFill>
            <a:srgbClr val="D97706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57216" y="3794760"/>
            <a:ext cx="18288" cy="320040"/>
          </a:xfrm>
          <a:prstGeom prst="rect">
            <a:avLst/>
          </a:prstGeom>
          <a:solidFill>
            <a:srgbClr val="D97706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11696" y="3794760"/>
            <a:ext cx="18288" cy="320040"/>
          </a:xfrm>
          <a:prstGeom prst="rect">
            <a:avLst/>
          </a:prstGeom>
          <a:solidFill>
            <a:srgbClr val="D97706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0" y="37947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상속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371600" y="411480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41148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926080" y="411480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0" y="41148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480560" y="411480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80560" y="41148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35040" y="411480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0" y="41148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92240" y="3246120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3246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OllamaClient.js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97496" y="2926080"/>
            <a:ext cx="18288" cy="32004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 데이터 흐름도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2563EB">
              <a:alpha val="15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058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요청 전송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/api/requests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176272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2563EB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762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965960" y="91440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059669">
              <a:alpha val="15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0058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입력 검증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65960" y="13716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48840" y="2176272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059669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21762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657600" y="91440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D97706">
              <a:alpha val="15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10058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큐 등록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13716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enqueue()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0" y="2176272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D97706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21762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QUEUED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349240" y="91440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D97706">
              <a:alpha val="15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10058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스케줄링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49240" y="13716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dequeue()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32120" y="2176272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D97706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21762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PROCESSING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040880" y="91440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2563EB">
              <a:alpha val="15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10058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LLM 호출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40880" y="13716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API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23760" y="2176272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2563EB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21762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PROCESSING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783080" y="1280160"/>
            <a:ext cx="182880" cy="274320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29" name="Shape 27"/>
          <p:cNvSpPr/>
          <p:nvPr/>
        </p:nvSpPr>
        <p:spPr>
          <a:xfrm>
            <a:off x="3474720" y="1280160"/>
            <a:ext cx="182880" cy="274320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30" name="Shape 28"/>
          <p:cNvSpPr/>
          <p:nvPr/>
        </p:nvSpPr>
        <p:spPr>
          <a:xfrm>
            <a:off x="5166360" y="1280160"/>
            <a:ext cx="182880" cy="274320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0" y="1280160"/>
            <a:ext cx="182880" cy="274320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32" name="Shape 30"/>
          <p:cNvSpPr/>
          <p:nvPr/>
        </p:nvSpPr>
        <p:spPr>
          <a:xfrm>
            <a:off x="7498080" y="2468880"/>
            <a:ext cx="457200" cy="45720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33" name="Shape 31"/>
          <p:cNvSpPr/>
          <p:nvPr/>
        </p:nvSpPr>
        <p:spPr>
          <a:xfrm>
            <a:off x="5349240" y="292608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059669">
              <a:alpha val="15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924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응답 반환 + 이력 저장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49240" y="3383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로그 기록 / 클라이언트 응답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63640" y="397764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059669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402836" y="3383280"/>
            <a:ext cx="93726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54780" y="3246120"/>
            <a:ext cx="457200" cy="320040"/>
          </a:xfrm>
          <a:prstGeom prst="leftArrow">
            <a:avLst/>
          </a:prstGeom>
          <a:solidFill>
            <a:srgbClr val="D97706">
              <a:alpha val="6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0" y="3474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(다음 요청 처리)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2926080"/>
            <a:ext cx="475488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457200" y="301752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수명 주기 (Request Lifecycle)
</a:t>
            </a:r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 </a:t>
            </a:r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QUEUED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 </a:t>
            </a:r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PROCESSING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 </a:t>
            </a:r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단계에서 상태가 JSON 로그에 기록됨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4. 스케줄링 알고리즘 비교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1965960"/>
            <a:ext cx="859536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685800"/>
            <a:ext cx="13716" cy="416052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31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 (선착순)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875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온 순서대로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640080" cy="457200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88720" y="1280160"/>
            <a:ext cx="640080" cy="457200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280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1280160"/>
            <a:ext cx="640080" cy="457200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1280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51760" y="1280160"/>
            <a:ext cx="640080" cy="457200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280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83280" y="1280160"/>
            <a:ext cx="640080" cy="457200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280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0" y="1371600"/>
            <a:ext cx="365760" cy="274320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0" y="16916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46320" y="731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 (우선순위)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9875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급한 것 먼저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0" y="1280160"/>
            <a:ext cx="822960" cy="457200"/>
          </a:xfrm>
          <a:prstGeom prst="rect">
            <a:avLst/>
          </a:prstGeom>
          <a:solidFill>
            <a:srgbClr val="DC2626">
              <a:alpha val="3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2801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943600" y="1280160"/>
            <a:ext cx="822960" cy="457200"/>
          </a:xfrm>
          <a:prstGeom prst="rect">
            <a:avLst/>
          </a:prstGeom>
          <a:solidFill>
            <a:srgbClr val="EA580C">
              <a:alpha val="30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12801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858000" y="1280160"/>
            <a:ext cx="822960" cy="457200"/>
          </a:xfrm>
          <a:prstGeom prst="rect">
            <a:avLst/>
          </a:prstGeom>
          <a:solidFill>
            <a:srgbClr val="CA8A04">
              <a:alpha val="30000"/>
            </a:srgbClr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12801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8A0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NORM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772400" y="1280160"/>
            <a:ext cx="822960" cy="457200"/>
          </a:xfrm>
          <a:prstGeom prst="rect">
            <a:avLst/>
          </a:prstGeom>
          <a:solidFill>
            <a:srgbClr val="65A30D">
              <a:alpha val="30000"/>
            </a:srgbClr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12801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5A30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432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 (다단계 피드백 큐)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4320" y="23591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 우선 + 자동 조정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2651760"/>
            <a:ext cx="3200400" cy="347472"/>
          </a:xfrm>
          <a:prstGeom prst="rect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2651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Q0 (1초)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063240"/>
            <a:ext cx="3200400" cy="347472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0632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 (3초)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474720"/>
            <a:ext cx="3200400" cy="347472"/>
          </a:xfrm>
          <a:prstGeom prst="rect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4747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 (8초)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3886200"/>
            <a:ext cx="3200400" cy="347472"/>
          </a:xfrm>
          <a:prstGeom prst="rect">
            <a:avLst/>
          </a:prstGeom>
          <a:solidFill>
            <a:srgbClr val="93C5FD">
              <a:alpha val="20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8862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 (무제한)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468880" y="2999232"/>
            <a:ext cx="320040" cy="105156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40" name="Text 38"/>
          <p:cNvSpPr/>
          <p:nvPr/>
        </p:nvSpPr>
        <p:spPr>
          <a:xfrm>
            <a:off x="2834640" y="3200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초과 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강등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749040" y="3566160"/>
            <a:ext cx="274320" cy="548640"/>
          </a:xfrm>
          <a:prstGeom prst="upArrow">
            <a:avLst/>
          </a:prstGeom>
          <a:solidFill>
            <a:srgbClr val="2563EB">
              <a:alpha val="5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3703320" y="41605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Boost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84632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 (가중치 공정 큐잉)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46320" y="23591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가중치만큼 공정하게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0" y="2651760"/>
            <a:ext cx="3200400" cy="320040"/>
          </a:xfrm>
          <a:prstGeom prst="rect">
            <a:avLst/>
          </a:prstGeom>
          <a:solidFill>
            <a:srgbClr val="059669">
              <a:alpha val="3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20640" y="2651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 (w=100)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029200" y="3063240"/>
            <a:ext cx="2286000" cy="320040"/>
          </a:xfrm>
          <a:prstGeom prst="rect">
            <a:avLst/>
          </a:prstGeom>
          <a:solidFill>
            <a:srgbClr val="059669">
              <a:alpha val="2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064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Premium (w=50)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029200" y="3474720"/>
            <a:ext cx="1371600" cy="320040"/>
          </a:xfrm>
          <a:prstGeom prst="rect">
            <a:avLst/>
          </a:prstGeom>
          <a:solidFill>
            <a:srgbClr val="059669">
              <a:alpha val="2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0" y="3474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Standard (w=10)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029200" y="3886200"/>
            <a:ext cx="731520" cy="320040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20640" y="3886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(w=1)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029200" y="4206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가중치에 비례하여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자원 배분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5. 중간 실험 결과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(a) 알고리즘별 평균 대기시간 (100건 실험)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1500759"/>
            <a:ext cx="3200400" cy="13716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926080" y="1299591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avg: 2,574ms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846320" y="731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(b) WFQ 등급별 대기시간</a:t>
            </a:r>
            <a:endParaRPr lang="en-US" sz="11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846320" y="1005840"/>
          <a:ext cx="38404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(c) MLFQ 선점형 효과 — 짧은 요청 대기시간 (5회 반복)</a:t>
            </a:r>
            <a:endParaRPr lang="en-US" sz="1100" dirty="0"/>
          </a:p>
        </p:txBody>
      </p:sp>
      <p:graphicFrame>
        <p:nvGraphicFramePr>
          <p:cNvPr id="10" name="Chart 2" descr=""/>
          <p:cNvGraphicFramePr/>
          <p:nvPr/>
        </p:nvGraphicFramePr>
        <p:xfrm>
          <a:off x="274320" y="3749040"/>
          <a:ext cx="41148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6"/>
          <p:cNvSpPr/>
          <p:nvPr/>
        </p:nvSpPr>
        <p:spPr>
          <a:xfrm>
            <a:off x="1371600" y="3931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73% 감소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846320" y="374904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029200" y="37947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결과 요약
</a:t>
            </a:r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URGENT 약 42ms (거의 즉시)
</a:t>
            </a:r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 vs Free 약 10배 차이
</a:t>
            </a:r>
            <a:pPr indent="0" marL="0">
              <a:buNone/>
            </a:pPr>
            <a:r>
              <a:rPr lang="en-US" sz="900" i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JFI = 0.32
</a:t>
            </a:r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 약 73% 개선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중간보고서 그림</dc:title>
  <dc:subject>PptxGenJS Presentation</dc:subject>
  <dc:creator>서민지 (C235180)</dc:creator>
  <cp:lastModifiedBy>서민지 (C235180)</cp:lastModifiedBy>
  <cp:revision>1</cp:revision>
  <dcterms:created xsi:type="dcterms:W3CDTF">2026-04-06T11:32:25Z</dcterms:created>
  <dcterms:modified xsi:type="dcterms:W3CDTF">2026-04-06T11:32:25Z</dcterms:modified>
</cp:coreProperties>
</file>