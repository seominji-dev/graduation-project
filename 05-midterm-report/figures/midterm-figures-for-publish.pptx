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79" r:id="rId2"/>
    <p:sldId id="275" r:id="rId3"/>
    <p:sldId id="276" r:id="rId4"/>
    <p:sldId id="278" r:id="rId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818"/>
    <p:restoredTop sz="94610"/>
  </p:normalViewPr>
  <p:slideViewPr>
    <p:cSldViewPr snapToGrid="0" snapToObjects="1">
      <p:cViewPr>
        <p:scale>
          <a:sx n="155" d="100"/>
          <a:sy n="155" d="100"/>
        </p:scale>
        <p:origin x="288" y="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95189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L0"/>
          <p:cNvSpPr/>
          <p:nvPr/>
        </p:nvSpPr>
        <p:spPr>
          <a:xfrm>
            <a:off x="127000" y="76200"/>
            <a:ext cx="11938000" cy="406400"/>
          </a:xfrm>
          <a:prstGeom prst="roundRect">
            <a:avLst>
              <a:gd name="adj" fmla="val 12000"/>
            </a:avLst>
          </a:prstGeom>
          <a:solidFill>
            <a:srgbClr val="D6E4F0"/>
          </a:solidFill>
          <a:ln w="12700">
            <a:solidFill>
              <a:srgbClr val="2B579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1" name="LL0"/>
          <p:cNvSpPr/>
          <p:nvPr/>
        </p:nvSpPr>
        <p:spPr>
          <a:xfrm>
            <a:off x="254000" y="76200"/>
            <a:ext cx="22352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ko-KR" sz="1100" b="1" dirty="0">
                <a:solidFill>
                  <a:srgbClr val="1B3A5C"/>
                </a:solidFill>
                <a:latin typeface="맑은 고딕"/>
                <a:ea typeface="맑은 고딕"/>
              </a:rPr>
              <a:t>클라이언트 계층</a:t>
            </a:r>
          </a:p>
        </p:txBody>
      </p:sp>
      <p:sp>
        <p:nvSpPr>
          <p:cNvPr id="102" name="C00"/>
          <p:cNvSpPr/>
          <p:nvPr/>
        </p:nvSpPr>
        <p:spPr>
          <a:xfrm>
            <a:off x="2590800" y="114300"/>
            <a:ext cx="4660900" cy="330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2B579A"/>
            </a:solidFill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ko-KR" sz="1000" b="1" dirty="0">
                <a:solidFill>
                  <a:srgbClr val="333333"/>
                </a:solidFill>
                <a:latin typeface="맑은 고딕"/>
                <a:ea typeface="맑은 고딕"/>
              </a:rPr>
              <a:t>REST Client</a:t>
            </a:r>
          </a:p>
        </p:txBody>
      </p:sp>
      <p:sp>
        <p:nvSpPr>
          <p:cNvPr id="103" name="C01"/>
          <p:cNvSpPr/>
          <p:nvPr/>
        </p:nvSpPr>
        <p:spPr>
          <a:xfrm>
            <a:off x="7353300" y="114300"/>
            <a:ext cx="4660900" cy="330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2B579A"/>
            </a:solidFill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ko-KR" sz="1000" b="1" dirty="0">
                <a:solidFill>
                  <a:srgbClr val="333333"/>
                </a:solidFill>
                <a:latin typeface="맑은 고딕"/>
                <a:ea typeface="맑은 고딕"/>
              </a:rPr>
              <a:t>대시보드</a:t>
            </a:r>
          </a:p>
        </p:txBody>
      </p:sp>
      <p:sp>
        <p:nvSpPr>
          <p:cNvPr id="104" name="DA0"/>
          <p:cNvSpPr/>
          <p:nvPr/>
        </p:nvSpPr>
        <p:spPr>
          <a:xfrm>
            <a:off x="5346700" y="495300"/>
            <a:ext cx="228600" cy="2286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2B579A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05" name="RL0"/>
          <p:cNvSpPr/>
          <p:nvPr/>
        </p:nvSpPr>
        <p:spPr>
          <a:xfrm>
            <a:off x="4826000" y="482600"/>
            <a:ext cx="4826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ko-KR" sz="1000" dirty="0">
                <a:solidFill>
                  <a:srgbClr val="555555"/>
                </a:solidFill>
                <a:latin typeface="맑은 고딕"/>
                <a:ea typeface="맑은 고딕"/>
              </a:rPr>
              <a:t>요청</a:t>
            </a:r>
          </a:p>
        </p:txBody>
      </p:sp>
      <p:sp>
        <p:nvSpPr>
          <p:cNvPr id="106" name="UA0"/>
          <p:cNvSpPr/>
          <p:nvPr/>
        </p:nvSpPr>
        <p:spPr>
          <a:xfrm>
            <a:off x="6616700" y="495300"/>
            <a:ext cx="228600" cy="228600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555555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07" name="SL0"/>
          <p:cNvSpPr/>
          <p:nvPr/>
        </p:nvSpPr>
        <p:spPr>
          <a:xfrm>
            <a:off x="6883400" y="482600"/>
            <a:ext cx="4826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ko-KR" sz="1000" dirty="0">
                <a:solidFill>
                  <a:srgbClr val="555555"/>
                </a:solidFill>
                <a:latin typeface="맑은 고딕"/>
                <a:ea typeface="맑은 고딕"/>
              </a:rPr>
              <a:t>응답</a:t>
            </a:r>
          </a:p>
        </p:txBody>
      </p:sp>
      <p:sp>
        <p:nvSpPr>
          <p:cNvPr id="108" name="L1"/>
          <p:cNvSpPr/>
          <p:nvPr/>
        </p:nvSpPr>
        <p:spPr>
          <a:xfrm>
            <a:off x="127000" y="736600"/>
            <a:ext cx="11938000" cy="406400"/>
          </a:xfrm>
          <a:prstGeom prst="roundRect">
            <a:avLst>
              <a:gd name="adj" fmla="val 12000"/>
            </a:avLst>
          </a:prstGeom>
          <a:solidFill>
            <a:srgbClr val="D5E8D4"/>
          </a:solidFill>
          <a:ln w="12700">
            <a:solidFill>
              <a:srgbClr val="2D6A4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9" name="LL1"/>
          <p:cNvSpPr/>
          <p:nvPr/>
        </p:nvSpPr>
        <p:spPr>
          <a:xfrm>
            <a:off x="254000" y="736600"/>
            <a:ext cx="22352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ko-KR" sz="1100" b="1" dirty="0">
                <a:solidFill>
                  <a:srgbClr val="1B5E37"/>
                </a:solidFill>
                <a:latin typeface="맑은 고딕"/>
                <a:ea typeface="맑은 고딕"/>
              </a:rPr>
              <a:t>API 계층 (Express.js)</a:t>
            </a:r>
          </a:p>
        </p:txBody>
      </p:sp>
      <p:sp>
        <p:nvSpPr>
          <p:cNvPr id="110" name="C10"/>
          <p:cNvSpPr/>
          <p:nvPr/>
        </p:nvSpPr>
        <p:spPr>
          <a:xfrm>
            <a:off x="2590800" y="774700"/>
            <a:ext cx="3073400" cy="330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2D6A4F"/>
            </a:solidFill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ko-KR" sz="1000" b="1" dirty="0">
                <a:solidFill>
                  <a:srgbClr val="333333"/>
                </a:solidFill>
                <a:latin typeface="맑은 고딕"/>
                <a:ea typeface="맑은 고딕"/>
              </a:rPr>
              <a:t>요청 접수</a:t>
            </a:r>
          </a:p>
        </p:txBody>
      </p:sp>
      <p:sp>
        <p:nvSpPr>
          <p:cNvPr id="111" name="C11"/>
          <p:cNvSpPr/>
          <p:nvPr/>
        </p:nvSpPr>
        <p:spPr>
          <a:xfrm>
            <a:off x="5765800" y="774700"/>
            <a:ext cx="3073400" cy="330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2D6A4F"/>
            </a:solidFill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ko-KR" sz="1000" b="1" dirty="0">
                <a:solidFill>
                  <a:srgbClr val="333333"/>
                </a:solidFill>
                <a:latin typeface="맑은 고딕"/>
                <a:ea typeface="맑은 고딕"/>
              </a:rPr>
              <a:t>스케줄러 전환</a:t>
            </a:r>
          </a:p>
        </p:txBody>
      </p:sp>
      <p:sp>
        <p:nvSpPr>
          <p:cNvPr id="112" name="C12"/>
          <p:cNvSpPr/>
          <p:nvPr/>
        </p:nvSpPr>
        <p:spPr>
          <a:xfrm>
            <a:off x="8940800" y="774700"/>
            <a:ext cx="3073400" cy="330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2D6A4F"/>
            </a:solidFill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ko-KR" sz="1000" b="1" dirty="0">
                <a:solidFill>
                  <a:srgbClr val="333333"/>
                </a:solidFill>
                <a:latin typeface="맑은 고딕"/>
                <a:ea typeface="맑은 고딕"/>
              </a:rPr>
              <a:t>통계 조회</a:t>
            </a:r>
          </a:p>
        </p:txBody>
      </p:sp>
      <p:sp>
        <p:nvSpPr>
          <p:cNvPr id="113" name="DA1"/>
          <p:cNvSpPr/>
          <p:nvPr/>
        </p:nvSpPr>
        <p:spPr>
          <a:xfrm>
            <a:off x="5346700" y="1155700"/>
            <a:ext cx="228600" cy="2286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2D6A4F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14" name="RL1"/>
          <p:cNvSpPr/>
          <p:nvPr/>
        </p:nvSpPr>
        <p:spPr>
          <a:xfrm>
            <a:off x="4826000" y="1143000"/>
            <a:ext cx="4826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ko-KR" sz="1000" dirty="0">
                <a:solidFill>
                  <a:srgbClr val="555555"/>
                </a:solidFill>
                <a:latin typeface="맑은 고딕"/>
                <a:ea typeface="맑은 고딕"/>
              </a:rPr>
              <a:t>요청</a:t>
            </a:r>
          </a:p>
        </p:txBody>
      </p:sp>
      <p:sp>
        <p:nvSpPr>
          <p:cNvPr id="115" name="UA1"/>
          <p:cNvSpPr/>
          <p:nvPr/>
        </p:nvSpPr>
        <p:spPr>
          <a:xfrm>
            <a:off x="6616700" y="1155700"/>
            <a:ext cx="228600" cy="228600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555555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16" name="SL1"/>
          <p:cNvSpPr/>
          <p:nvPr/>
        </p:nvSpPr>
        <p:spPr>
          <a:xfrm>
            <a:off x="6883400" y="1143000"/>
            <a:ext cx="4826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ko-KR" sz="1000" dirty="0">
                <a:solidFill>
                  <a:srgbClr val="555555"/>
                </a:solidFill>
                <a:latin typeface="맑은 고딕"/>
                <a:ea typeface="맑은 고딕"/>
              </a:rPr>
              <a:t>응답</a:t>
            </a:r>
          </a:p>
        </p:txBody>
      </p:sp>
      <p:sp>
        <p:nvSpPr>
          <p:cNvPr id="117" name="L2"/>
          <p:cNvSpPr/>
          <p:nvPr/>
        </p:nvSpPr>
        <p:spPr>
          <a:xfrm>
            <a:off x="127000" y="1397000"/>
            <a:ext cx="11938000" cy="406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8F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8" name="LL2"/>
          <p:cNvSpPr/>
          <p:nvPr/>
        </p:nvSpPr>
        <p:spPr>
          <a:xfrm>
            <a:off x="254000" y="1397000"/>
            <a:ext cx="22352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ko-KR" sz="1100" b="1" dirty="0">
                <a:solidFill>
                  <a:srgbClr val="7C5C00"/>
                </a:solidFill>
                <a:latin typeface="맑은 고딕"/>
                <a:ea typeface="맑은 고딕"/>
              </a:rPr>
              <a:t>스케줄러 계층</a:t>
            </a:r>
          </a:p>
        </p:txBody>
      </p:sp>
      <p:sp>
        <p:nvSpPr>
          <p:cNvPr id="119" name="C20"/>
          <p:cNvSpPr/>
          <p:nvPr/>
        </p:nvSpPr>
        <p:spPr>
          <a:xfrm>
            <a:off x="2590800" y="1435100"/>
            <a:ext cx="2279650" cy="330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BF8F00"/>
            </a:solidFill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ko-KR" sz="1000" b="1" dirty="0">
                <a:solidFill>
                  <a:srgbClr val="333333"/>
                </a:solidFill>
                <a:latin typeface="맑은 고딕"/>
                <a:ea typeface="맑은 고딕"/>
              </a:rPr>
              <a:t>FCFS</a:t>
            </a:r>
          </a:p>
        </p:txBody>
      </p:sp>
      <p:sp>
        <p:nvSpPr>
          <p:cNvPr id="120" name="C21"/>
          <p:cNvSpPr/>
          <p:nvPr/>
        </p:nvSpPr>
        <p:spPr>
          <a:xfrm>
            <a:off x="4972050" y="1435100"/>
            <a:ext cx="2279650" cy="330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BF8F00"/>
            </a:solidFill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ko-KR" sz="1000" b="1" dirty="0">
                <a:solidFill>
                  <a:srgbClr val="333333"/>
                </a:solidFill>
                <a:latin typeface="맑은 고딕"/>
                <a:ea typeface="맑은 고딕"/>
              </a:rPr>
              <a:t>Priority</a:t>
            </a:r>
          </a:p>
        </p:txBody>
      </p:sp>
      <p:sp>
        <p:nvSpPr>
          <p:cNvPr id="121" name="C22"/>
          <p:cNvSpPr/>
          <p:nvPr/>
        </p:nvSpPr>
        <p:spPr>
          <a:xfrm>
            <a:off x="7353300" y="1435100"/>
            <a:ext cx="2279650" cy="330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BF8F00"/>
            </a:solidFill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ko-KR" sz="1000" b="1" dirty="0">
                <a:solidFill>
                  <a:srgbClr val="333333"/>
                </a:solidFill>
                <a:latin typeface="맑은 고딕"/>
                <a:ea typeface="맑은 고딕"/>
              </a:rPr>
              <a:t>MLFQ</a:t>
            </a:r>
          </a:p>
        </p:txBody>
      </p:sp>
      <p:sp>
        <p:nvSpPr>
          <p:cNvPr id="122" name="C23"/>
          <p:cNvSpPr/>
          <p:nvPr/>
        </p:nvSpPr>
        <p:spPr>
          <a:xfrm>
            <a:off x="9734550" y="1435100"/>
            <a:ext cx="2279650" cy="330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BF8F00"/>
            </a:solidFill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ko-KR" sz="1000" b="1" dirty="0">
                <a:solidFill>
                  <a:srgbClr val="333333"/>
                </a:solidFill>
                <a:latin typeface="맑은 고딕"/>
                <a:ea typeface="맑은 고딕"/>
              </a:rPr>
              <a:t>WFQ</a:t>
            </a:r>
          </a:p>
        </p:txBody>
      </p:sp>
      <p:sp>
        <p:nvSpPr>
          <p:cNvPr id="123" name="DA2"/>
          <p:cNvSpPr/>
          <p:nvPr/>
        </p:nvSpPr>
        <p:spPr>
          <a:xfrm>
            <a:off x="5346700" y="1816100"/>
            <a:ext cx="228600" cy="2286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BF8F00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24" name="RL2"/>
          <p:cNvSpPr/>
          <p:nvPr/>
        </p:nvSpPr>
        <p:spPr>
          <a:xfrm>
            <a:off x="4826000" y="1803400"/>
            <a:ext cx="4826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ko-KR" sz="1000" dirty="0">
                <a:solidFill>
                  <a:srgbClr val="555555"/>
                </a:solidFill>
                <a:latin typeface="맑은 고딕"/>
                <a:ea typeface="맑은 고딕"/>
              </a:rPr>
              <a:t>요청</a:t>
            </a:r>
          </a:p>
        </p:txBody>
      </p:sp>
      <p:sp>
        <p:nvSpPr>
          <p:cNvPr id="125" name="UA2"/>
          <p:cNvSpPr/>
          <p:nvPr/>
        </p:nvSpPr>
        <p:spPr>
          <a:xfrm>
            <a:off x="6616700" y="1816100"/>
            <a:ext cx="228600" cy="228600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555555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26" name="SL2"/>
          <p:cNvSpPr/>
          <p:nvPr/>
        </p:nvSpPr>
        <p:spPr>
          <a:xfrm>
            <a:off x="6883400" y="1803400"/>
            <a:ext cx="4826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ko-KR" sz="1000" dirty="0">
                <a:solidFill>
                  <a:srgbClr val="555555"/>
                </a:solidFill>
                <a:latin typeface="맑은 고딕"/>
                <a:ea typeface="맑은 고딕"/>
              </a:rPr>
              <a:t>응답</a:t>
            </a:r>
          </a:p>
        </p:txBody>
      </p:sp>
      <p:sp>
        <p:nvSpPr>
          <p:cNvPr id="127" name="L3"/>
          <p:cNvSpPr/>
          <p:nvPr/>
        </p:nvSpPr>
        <p:spPr>
          <a:xfrm>
            <a:off x="127000" y="2057400"/>
            <a:ext cx="11938000" cy="406400"/>
          </a:xfrm>
          <a:prstGeom prst="roundRect">
            <a:avLst>
              <a:gd name="adj" fmla="val 12000"/>
            </a:avLst>
          </a:prstGeom>
          <a:solidFill>
            <a:srgbClr val="E2D9F3"/>
          </a:solidFill>
          <a:ln w="12700">
            <a:solidFill>
              <a:srgbClr val="6B3FA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8" name="LL3"/>
          <p:cNvSpPr/>
          <p:nvPr/>
        </p:nvSpPr>
        <p:spPr>
          <a:xfrm>
            <a:off x="254000" y="2057400"/>
            <a:ext cx="22352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ko-KR" sz="1100" b="1" dirty="0">
                <a:solidFill>
                  <a:srgbClr val="4A2882"/>
                </a:solidFill>
                <a:latin typeface="맑은 고딕"/>
                <a:ea typeface="맑은 고딕"/>
              </a:rPr>
              <a:t>저장소 계층</a:t>
            </a:r>
          </a:p>
        </p:txBody>
      </p:sp>
      <p:sp>
        <p:nvSpPr>
          <p:cNvPr id="129" name="C30"/>
          <p:cNvSpPr/>
          <p:nvPr/>
        </p:nvSpPr>
        <p:spPr>
          <a:xfrm>
            <a:off x="2590800" y="2095500"/>
            <a:ext cx="3073400" cy="330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6B3FA0"/>
            </a:solidFill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ko-KR" sz="1000" b="1" dirty="0">
                <a:solidFill>
                  <a:srgbClr val="333333"/>
                </a:solidFill>
                <a:latin typeface="맑은 고딕"/>
                <a:ea typeface="맑은 고딕"/>
              </a:rPr>
              <a:t>메모리 큐</a:t>
            </a:r>
          </a:p>
        </p:txBody>
      </p:sp>
      <p:sp>
        <p:nvSpPr>
          <p:cNvPr id="130" name="C31"/>
          <p:cNvSpPr/>
          <p:nvPr/>
        </p:nvSpPr>
        <p:spPr>
          <a:xfrm>
            <a:off x="5765800" y="2095500"/>
            <a:ext cx="3073400" cy="330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6B3FA0"/>
            </a:solidFill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ko-KR" sz="1000" b="1" dirty="0">
                <a:solidFill>
                  <a:srgbClr val="333333"/>
                </a:solidFill>
                <a:latin typeface="맑은 고딕"/>
                <a:ea typeface="맑은 고딕"/>
              </a:rPr>
              <a:t>JSON 로그</a:t>
            </a:r>
          </a:p>
        </p:txBody>
      </p:sp>
      <p:sp>
        <p:nvSpPr>
          <p:cNvPr id="131" name="C32"/>
          <p:cNvSpPr/>
          <p:nvPr/>
        </p:nvSpPr>
        <p:spPr>
          <a:xfrm>
            <a:off x="8940800" y="2095500"/>
            <a:ext cx="3073400" cy="330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6B3FA0"/>
            </a:solidFill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ko-KR" sz="1000" b="1" dirty="0">
                <a:solidFill>
                  <a:srgbClr val="333333"/>
                </a:solidFill>
                <a:latin typeface="맑은 고딕"/>
                <a:ea typeface="맑은 고딕"/>
              </a:rPr>
              <a:t>Ollama</a:t>
            </a:r>
          </a:p>
        </p:txBody>
      </p:sp>
    </p:spTree>
    <p:extLst>
      <p:ext uri="{BB962C8B-B14F-4D97-AF65-F5344CB8AC3E}">
        <p14:creationId xmlns:p14="http://schemas.microsoft.com/office/powerpoint/2010/main" val="11547866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S0"/>
          <p:cNvSpPr/>
          <p:nvPr/>
        </p:nvSpPr>
        <p:spPr>
          <a:xfrm>
            <a:off x="139700" y="127000"/>
            <a:ext cx="1816100" cy="1143000"/>
          </a:xfrm>
          <a:prstGeom prst="roundRect">
            <a:avLst>
              <a:gd name="adj" fmla="val 6000"/>
            </a:avLst>
          </a:prstGeom>
          <a:solidFill>
            <a:srgbClr val="F0F4F8"/>
          </a:solidFill>
          <a:ln w="12700">
            <a:solidFill>
              <a:srgbClr val="2B579A"/>
            </a:solidFill>
          </a:ln>
        </p:spPr>
        <p:txBody>
          <a:bodyPr wrap="square" lIns="36000" tIns="36000" rIns="36000" bIns="36000" anchor="t"/>
          <a:lstStyle/>
          <a:p>
            <a:pPr algn="ctr">
              <a:buNone/>
            </a:pPr>
            <a:r>
              <a:rPr lang="ko-KR" sz="1000" b="1" dirty="0">
                <a:solidFill>
                  <a:srgbClr val="2B579A"/>
                </a:solidFill>
                <a:latin typeface="맑은 고딕"/>
                <a:ea typeface="맑은 고딕"/>
              </a:rPr>
              <a:t>1. 요청 전송</a:t>
            </a:r>
          </a:p>
          <a:p>
            <a:pPr algn="ctr">
              <a:buNone/>
            </a:pPr>
            <a:r>
              <a:rPr lang="ko-KR" sz="800" dirty="0">
                <a:solidFill>
                  <a:srgbClr val="555555"/>
                </a:solidFill>
                <a:latin typeface="맑은 고딕"/>
                <a:ea typeface="맑은 고딕"/>
              </a:rPr>
              <a:t>POST /api/requests</a:t>
            </a:r>
          </a:p>
        </p:txBody>
      </p:sp>
      <p:sp>
        <p:nvSpPr>
          <p:cNvPr id="201" name="St0"/>
          <p:cNvSpPr/>
          <p:nvPr/>
        </p:nvSpPr>
        <p:spPr>
          <a:xfrm>
            <a:off x="412750" y="939800"/>
            <a:ext cx="1270000" cy="228600"/>
          </a:xfrm>
          <a:prstGeom prst="roundRect">
            <a:avLst>
              <a:gd name="adj" fmla="val 50000"/>
            </a:avLst>
          </a:prstGeom>
          <a:solidFill>
            <a:srgbClr val="FFF3CD"/>
          </a:solidFill>
          <a:ln w="6350">
            <a:solidFill>
              <a:srgbClr val="C9A227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800" b="1" dirty="0">
                <a:solidFill>
                  <a:srgbClr val="856404"/>
                </a:solidFill>
                <a:latin typeface="맑은 고딕"/>
                <a:ea typeface="맑은 고딕"/>
              </a:rPr>
              <a:t>PENDING</a:t>
            </a:r>
          </a:p>
        </p:txBody>
      </p:sp>
      <p:sp>
        <p:nvSpPr>
          <p:cNvPr id="202" name="A0"/>
          <p:cNvSpPr/>
          <p:nvPr/>
        </p:nvSpPr>
        <p:spPr>
          <a:xfrm>
            <a:off x="1981200" y="622300"/>
            <a:ext cx="152400" cy="152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03" name="S1"/>
          <p:cNvSpPr/>
          <p:nvPr/>
        </p:nvSpPr>
        <p:spPr>
          <a:xfrm>
            <a:off x="2159000" y="127000"/>
            <a:ext cx="1816100" cy="1143000"/>
          </a:xfrm>
          <a:prstGeom prst="roundRect">
            <a:avLst>
              <a:gd name="adj" fmla="val 6000"/>
            </a:avLst>
          </a:prstGeom>
          <a:solidFill>
            <a:srgbClr val="F0F4F8"/>
          </a:solidFill>
          <a:ln w="12700">
            <a:solidFill>
              <a:srgbClr val="2B579A"/>
            </a:solidFill>
          </a:ln>
        </p:spPr>
        <p:txBody>
          <a:bodyPr wrap="square" lIns="36000" tIns="36000" rIns="36000" bIns="36000" anchor="t"/>
          <a:lstStyle/>
          <a:p>
            <a:pPr algn="ctr">
              <a:buNone/>
            </a:pPr>
            <a:r>
              <a:rPr lang="ko-KR" sz="1000" b="1" dirty="0">
                <a:solidFill>
                  <a:srgbClr val="2B579A"/>
                </a:solidFill>
                <a:latin typeface="맑은 고딕"/>
                <a:ea typeface="맑은 고딕"/>
              </a:rPr>
              <a:t>2. 입력 검증</a:t>
            </a:r>
          </a:p>
          <a:p>
            <a:pPr algn="ctr">
              <a:buNone/>
            </a:pPr>
            <a:r>
              <a:rPr lang="ko-KR" sz="800" dirty="0">
                <a:solidFill>
                  <a:srgbClr val="555555"/>
                </a:solidFill>
                <a:latin typeface="맑은 고딕"/>
                <a:ea typeface="맑은 고딕"/>
              </a:rPr>
              <a:t>API 계층</a:t>
            </a:r>
          </a:p>
        </p:txBody>
      </p:sp>
      <p:sp>
        <p:nvSpPr>
          <p:cNvPr id="204" name="St1"/>
          <p:cNvSpPr/>
          <p:nvPr/>
        </p:nvSpPr>
        <p:spPr>
          <a:xfrm>
            <a:off x="2432050" y="939800"/>
            <a:ext cx="1270000" cy="228600"/>
          </a:xfrm>
          <a:prstGeom prst="roundRect">
            <a:avLst>
              <a:gd name="adj" fmla="val 50000"/>
            </a:avLst>
          </a:prstGeom>
          <a:solidFill>
            <a:srgbClr val="FFF3CD"/>
          </a:solidFill>
          <a:ln w="6350">
            <a:solidFill>
              <a:srgbClr val="C9A227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800" b="1" dirty="0">
                <a:solidFill>
                  <a:srgbClr val="856404"/>
                </a:solidFill>
                <a:latin typeface="맑은 고딕"/>
                <a:ea typeface="맑은 고딕"/>
              </a:rPr>
              <a:t>PENDING</a:t>
            </a:r>
          </a:p>
        </p:txBody>
      </p:sp>
      <p:sp>
        <p:nvSpPr>
          <p:cNvPr id="205" name="A1"/>
          <p:cNvSpPr/>
          <p:nvPr/>
        </p:nvSpPr>
        <p:spPr>
          <a:xfrm>
            <a:off x="4000500" y="622300"/>
            <a:ext cx="152400" cy="152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06" name="S2"/>
          <p:cNvSpPr/>
          <p:nvPr/>
        </p:nvSpPr>
        <p:spPr>
          <a:xfrm>
            <a:off x="4178300" y="127000"/>
            <a:ext cx="1816100" cy="1143000"/>
          </a:xfrm>
          <a:prstGeom prst="roundRect">
            <a:avLst>
              <a:gd name="adj" fmla="val 6000"/>
            </a:avLst>
          </a:prstGeom>
          <a:solidFill>
            <a:srgbClr val="F0F4F8"/>
          </a:solidFill>
          <a:ln w="12700">
            <a:solidFill>
              <a:srgbClr val="2B579A"/>
            </a:solidFill>
          </a:ln>
        </p:spPr>
        <p:txBody>
          <a:bodyPr wrap="square" lIns="36000" tIns="36000" rIns="36000" bIns="36000" anchor="t"/>
          <a:lstStyle/>
          <a:p>
            <a:pPr algn="ctr">
              <a:buNone/>
            </a:pPr>
            <a:r>
              <a:rPr lang="ko-KR" sz="1000" b="1" dirty="0">
                <a:solidFill>
                  <a:srgbClr val="2B579A"/>
                </a:solidFill>
                <a:latin typeface="맑은 고딕"/>
                <a:ea typeface="맑은 고딕"/>
              </a:rPr>
              <a:t>3. 큐 등록</a:t>
            </a:r>
          </a:p>
          <a:p>
            <a:pPr algn="ctr">
              <a:buNone/>
            </a:pPr>
            <a:r>
              <a:rPr lang="ko-KR" sz="800" dirty="0">
                <a:solidFill>
                  <a:srgbClr val="555555"/>
                </a:solidFill>
                <a:latin typeface="맑은 고딕"/>
                <a:ea typeface="맑은 고딕"/>
              </a:rPr>
              <a:t>enqueue()</a:t>
            </a:r>
          </a:p>
        </p:txBody>
      </p:sp>
      <p:sp>
        <p:nvSpPr>
          <p:cNvPr id="207" name="St2"/>
          <p:cNvSpPr/>
          <p:nvPr/>
        </p:nvSpPr>
        <p:spPr>
          <a:xfrm>
            <a:off x="4451350" y="939800"/>
            <a:ext cx="1270000" cy="228600"/>
          </a:xfrm>
          <a:prstGeom prst="roundRect">
            <a:avLst>
              <a:gd name="adj" fmla="val 50000"/>
            </a:avLst>
          </a:prstGeom>
          <a:solidFill>
            <a:srgbClr val="D4EDDA"/>
          </a:solidFill>
          <a:ln w="6350">
            <a:solidFill>
              <a:srgbClr val="28A745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800" b="1" dirty="0">
                <a:solidFill>
                  <a:srgbClr val="155724"/>
                </a:solidFill>
                <a:latin typeface="맑은 고딕"/>
                <a:ea typeface="맑은 고딕"/>
              </a:rPr>
              <a:t>QUEUED</a:t>
            </a:r>
          </a:p>
        </p:txBody>
      </p:sp>
      <p:sp>
        <p:nvSpPr>
          <p:cNvPr id="208" name="A2"/>
          <p:cNvSpPr/>
          <p:nvPr/>
        </p:nvSpPr>
        <p:spPr>
          <a:xfrm>
            <a:off x="6019800" y="622300"/>
            <a:ext cx="152400" cy="152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09" name="S3"/>
          <p:cNvSpPr/>
          <p:nvPr/>
        </p:nvSpPr>
        <p:spPr>
          <a:xfrm>
            <a:off x="6197600" y="127000"/>
            <a:ext cx="1816100" cy="1143000"/>
          </a:xfrm>
          <a:prstGeom prst="roundRect">
            <a:avLst>
              <a:gd name="adj" fmla="val 6000"/>
            </a:avLst>
          </a:prstGeom>
          <a:solidFill>
            <a:srgbClr val="F0F4F8"/>
          </a:solidFill>
          <a:ln w="12700">
            <a:solidFill>
              <a:srgbClr val="2B579A"/>
            </a:solidFill>
          </a:ln>
        </p:spPr>
        <p:txBody>
          <a:bodyPr wrap="square" lIns="36000" tIns="36000" rIns="36000" bIns="36000" anchor="t"/>
          <a:lstStyle/>
          <a:p>
            <a:pPr algn="ctr">
              <a:buNone/>
            </a:pPr>
            <a:r>
              <a:rPr lang="ko-KR" sz="1000" b="1" dirty="0">
                <a:solidFill>
                  <a:srgbClr val="2B579A"/>
                </a:solidFill>
                <a:latin typeface="맑은 고딕"/>
                <a:ea typeface="맑은 고딕"/>
              </a:rPr>
              <a:t>4. 스케줄링</a:t>
            </a:r>
          </a:p>
          <a:p>
            <a:pPr algn="ctr">
              <a:buNone/>
            </a:pPr>
            <a:r>
              <a:rPr lang="ko-KR" sz="800" dirty="0">
                <a:solidFill>
                  <a:srgbClr val="555555"/>
                </a:solidFill>
                <a:latin typeface="맑은 고딕"/>
                <a:ea typeface="맑은 고딕"/>
              </a:rPr>
              <a:t>dequeue()</a:t>
            </a:r>
          </a:p>
        </p:txBody>
      </p:sp>
      <p:sp>
        <p:nvSpPr>
          <p:cNvPr id="210" name="St3"/>
          <p:cNvSpPr/>
          <p:nvPr/>
        </p:nvSpPr>
        <p:spPr>
          <a:xfrm>
            <a:off x="6470650" y="939800"/>
            <a:ext cx="1270000" cy="228600"/>
          </a:xfrm>
          <a:prstGeom prst="roundRect">
            <a:avLst>
              <a:gd name="adj" fmla="val 50000"/>
            </a:avLst>
          </a:prstGeom>
          <a:solidFill>
            <a:srgbClr val="CCE5FF"/>
          </a:solidFill>
          <a:ln w="6350">
            <a:solidFill>
              <a:srgbClr val="2B579A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800" b="1" dirty="0">
                <a:solidFill>
                  <a:srgbClr val="004085"/>
                </a:solidFill>
                <a:latin typeface="맑은 고딕"/>
                <a:ea typeface="맑은 고딕"/>
              </a:rPr>
              <a:t>PROCESSING</a:t>
            </a:r>
          </a:p>
        </p:txBody>
      </p:sp>
      <p:sp>
        <p:nvSpPr>
          <p:cNvPr id="211" name="A3"/>
          <p:cNvSpPr/>
          <p:nvPr/>
        </p:nvSpPr>
        <p:spPr>
          <a:xfrm>
            <a:off x="8039100" y="622300"/>
            <a:ext cx="152400" cy="152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12" name="S4"/>
          <p:cNvSpPr/>
          <p:nvPr/>
        </p:nvSpPr>
        <p:spPr>
          <a:xfrm>
            <a:off x="8216900" y="127000"/>
            <a:ext cx="1816100" cy="1143000"/>
          </a:xfrm>
          <a:prstGeom prst="roundRect">
            <a:avLst>
              <a:gd name="adj" fmla="val 6000"/>
            </a:avLst>
          </a:prstGeom>
          <a:solidFill>
            <a:srgbClr val="F0F4F8"/>
          </a:solidFill>
          <a:ln w="12700">
            <a:solidFill>
              <a:srgbClr val="2B579A"/>
            </a:solidFill>
          </a:ln>
        </p:spPr>
        <p:txBody>
          <a:bodyPr wrap="square" lIns="36000" tIns="36000" rIns="36000" bIns="36000" anchor="t"/>
          <a:lstStyle/>
          <a:p>
            <a:pPr algn="ctr">
              <a:buNone/>
            </a:pPr>
            <a:r>
              <a:rPr lang="ko-KR" sz="1000" b="1" dirty="0">
                <a:solidFill>
                  <a:srgbClr val="2B579A"/>
                </a:solidFill>
                <a:latin typeface="맑은 고딕"/>
                <a:ea typeface="맑은 고딕"/>
              </a:rPr>
              <a:t>5. LLM 호출</a:t>
            </a:r>
          </a:p>
          <a:p>
            <a:pPr algn="ctr">
              <a:buNone/>
            </a:pPr>
            <a:r>
              <a:rPr lang="ko-KR" sz="800" dirty="0">
                <a:solidFill>
                  <a:srgbClr val="555555"/>
                </a:solidFill>
                <a:latin typeface="맑은 고딕"/>
                <a:ea typeface="맑은 고딕"/>
              </a:rPr>
              <a:t>Ollama API</a:t>
            </a:r>
          </a:p>
        </p:txBody>
      </p:sp>
      <p:sp>
        <p:nvSpPr>
          <p:cNvPr id="213" name="St4"/>
          <p:cNvSpPr/>
          <p:nvPr/>
        </p:nvSpPr>
        <p:spPr>
          <a:xfrm>
            <a:off x="8489950" y="939800"/>
            <a:ext cx="1270000" cy="228600"/>
          </a:xfrm>
          <a:prstGeom prst="roundRect">
            <a:avLst>
              <a:gd name="adj" fmla="val 50000"/>
            </a:avLst>
          </a:prstGeom>
          <a:solidFill>
            <a:srgbClr val="CCE5FF"/>
          </a:solidFill>
          <a:ln w="6350">
            <a:solidFill>
              <a:srgbClr val="2B579A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800" b="1" dirty="0">
                <a:solidFill>
                  <a:srgbClr val="004085"/>
                </a:solidFill>
                <a:latin typeface="맑은 고딕"/>
                <a:ea typeface="맑은 고딕"/>
              </a:rPr>
              <a:t>PROCESSING</a:t>
            </a:r>
          </a:p>
        </p:txBody>
      </p:sp>
      <p:sp>
        <p:nvSpPr>
          <p:cNvPr id="214" name="A4"/>
          <p:cNvSpPr/>
          <p:nvPr/>
        </p:nvSpPr>
        <p:spPr>
          <a:xfrm>
            <a:off x="10058400" y="622300"/>
            <a:ext cx="152400" cy="152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15" name="S5"/>
          <p:cNvSpPr/>
          <p:nvPr/>
        </p:nvSpPr>
        <p:spPr>
          <a:xfrm>
            <a:off x="10236200" y="127000"/>
            <a:ext cx="1816100" cy="1143000"/>
          </a:xfrm>
          <a:prstGeom prst="roundRect">
            <a:avLst>
              <a:gd name="adj" fmla="val 6000"/>
            </a:avLst>
          </a:prstGeom>
          <a:solidFill>
            <a:srgbClr val="F0F4F8"/>
          </a:solidFill>
          <a:ln w="12700">
            <a:solidFill>
              <a:srgbClr val="2B579A"/>
            </a:solidFill>
          </a:ln>
        </p:spPr>
        <p:txBody>
          <a:bodyPr wrap="square" lIns="36000" tIns="36000" rIns="36000" bIns="36000" anchor="t"/>
          <a:lstStyle/>
          <a:p>
            <a:pPr algn="ctr">
              <a:buNone/>
            </a:pPr>
            <a:r>
              <a:rPr lang="ko-KR" sz="1000" b="1" dirty="0">
                <a:solidFill>
                  <a:srgbClr val="2B579A"/>
                </a:solidFill>
                <a:latin typeface="맑은 고딕"/>
                <a:ea typeface="맑은 고딕"/>
              </a:rPr>
              <a:t>6. 응답 반환</a:t>
            </a:r>
          </a:p>
          <a:p>
            <a:pPr algn="ctr">
              <a:buNone/>
            </a:pPr>
            <a:r>
              <a:rPr lang="ko-KR" sz="800" dirty="0">
                <a:solidFill>
                  <a:srgbClr val="555555"/>
                </a:solidFill>
                <a:latin typeface="맑은 고딕"/>
                <a:ea typeface="맑은 고딕"/>
              </a:rPr>
              <a:t>JSON 로그</a:t>
            </a:r>
          </a:p>
        </p:txBody>
      </p:sp>
      <p:sp>
        <p:nvSpPr>
          <p:cNvPr id="216" name="St5"/>
          <p:cNvSpPr/>
          <p:nvPr/>
        </p:nvSpPr>
        <p:spPr>
          <a:xfrm>
            <a:off x="10509250" y="939800"/>
            <a:ext cx="1270000" cy="228600"/>
          </a:xfrm>
          <a:prstGeom prst="roundRect">
            <a:avLst>
              <a:gd name="adj" fmla="val 50000"/>
            </a:avLst>
          </a:prstGeom>
          <a:solidFill>
            <a:srgbClr val="D5E8D4"/>
          </a:solidFill>
          <a:ln w="6350">
            <a:solidFill>
              <a:srgbClr val="2D6A4F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800" b="1" dirty="0">
                <a:solidFill>
                  <a:srgbClr val="1B5E37"/>
                </a:solidFill>
                <a:latin typeface="맑은 고딕"/>
                <a:ea typeface="맑은 고딕"/>
              </a:rPr>
              <a:t>COMPLETED</a:t>
            </a:r>
          </a:p>
        </p:txBody>
      </p:sp>
      <p:sp>
        <p:nvSpPr>
          <p:cNvPr id="217" name="LC"/>
          <p:cNvSpPr/>
          <p:nvPr/>
        </p:nvSpPr>
        <p:spPr>
          <a:xfrm>
            <a:off x="127000" y="1371600"/>
            <a:ext cx="11938000" cy="457200"/>
          </a:xfrm>
          <a:prstGeom prst="rect">
            <a:avLst/>
          </a:prstGeom>
          <a:solidFill>
            <a:srgbClr val="FAFAFA"/>
          </a:solidFill>
          <a:ln w="9525">
            <a:solidFill>
              <a:srgbClr val="999999"/>
            </a:solidFill>
          </a:ln>
        </p:spPr>
        <p:txBody>
          <a:bodyPr wrap="square" lIns="72000" tIns="18000" rIns="72000" bIns="18000" anchor="ctr"/>
          <a:lstStyle/>
          <a:p>
            <a:pPr algn="l">
              <a:buNone/>
            </a:pPr>
            <a:r>
              <a:rPr lang="ko-KR" sz="900" b="1" dirty="0">
                <a:solidFill>
                  <a:srgbClr val="1A1A1A"/>
                </a:solidFill>
                <a:latin typeface="맑은 고딕"/>
                <a:ea typeface="맑은 고딕"/>
              </a:rPr>
              <a:t>요청 수명 주기:  </a:t>
            </a:r>
            <a:r>
              <a:rPr lang="en-US" sz="900" b="1" dirty="0">
                <a:solidFill>
                  <a:srgbClr val="856404"/>
                </a:solidFill>
                <a:latin typeface="맑은 고딕"/>
              </a:rPr>
              <a:t>PENDING</a:t>
            </a:r>
            <a:r>
              <a:rPr lang="en-US" sz="900" dirty="0">
                <a:solidFill>
                  <a:srgbClr val="555555"/>
                </a:solidFill>
                <a:latin typeface="맑은 고딕"/>
              </a:rPr>
              <a:t> → </a:t>
            </a:r>
            <a:r>
              <a:rPr lang="en-US" sz="900" b="1" dirty="0">
                <a:solidFill>
                  <a:srgbClr val="155724"/>
                </a:solidFill>
                <a:latin typeface="맑은 고딕"/>
              </a:rPr>
              <a:t>QUEUED</a:t>
            </a:r>
            <a:r>
              <a:rPr lang="en-US" sz="900" dirty="0">
                <a:solidFill>
                  <a:srgbClr val="555555"/>
                </a:solidFill>
                <a:latin typeface="맑은 고딕"/>
              </a:rPr>
              <a:t> → </a:t>
            </a:r>
            <a:r>
              <a:rPr lang="en-US" sz="900" b="1" dirty="0">
                <a:solidFill>
                  <a:srgbClr val="004085"/>
                </a:solidFill>
                <a:latin typeface="맑은 고딕"/>
              </a:rPr>
              <a:t>PROCESSING</a:t>
            </a:r>
            <a:r>
              <a:rPr lang="en-US" sz="900" dirty="0">
                <a:solidFill>
                  <a:srgbClr val="555555"/>
                </a:solidFill>
                <a:latin typeface="맑은 고딕"/>
              </a:rPr>
              <a:t> → </a:t>
            </a:r>
            <a:r>
              <a:rPr lang="en-US" sz="900" b="1" dirty="0">
                <a:solidFill>
                  <a:srgbClr val="1B5E37"/>
                </a:solidFill>
                <a:latin typeface="맑은 고딕"/>
              </a:rPr>
              <a:t>COMPLETED</a:t>
            </a:r>
            <a:r>
              <a:rPr lang="ko-KR" sz="800" i="1" dirty="0">
                <a:solidFill>
                  <a:srgbClr val="555555"/>
                </a:solidFill>
                <a:latin typeface="맑은 고딕"/>
                <a:ea typeface="맑은 고딕"/>
              </a:rPr>
              <a:t>   (각 단계에서 상태가 JSON 로그에 기록됨)</a:t>
            </a:r>
          </a:p>
        </p:txBody>
      </p:sp>
    </p:spTree>
    <p:extLst>
      <p:ext uri="{BB962C8B-B14F-4D97-AF65-F5344CB8AC3E}">
        <p14:creationId xmlns:p14="http://schemas.microsoft.com/office/powerpoint/2010/main" val="24688539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Q0"/>
          <p:cNvSpPr/>
          <p:nvPr/>
        </p:nvSpPr>
        <p:spPr>
          <a:xfrm>
            <a:off x="127000" y="101600"/>
            <a:ext cx="5905500" cy="1651000"/>
          </a:xfrm>
          <a:prstGeom prst="rect">
            <a:avLst/>
          </a:prstGeom>
          <a:solidFill>
            <a:srgbClr val="E8EDF5"/>
          </a:solidFill>
          <a:ln w="9525">
            <a:solidFill>
              <a:srgbClr val="2B579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1" name="QT0"/>
          <p:cNvSpPr/>
          <p:nvPr/>
        </p:nvSpPr>
        <p:spPr>
          <a:xfrm>
            <a:off x="203200" y="139700"/>
            <a:ext cx="57531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ko-KR" sz="1000" b="1" dirty="0">
                <a:solidFill>
                  <a:srgbClr val="2B579A"/>
                </a:solidFill>
                <a:latin typeface="맑은 고딕"/>
                <a:ea typeface="맑은 고딕"/>
              </a:rPr>
              <a:t>(a) FCFS</a:t>
            </a:r>
            <a:r>
              <a:rPr lang="ko-KR" sz="800" i="1" dirty="0">
                <a:solidFill>
                  <a:srgbClr val="555555"/>
                </a:solidFill>
                <a:latin typeface="맑은 고딕"/>
                <a:ea typeface="맑은 고딕"/>
              </a:rPr>
              <a:t>  먼저 온 순서대로</a:t>
            </a:r>
          </a:p>
        </p:txBody>
      </p:sp>
      <p:sp>
        <p:nvSpPr>
          <p:cNvPr id="302" name="F0"/>
          <p:cNvSpPr/>
          <p:nvPr/>
        </p:nvSpPr>
        <p:spPr>
          <a:xfrm>
            <a:off x="971550" y="876300"/>
            <a:ext cx="6350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2B579A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900" b="1" dirty="0">
                <a:solidFill>
                  <a:srgbClr val="2B579A"/>
                </a:solidFill>
                <a:latin typeface="맑은 고딕"/>
              </a:rPr>
              <a:t>R1</a:t>
            </a:r>
          </a:p>
        </p:txBody>
      </p:sp>
      <p:sp>
        <p:nvSpPr>
          <p:cNvPr id="303" name="Fa0"/>
          <p:cNvSpPr/>
          <p:nvPr/>
        </p:nvSpPr>
        <p:spPr>
          <a:xfrm>
            <a:off x="1606550" y="1003300"/>
            <a:ext cx="101600" cy="101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04" name="F1"/>
          <p:cNvSpPr/>
          <p:nvPr/>
        </p:nvSpPr>
        <p:spPr>
          <a:xfrm>
            <a:off x="1708150" y="876300"/>
            <a:ext cx="6350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2B579A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900" b="1" dirty="0">
                <a:solidFill>
                  <a:srgbClr val="2B579A"/>
                </a:solidFill>
                <a:latin typeface="맑은 고딕"/>
              </a:rPr>
              <a:t>R2</a:t>
            </a:r>
          </a:p>
        </p:txBody>
      </p:sp>
      <p:sp>
        <p:nvSpPr>
          <p:cNvPr id="305" name="Fa1"/>
          <p:cNvSpPr/>
          <p:nvPr/>
        </p:nvSpPr>
        <p:spPr>
          <a:xfrm>
            <a:off x="2343150" y="1003300"/>
            <a:ext cx="101600" cy="101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06" name="F2"/>
          <p:cNvSpPr/>
          <p:nvPr/>
        </p:nvSpPr>
        <p:spPr>
          <a:xfrm>
            <a:off x="2444750" y="876300"/>
            <a:ext cx="6350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2B579A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900" b="1" dirty="0">
                <a:solidFill>
                  <a:srgbClr val="2B579A"/>
                </a:solidFill>
                <a:latin typeface="맑은 고딕"/>
              </a:rPr>
              <a:t>R3</a:t>
            </a:r>
          </a:p>
        </p:txBody>
      </p:sp>
      <p:sp>
        <p:nvSpPr>
          <p:cNvPr id="307" name="Fa2"/>
          <p:cNvSpPr/>
          <p:nvPr/>
        </p:nvSpPr>
        <p:spPr>
          <a:xfrm>
            <a:off x="3079750" y="1003300"/>
            <a:ext cx="101600" cy="101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08" name="F3"/>
          <p:cNvSpPr/>
          <p:nvPr/>
        </p:nvSpPr>
        <p:spPr>
          <a:xfrm>
            <a:off x="3181350" y="876300"/>
            <a:ext cx="6350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2B579A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900" b="1" dirty="0">
                <a:solidFill>
                  <a:srgbClr val="2B579A"/>
                </a:solidFill>
                <a:latin typeface="맑은 고딕"/>
              </a:rPr>
              <a:t>R4</a:t>
            </a:r>
          </a:p>
        </p:txBody>
      </p:sp>
      <p:sp>
        <p:nvSpPr>
          <p:cNvPr id="309" name="Fa3"/>
          <p:cNvSpPr/>
          <p:nvPr/>
        </p:nvSpPr>
        <p:spPr>
          <a:xfrm>
            <a:off x="3816350" y="1003300"/>
            <a:ext cx="101600" cy="101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10" name="F4"/>
          <p:cNvSpPr/>
          <p:nvPr/>
        </p:nvSpPr>
        <p:spPr>
          <a:xfrm>
            <a:off x="3917950" y="876300"/>
            <a:ext cx="6350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2B579A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900" b="1" dirty="0">
                <a:solidFill>
                  <a:srgbClr val="2B579A"/>
                </a:solidFill>
                <a:latin typeface="맑은 고딕"/>
              </a:rPr>
              <a:t>R5</a:t>
            </a:r>
          </a:p>
        </p:txBody>
      </p:sp>
      <p:sp>
        <p:nvSpPr>
          <p:cNvPr id="311" name="FFA"/>
          <p:cNvSpPr/>
          <p:nvPr/>
        </p:nvSpPr>
        <p:spPr>
          <a:xfrm>
            <a:off x="4565650" y="990600"/>
            <a:ext cx="127000" cy="127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2B579A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12" name="FP"/>
          <p:cNvSpPr/>
          <p:nvPr/>
        </p:nvSpPr>
        <p:spPr>
          <a:xfrm>
            <a:off x="4730750" y="901700"/>
            <a:ext cx="406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ko-KR" sz="900" b="1" dirty="0">
                <a:solidFill>
                  <a:srgbClr val="2B579A"/>
                </a:solidFill>
                <a:latin typeface="맑은 고딕"/>
                <a:ea typeface="맑은 고딕"/>
              </a:rPr>
              <a:t>처리</a:t>
            </a:r>
          </a:p>
        </p:txBody>
      </p:sp>
      <p:sp>
        <p:nvSpPr>
          <p:cNvPr id="313" name="Q1"/>
          <p:cNvSpPr/>
          <p:nvPr/>
        </p:nvSpPr>
        <p:spPr>
          <a:xfrm>
            <a:off x="6159500" y="101600"/>
            <a:ext cx="5905500" cy="1651000"/>
          </a:xfrm>
          <a:prstGeom prst="rect">
            <a:avLst/>
          </a:prstGeom>
          <a:solidFill>
            <a:srgbClr val="FDF2E9"/>
          </a:solidFill>
          <a:ln w="9525">
            <a:solidFill>
              <a:srgbClr val="8B451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14" name="QT1"/>
          <p:cNvSpPr/>
          <p:nvPr/>
        </p:nvSpPr>
        <p:spPr>
          <a:xfrm>
            <a:off x="6235700" y="139700"/>
            <a:ext cx="57531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ko-KR" sz="1000" b="1" dirty="0">
                <a:solidFill>
                  <a:srgbClr val="8B4513"/>
                </a:solidFill>
                <a:latin typeface="맑은 고딕"/>
                <a:ea typeface="맑은 고딕"/>
              </a:rPr>
              <a:t>(b) Priority</a:t>
            </a:r>
            <a:r>
              <a:rPr lang="ko-KR" sz="800" i="1" dirty="0">
                <a:solidFill>
                  <a:srgbClr val="555555"/>
                </a:solidFill>
                <a:latin typeface="맑은 고딕"/>
                <a:ea typeface="맑은 고딕"/>
              </a:rPr>
              <a:t>  급한 것 먼저</a:t>
            </a:r>
          </a:p>
        </p:txBody>
      </p:sp>
      <p:sp>
        <p:nvSpPr>
          <p:cNvPr id="315" name="PB0"/>
          <p:cNvSpPr/>
          <p:nvPr/>
        </p:nvSpPr>
        <p:spPr>
          <a:xfrm>
            <a:off x="6261100" y="419100"/>
            <a:ext cx="5417185" cy="279400"/>
          </a:xfrm>
          <a:prstGeom prst="roundRect">
            <a:avLst>
              <a:gd name="adj" fmla="val 20000"/>
            </a:avLst>
          </a:prstGeom>
          <a:solidFill>
            <a:srgbClr val="C0392B"/>
          </a:solidFill>
          <a:ln>
            <a:noFill/>
          </a:ln>
        </p:spPr>
        <p:txBody>
          <a:bodyPr wrap="square" lIns="36000" tIns="0" rIns="18000" bIns="0" anchor="ctr"/>
          <a:lstStyle/>
          <a:p>
            <a:pPr algn="l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/>
              </a:rPr>
              <a:t>URG</a:t>
            </a:r>
          </a:p>
        </p:txBody>
      </p:sp>
      <p:sp>
        <p:nvSpPr>
          <p:cNvPr id="316" name="PB1"/>
          <p:cNvSpPr/>
          <p:nvPr/>
        </p:nvSpPr>
        <p:spPr>
          <a:xfrm>
            <a:off x="6261100" y="749300"/>
            <a:ext cx="4105656" cy="279400"/>
          </a:xfrm>
          <a:prstGeom prst="roundRect">
            <a:avLst>
              <a:gd name="adj" fmla="val 20000"/>
            </a:avLst>
          </a:prstGeom>
          <a:solidFill>
            <a:srgbClr val="E67E22"/>
          </a:solidFill>
          <a:ln>
            <a:noFill/>
          </a:ln>
        </p:spPr>
        <p:txBody>
          <a:bodyPr wrap="square" lIns="36000" tIns="0" rIns="18000" bIns="0" anchor="ctr"/>
          <a:lstStyle/>
          <a:p>
            <a:pPr algn="l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/>
              </a:rPr>
              <a:t>HIGH</a:t>
            </a:r>
          </a:p>
        </p:txBody>
      </p:sp>
      <p:sp>
        <p:nvSpPr>
          <p:cNvPr id="317" name="PB2"/>
          <p:cNvSpPr/>
          <p:nvPr/>
        </p:nvSpPr>
        <p:spPr>
          <a:xfrm>
            <a:off x="6261100" y="1079500"/>
            <a:ext cx="2851150" cy="279400"/>
          </a:xfrm>
          <a:prstGeom prst="roundRect">
            <a:avLst>
              <a:gd name="adj" fmla="val 20000"/>
            </a:avLst>
          </a:prstGeom>
          <a:solidFill>
            <a:srgbClr val="7F8C8D"/>
          </a:solidFill>
          <a:ln>
            <a:noFill/>
          </a:ln>
        </p:spPr>
        <p:txBody>
          <a:bodyPr wrap="square" lIns="36000" tIns="0" rIns="18000" bIns="0" anchor="ctr"/>
          <a:lstStyle/>
          <a:p>
            <a:pPr algn="l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/>
              </a:rPr>
              <a:t>NORM</a:t>
            </a:r>
          </a:p>
        </p:txBody>
      </p:sp>
      <p:sp>
        <p:nvSpPr>
          <p:cNvPr id="318" name="PB3"/>
          <p:cNvSpPr/>
          <p:nvPr/>
        </p:nvSpPr>
        <p:spPr>
          <a:xfrm>
            <a:off x="6261100" y="1409700"/>
            <a:ext cx="1596644" cy="279400"/>
          </a:xfrm>
          <a:prstGeom prst="roundRect">
            <a:avLst>
              <a:gd name="adj" fmla="val 20000"/>
            </a:avLst>
          </a:prstGeom>
          <a:solidFill>
            <a:srgbClr val="27AE60"/>
          </a:solidFill>
          <a:ln>
            <a:noFill/>
          </a:ln>
        </p:spPr>
        <p:txBody>
          <a:bodyPr wrap="square" lIns="36000" tIns="0" rIns="18000" bIns="0" anchor="ctr"/>
          <a:lstStyle/>
          <a:p>
            <a:pPr algn="l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/>
              </a:rPr>
              <a:t>LOW</a:t>
            </a:r>
          </a:p>
        </p:txBody>
      </p:sp>
      <p:sp>
        <p:nvSpPr>
          <p:cNvPr id="319" name="Q2"/>
          <p:cNvSpPr/>
          <p:nvPr/>
        </p:nvSpPr>
        <p:spPr>
          <a:xfrm>
            <a:off x="127000" y="1854200"/>
            <a:ext cx="5905500" cy="1651000"/>
          </a:xfrm>
          <a:prstGeom prst="rect">
            <a:avLst/>
          </a:prstGeom>
          <a:solidFill>
            <a:srgbClr val="E8EDF5"/>
          </a:solidFill>
          <a:ln w="9525">
            <a:solidFill>
              <a:srgbClr val="2B579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20" name="QT2"/>
          <p:cNvSpPr/>
          <p:nvPr/>
        </p:nvSpPr>
        <p:spPr>
          <a:xfrm>
            <a:off x="203200" y="1892300"/>
            <a:ext cx="57531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ko-KR" sz="1000" b="1" dirty="0">
                <a:solidFill>
                  <a:srgbClr val="2B579A"/>
                </a:solidFill>
                <a:latin typeface="맑은 고딕"/>
                <a:ea typeface="맑은 고딕"/>
              </a:rPr>
              <a:t>(c) MLFQ</a:t>
            </a:r>
            <a:r>
              <a:rPr lang="ko-KR" sz="800" i="1" dirty="0">
                <a:solidFill>
                  <a:srgbClr val="555555"/>
                </a:solidFill>
                <a:latin typeface="맑은 고딕"/>
                <a:ea typeface="맑은 고딕"/>
              </a:rPr>
              <a:t>  짧은 요청 우선 + 자동 조정</a:t>
            </a:r>
          </a:p>
        </p:txBody>
      </p:sp>
      <p:sp>
        <p:nvSpPr>
          <p:cNvPr id="321" name="MQ0"/>
          <p:cNvSpPr/>
          <p:nvPr/>
        </p:nvSpPr>
        <p:spPr>
          <a:xfrm>
            <a:off x="228600" y="2190750"/>
            <a:ext cx="4686300" cy="279400"/>
          </a:xfrm>
          <a:prstGeom prst="roundRect">
            <a:avLst>
              <a:gd name="adj" fmla="val 20000"/>
            </a:avLst>
          </a:prstGeom>
          <a:solidFill>
            <a:srgbClr val="1B3A5C"/>
          </a:solidFill>
          <a:ln>
            <a:noFill/>
          </a:ln>
        </p:spPr>
        <p:txBody>
          <a:bodyPr wrap="square" lIns="36000" tIns="0" rIns="18000" bIns="0" anchor="ctr"/>
          <a:lstStyle/>
          <a:p>
            <a:pPr algn="l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/>
              </a:rPr>
              <a:t>Q0 (1초)</a:t>
            </a:r>
          </a:p>
        </p:txBody>
      </p:sp>
      <p:sp>
        <p:nvSpPr>
          <p:cNvPr id="322" name="MQ1"/>
          <p:cNvSpPr/>
          <p:nvPr/>
        </p:nvSpPr>
        <p:spPr>
          <a:xfrm>
            <a:off x="228600" y="2508250"/>
            <a:ext cx="3749040" cy="279400"/>
          </a:xfrm>
          <a:prstGeom prst="roundRect">
            <a:avLst>
              <a:gd name="adj" fmla="val 20000"/>
            </a:avLst>
          </a:prstGeom>
          <a:solidFill>
            <a:srgbClr val="34618E"/>
          </a:solidFill>
          <a:ln>
            <a:noFill/>
          </a:ln>
        </p:spPr>
        <p:txBody>
          <a:bodyPr wrap="square" lIns="36000" tIns="0" rIns="18000" bIns="0" anchor="ctr"/>
          <a:lstStyle/>
          <a:p>
            <a:pPr algn="l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/>
              </a:rPr>
              <a:t>Q1 (3초)</a:t>
            </a:r>
          </a:p>
        </p:txBody>
      </p:sp>
      <p:sp>
        <p:nvSpPr>
          <p:cNvPr id="323" name="MQ2"/>
          <p:cNvSpPr/>
          <p:nvPr/>
        </p:nvSpPr>
        <p:spPr>
          <a:xfrm>
            <a:off x="228600" y="2825750"/>
            <a:ext cx="2811780" cy="279400"/>
          </a:xfrm>
          <a:prstGeom prst="roundRect">
            <a:avLst>
              <a:gd name="adj" fmla="val 20000"/>
            </a:avLst>
          </a:prstGeom>
          <a:solidFill>
            <a:srgbClr val="5A8AB5"/>
          </a:solidFill>
          <a:ln>
            <a:noFill/>
          </a:ln>
        </p:spPr>
        <p:txBody>
          <a:bodyPr wrap="square" lIns="36000" tIns="0" rIns="18000" bIns="0" anchor="ctr"/>
          <a:lstStyle/>
          <a:p>
            <a:pPr algn="l">
              <a:buNone/>
            </a:pPr>
            <a:r>
              <a:rPr lang="en-US" sz="800" b="1" dirty="0">
                <a:solidFill>
                  <a:srgbClr val="0D1F33"/>
                </a:solidFill>
                <a:latin typeface="맑은 고딕"/>
              </a:rPr>
              <a:t>Q2 (8초)</a:t>
            </a:r>
          </a:p>
        </p:txBody>
      </p:sp>
      <p:sp>
        <p:nvSpPr>
          <p:cNvPr id="324" name="MQ3"/>
          <p:cNvSpPr/>
          <p:nvPr/>
        </p:nvSpPr>
        <p:spPr>
          <a:xfrm>
            <a:off x="228600" y="3143250"/>
            <a:ext cx="1874520" cy="279400"/>
          </a:xfrm>
          <a:prstGeom prst="roundRect">
            <a:avLst>
              <a:gd name="adj" fmla="val 20000"/>
            </a:avLst>
          </a:prstGeom>
          <a:solidFill>
            <a:srgbClr val="8FB3D4"/>
          </a:solidFill>
          <a:ln>
            <a:noFill/>
          </a:ln>
        </p:spPr>
        <p:txBody>
          <a:bodyPr wrap="square" lIns="36000" tIns="0" rIns="18000" bIns="0" anchor="ctr"/>
          <a:lstStyle/>
          <a:p>
            <a:pPr algn="l">
              <a:buNone/>
            </a:pPr>
            <a:r>
              <a:rPr lang="en-US" sz="800" b="1" dirty="0">
                <a:solidFill>
                  <a:srgbClr val="0D1F33"/>
                </a:solidFill>
                <a:latin typeface="맑은 고딕"/>
              </a:rPr>
              <a:t>Q3 (무제한)</a:t>
            </a:r>
          </a:p>
        </p:txBody>
      </p:sp>
      <p:sp>
        <p:nvSpPr>
          <p:cNvPr id="325" name="MD"/>
          <p:cNvSpPr/>
          <p:nvPr/>
        </p:nvSpPr>
        <p:spPr>
          <a:xfrm>
            <a:off x="5041900" y="2254250"/>
            <a:ext cx="127000" cy="1104900"/>
          </a:xfrm>
          <a:prstGeom prst="downArrow">
            <a:avLst>
              <a:gd name="adj1" fmla="val 50000"/>
              <a:gd name="adj2" fmla="val 15000"/>
            </a:avLst>
          </a:prstGeom>
          <a:solidFill>
            <a:srgbClr val="C0392B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26" name="MDL"/>
          <p:cNvSpPr/>
          <p:nvPr/>
        </p:nvSpPr>
        <p:spPr>
          <a:xfrm>
            <a:off x="5219700" y="2317750"/>
            <a:ext cx="635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ko-KR" sz="800" dirty="0">
                <a:solidFill>
                  <a:srgbClr val="C0392B"/>
                </a:solidFill>
                <a:latin typeface="맑은 고딕"/>
                <a:ea typeface="맑은 고딕"/>
              </a:rPr>
              <a:t>강등 ↓</a:t>
            </a:r>
          </a:p>
        </p:txBody>
      </p:sp>
      <p:sp>
        <p:nvSpPr>
          <p:cNvPr id="327" name="MU"/>
          <p:cNvSpPr/>
          <p:nvPr/>
        </p:nvSpPr>
        <p:spPr>
          <a:xfrm>
            <a:off x="5499100" y="2254250"/>
            <a:ext cx="127000" cy="1104900"/>
          </a:xfrm>
          <a:prstGeom prst="upArrow">
            <a:avLst>
              <a:gd name="adj1" fmla="val 50000"/>
              <a:gd name="adj2" fmla="val 15000"/>
            </a:avLst>
          </a:prstGeom>
          <a:solidFill>
            <a:srgbClr val="2B579A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28" name="MUL"/>
          <p:cNvSpPr/>
          <p:nvPr/>
        </p:nvSpPr>
        <p:spPr>
          <a:xfrm>
            <a:off x="5676900" y="2317750"/>
            <a:ext cx="508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800" b="1" dirty="0">
                <a:solidFill>
                  <a:srgbClr val="2B579A"/>
                </a:solidFill>
                <a:latin typeface="맑은 고딕"/>
              </a:rPr>
              <a:t>Boost ↑</a:t>
            </a:r>
          </a:p>
        </p:txBody>
      </p:sp>
      <p:sp>
        <p:nvSpPr>
          <p:cNvPr id="329" name="Q3"/>
          <p:cNvSpPr/>
          <p:nvPr/>
        </p:nvSpPr>
        <p:spPr>
          <a:xfrm>
            <a:off x="6159500" y="1854200"/>
            <a:ext cx="5905500" cy="1651000"/>
          </a:xfrm>
          <a:prstGeom prst="rect">
            <a:avLst/>
          </a:prstGeom>
          <a:solidFill>
            <a:srgbClr val="E8F5E9"/>
          </a:solidFill>
          <a:ln w="9525">
            <a:solidFill>
              <a:srgbClr val="1B5E3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30" name="QT3"/>
          <p:cNvSpPr/>
          <p:nvPr/>
        </p:nvSpPr>
        <p:spPr>
          <a:xfrm>
            <a:off x="6235700" y="1892300"/>
            <a:ext cx="57531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ko-KR" sz="1000" b="1" dirty="0">
                <a:solidFill>
                  <a:srgbClr val="1B5E37"/>
                </a:solidFill>
                <a:latin typeface="맑은 고딕"/>
                <a:ea typeface="맑은 고딕"/>
              </a:rPr>
              <a:t>(d) WFQ</a:t>
            </a:r>
            <a:r>
              <a:rPr lang="ko-KR" sz="800" i="1" dirty="0">
                <a:solidFill>
                  <a:srgbClr val="555555"/>
                </a:solidFill>
                <a:latin typeface="맑은 고딕"/>
                <a:ea typeface="맑은 고딕"/>
              </a:rPr>
              <a:t>  가중치에 비례하여 자원 배분</a:t>
            </a:r>
          </a:p>
        </p:txBody>
      </p:sp>
      <p:sp>
        <p:nvSpPr>
          <p:cNvPr id="331" name="WL0"/>
          <p:cNvSpPr/>
          <p:nvPr/>
        </p:nvSpPr>
        <p:spPr>
          <a:xfrm>
            <a:off x="6261100" y="2171700"/>
            <a:ext cx="101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800" b="1" dirty="0">
                <a:solidFill>
                  <a:srgbClr val="333333"/>
                </a:solidFill>
                <a:latin typeface="맑은 고딕"/>
              </a:rPr>
              <a:t>Enterprise </a:t>
            </a:r>
            <a:r>
              <a:rPr lang="en-US" sz="700" dirty="0">
                <a:solidFill>
                  <a:srgbClr val="666666"/>
                </a:solidFill>
                <a:latin typeface="맑은 고딕"/>
              </a:rPr>
              <a:t>(w=100)</a:t>
            </a:r>
          </a:p>
        </p:txBody>
      </p:sp>
      <p:sp>
        <p:nvSpPr>
          <p:cNvPr id="332" name="WB0"/>
          <p:cNvSpPr/>
          <p:nvPr/>
        </p:nvSpPr>
        <p:spPr>
          <a:xfrm>
            <a:off x="7353300" y="2171700"/>
            <a:ext cx="4559300" cy="279400"/>
          </a:xfrm>
          <a:prstGeom prst="roundRect">
            <a:avLst>
              <a:gd name="adj" fmla="val 20000"/>
            </a:avLst>
          </a:prstGeom>
          <a:solidFill>
            <a:srgbClr val="1B5E3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33" name="WL1"/>
          <p:cNvSpPr/>
          <p:nvPr/>
        </p:nvSpPr>
        <p:spPr>
          <a:xfrm>
            <a:off x="6261100" y="2501900"/>
            <a:ext cx="101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800" b="1" dirty="0">
                <a:solidFill>
                  <a:srgbClr val="333333"/>
                </a:solidFill>
                <a:latin typeface="맑은 고딕"/>
              </a:rPr>
              <a:t>Premium </a:t>
            </a:r>
            <a:r>
              <a:rPr lang="en-US" sz="700" dirty="0">
                <a:solidFill>
                  <a:srgbClr val="666666"/>
                </a:solidFill>
                <a:latin typeface="맑은 고딕"/>
              </a:rPr>
              <a:t>(w=50)</a:t>
            </a:r>
          </a:p>
        </p:txBody>
      </p:sp>
      <p:sp>
        <p:nvSpPr>
          <p:cNvPr id="334" name="WB1"/>
          <p:cNvSpPr/>
          <p:nvPr/>
        </p:nvSpPr>
        <p:spPr>
          <a:xfrm>
            <a:off x="7353300" y="2501900"/>
            <a:ext cx="2279650" cy="279400"/>
          </a:xfrm>
          <a:prstGeom prst="roundRect">
            <a:avLst>
              <a:gd name="adj" fmla="val 20000"/>
            </a:avLst>
          </a:prstGeom>
          <a:solidFill>
            <a:srgbClr val="27AE6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35" name="WL2"/>
          <p:cNvSpPr/>
          <p:nvPr/>
        </p:nvSpPr>
        <p:spPr>
          <a:xfrm>
            <a:off x="6261100" y="2832100"/>
            <a:ext cx="101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800" b="1" dirty="0">
                <a:solidFill>
                  <a:srgbClr val="333333"/>
                </a:solidFill>
                <a:latin typeface="맑은 고딕"/>
              </a:rPr>
              <a:t>Standard </a:t>
            </a:r>
            <a:r>
              <a:rPr lang="en-US" sz="700" dirty="0">
                <a:solidFill>
                  <a:srgbClr val="666666"/>
                </a:solidFill>
                <a:latin typeface="맑은 고딕"/>
              </a:rPr>
              <a:t>(w=10)</a:t>
            </a:r>
          </a:p>
        </p:txBody>
      </p:sp>
      <p:sp>
        <p:nvSpPr>
          <p:cNvPr id="336" name="WB2"/>
          <p:cNvSpPr/>
          <p:nvPr/>
        </p:nvSpPr>
        <p:spPr>
          <a:xfrm>
            <a:off x="7353300" y="2832100"/>
            <a:ext cx="455930" cy="279400"/>
          </a:xfrm>
          <a:prstGeom prst="roundRect">
            <a:avLst>
              <a:gd name="adj" fmla="val 20000"/>
            </a:avLst>
          </a:prstGeom>
          <a:solidFill>
            <a:srgbClr val="82C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37" name="WL3"/>
          <p:cNvSpPr/>
          <p:nvPr/>
        </p:nvSpPr>
        <p:spPr>
          <a:xfrm>
            <a:off x="6261100" y="3162300"/>
            <a:ext cx="101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800" b="1" dirty="0">
                <a:solidFill>
                  <a:srgbClr val="333333"/>
                </a:solidFill>
                <a:latin typeface="맑은 고딕"/>
              </a:rPr>
              <a:t>Free </a:t>
            </a:r>
            <a:r>
              <a:rPr lang="en-US" sz="700" dirty="0">
                <a:solidFill>
                  <a:srgbClr val="666666"/>
                </a:solidFill>
                <a:latin typeface="맑은 고딕"/>
              </a:rPr>
              <a:t>(w=1)</a:t>
            </a:r>
          </a:p>
        </p:txBody>
      </p:sp>
      <p:sp>
        <p:nvSpPr>
          <p:cNvPr id="338" name="WB3"/>
          <p:cNvSpPr/>
          <p:nvPr/>
        </p:nvSpPr>
        <p:spPr>
          <a:xfrm>
            <a:off x="7353300" y="3162300"/>
            <a:ext cx="152400" cy="279400"/>
          </a:xfrm>
          <a:prstGeom prst="roundRect">
            <a:avLst>
              <a:gd name="adj" fmla="val 20000"/>
            </a:avLst>
          </a:prstGeom>
          <a:solidFill>
            <a:srgbClr val="B8E6C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40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SA"/>
          <p:cNvSpPr/>
          <p:nvPr/>
        </p:nvSpPr>
        <p:spPr>
          <a:xfrm>
            <a:off x="127000" y="101600"/>
            <a:ext cx="3911600" cy="2159000"/>
          </a:xfrm>
          <a:prstGeom prst="rect">
            <a:avLst/>
          </a:prstGeom>
          <a:solidFill>
            <a:srgbClr val="FAFAFA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01" name="AT"/>
          <p:cNvSpPr/>
          <p:nvPr/>
        </p:nvSpPr>
        <p:spPr>
          <a:xfrm>
            <a:off x="203200" y="139700"/>
            <a:ext cx="3759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ko-KR" sz="900" b="1" dirty="0">
                <a:solidFill>
                  <a:srgbClr val="333333"/>
                </a:solidFill>
                <a:latin typeface="맑은 고딕"/>
                <a:ea typeface="맑은 고딕"/>
              </a:rPr>
              <a:t>(a) 알고리즘별 평균 대기시간 (ms)</a:t>
            </a:r>
          </a:p>
        </p:txBody>
      </p:sp>
      <p:sp>
        <p:nvSpPr>
          <p:cNvPr id="402" name="AL0"/>
          <p:cNvSpPr/>
          <p:nvPr/>
        </p:nvSpPr>
        <p:spPr>
          <a:xfrm>
            <a:off x="177800" y="647700"/>
            <a:ext cx="6985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800" b="1" dirty="0">
                <a:solidFill>
                  <a:srgbClr val="333333"/>
                </a:solidFill>
                <a:latin typeface="맑은 고딕"/>
              </a:rPr>
              <a:t>FCFS</a:t>
            </a:r>
          </a:p>
        </p:txBody>
      </p:sp>
      <p:sp>
        <p:nvSpPr>
          <p:cNvPr id="403" name="AB0"/>
          <p:cNvSpPr/>
          <p:nvPr/>
        </p:nvSpPr>
        <p:spPr>
          <a:xfrm>
            <a:off x="927100" y="647700"/>
            <a:ext cx="2455879" cy="279400"/>
          </a:xfrm>
          <a:prstGeom prst="roundRect">
            <a:avLst>
              <a:gd name="adj" fmla="val 20000"/>
            </a:avLst>
          </a:prstGeom>
          <a:solidFill>
            <a:srgbClr val="5B8DB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4" name="AV0"/>
          <p:cNvSpPr/>
          <p:nvPr/>
        </p:nvSpPr>
        <p:spPr>
          <a:xfrm>
            <a:off x="3433779" y="647700"/>
            <a:ext cx="50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800" dirty="0">
                <a:solidFill>
                  <a:srgbClr val="555555"/>
                </a:solidFill>
                <a:latin typeface="맑은 고딕"/>
              </a:rPr>
              <a:t>2572</a:t>
            </a:r>
          </a:p>
        </p:txBody>
      </p:sp>
      <p:sp>
        <p:nvSpPr>
          <p:cNvPr id="405" name="AL1"/>
          <p:cNvSpPr/>
          <p:nvPr/>
        </p:nvSpPr>
        <p:spPr>
          <a:xfrm>
            <a:off x="177800" y="1003300"/>
            <a:ext cx="6985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800" b="1" dirty="0">
                <a:solidFill>
                  <a:srgbClr val="333333"/>
                </a:solidFill>
                <a:latin typeface="맑은 고딕"/>
              </a:rPr>
              <a:t>Priority</a:t>
            </a:r>
          </a:p>
        </p:txBody>
      </p:sp>
      <p:sp>
        <p:nvSpPr>
          <p:cNvPr id="406" name="AB1"/>
          <p:cNvSpPr/>
          <p:nvPr/>
        </p:nvSpPr>
        <p:spPr>
          <a:xfrm>
            <a:off x="927100" y="1003300"/>
            <a:ext cx="2556138" cy="279400"/>
          </a:xfrm>
          <a:prstGeom prst="roundRect">
            <a:avLst>
              <a:gd name="adj" fmla="val 20000"/>
            </a:avLst>
          </a:prstGeom>
          <a:solidFill>
            <a:srgbClr val="27AE6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7" name="AV1"/>
          <p:cNvSpPr/>
          <p:nvPr/>
        </p:nvSpPr>
        <p:spPr>
          <a:xfrm>
            <a:off x="3534038" y="1003300"/>
            <a:ext cx="50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800" dirty="0">
                <a:solidFill>
                  <a:srgbClr val="555555"/>
                </a:solidFill>
                <a:latin typeface="맑은 고딕"/>
              </a:rPr>
              <a:t>2677</a:t>
            </a:r>
          </a:p>
        </p:txBody>
      </p:sp>
      <p:sp>
        <p:nvSpPr>
          <p:cNvPr id="408" name="AL2"/>
          <p:cNvSpPr/>
          <p:nvPr/>
        </p:nvSpPr>
        <p:spPr>
          <a:xfrm>
            <a:off x="177800" y="1358900"/>
            <a:ext cx="6985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800" b="1" dirty="0">
                <a:solidFill>
                  <a:srgbClr val="333333"/>
                </a:solidFill>
                <a:latin typeface="맑은 고딕"/>
              </a:rPr>
              <a:t>MLFQ</a:t>
            </a:r>
          </a:p>
        </p:txBody>
      </p:sp>
      <p:sp>
        <p:nvSpPr>
          <p:cNvPr id="409" name="AB2"/>
          <p:cNvSpPr/>
          <p:nvPr/>
        </p:nvSpPr>
        <p:spPr>
          <a:xfrm>
            <a:off x="927100" y="1358900"/>
            <a:ext cx="2455879" cy="279400"/>
          </a:xfrm>
          <a:prstGeom prst="roundRect">
            <a:avLst>
              <a:gd name="adj" fmla="val 20000"/>
            </a:avLst>
          </a:prstGeom>
          <a:solidFill>
            <a:srgbClr val="82C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0" name="AV2"/>
          <p:cNvSpPr/>
          <p:nvPr/>
        </p:nvSpPr>
        <p:spPr>
          <a:xfrm>
            <a:off x="3433779" y="1358900"/>
            <a:ext cx="50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800" dirty="0">
                <a:solidFill>
                  <a:srgbClr val="555555"/>
                </a:solidFill>
                <a:latin typeface="맑은 고딕"/>
              </a:rPr>
              <a:t>2572</a:t>
            </a:r>
          </a:p>
        </p:txBody>
      </p:sp>
      <p:sp>
        <p:nvSpPr>
          <p:cNvPr id="411" name="AL3"/>
          <p:cNvSpPr/>
          <p:nvPr/>
        </p:nvSpPr>
        <p:spPr>
          <a:xfrm>
            <a:off x="177800" y="1714500"/>
            <a:ext cx="6985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800" b="1" dirty="0">
                <a:solidFill>
                  <a:srgbClr val="333333"/>
                </a:solidFill>
                <a:latin typeface="맑은 고딕"/>
              </a:rPr>
              <a:t>WFQ</a:t>
            </a:r>
          </a:p>
        </p:txBody>
      </p:sp>
      <p:sp>
        <p:nvSpPr>
          <p:cNvPr id="412" name="AB3"/>
          <p:cNvSpPr/>
          <p:nvPr/>
        </p:nvSpPr>
        <p:spPr>
          <a:xfrm>
            <a:off x="927100" y="1714500"/>
            <a:ext cx="2364213" cy="279400"/>
          </a:xfrm>
          <a:prstGeom prst="roundRect">
            <a:avLst>
              <a:gd name="adj" fmla="val 20000"/>
            </a:avLst>
          </a:prstGeom>
          <a:solidFill>
            <a:srgbClr val="2B579A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13" name="AV3"/>
          <p:cNvSpPr/>
          <p:nvPr/>
        </p:nvSpPr>
        <p:spPr>
          <a:xfrm>
            <a:off x="3342113" y="1714500"/>
            <a:ext cx="50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800" dirty="0">
                <a:solidFill>
                  <a:srgbClr val="555555"/>
                </a:solidFill>
                <a:latin typeface="맑은 고딕"/>
              </a:rPr>
              <a:t>2476</a:t>
            </a:r>
          </a:p>
        </p:txBody>
      </p:sp>
      <p:sp>
        <p:nvSpPr>
          <p:cNvPr id="414" name="SB"/>
          <p:cNvSpPr/>
          <p:nvPr/>
        </p:nvSpPr>
        <p:spPr>
          <a:xfrm>
            <a:off x="4140200" y="101600"/>
            <a:ext cx="3911600" cy="2159000"/>
          </a:xfrm>
          <a:prstGeom prst="rect">
            <a:avLst/>
          </a:prstGeom>
          <a:solidFill>
            <a:srgbClr val="FAFAFA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15" name="BT"/>
          <p:cNvSpPr/>
          <p:nvPr/>
        </p:nvSpPr>
        <p:spPr>
          <a:xfrm>
            <a:off x="4216400" y="139700"/>
            <a:ext cx="3759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ko-KR" sz="900" b="1" dirty="0">
                <a:solidFill>
                  <a:srgbClr val="333333"/>
                </a:solidFill>
                <a:latin typeface="맑은 고딕"/>
                <a:ea typeface="맑은 고딕"/>
              </a:rPr>
              <a:t>(b) WFQ 등급별 대기시간 (ms)</a:t>
            </a:r>
          </a:p>
        </p:txBody>
      </p:sp>
      <p:sp>
        <p:nvSpPr>
          <p:cNvPr id="416" name="BL0"/>
          <p:cNvSpPr/>
          <p:nvPr/>
        </p:nvSpPr>
        <p:spPr>
          <a:xfrm>
            <a:off x="4191000" y="647700"/>
            <a:ext cx="8255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800" b="1" dirty="0">
                <a:solidFill>
                  <a:srgbClr val="333333"/>
                </a:solidFill>
                <a:latin typeface="맑은 고딕"/>
              </a:rPr>
              <a:t>Enterprise</a:t>
            </a:r>
          </a:p>
        </p:txBody>
      </p:sp>
      <p:sp>
        <p:nvSpPr>
          <p:cNvPr id="417" name="BB0"/>
          <p:cNvSpPr/>
          <p:nvPr/>
        </p:nvSpPr>
        <p:spPr>
          <a:xfrm>
            <a:off x="5067300" y="647700"/>
            <a:ext cx="234514" cy="279400"/>
          </a:xfrm>
          <a:prstGeom prst="roundRect">
            <a:avLst>
              <a:gd name="adj" fmla="val 20000"/>
            </a:avLst>
          </a:prstGeom>
          <a:solidFill>
            <a:srgbClr val="1B5E37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18" name="BV0"/>
          <p:cNvSpPr/>
          <p:nvPr/>
        </p:nvSpPr>
        <p:spPr>
          <a:xfrm>
            <a:off x="5352614" y="647700"/>
            <a:ext cx="50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800" dirty="0">
                <a:solidFill>
                  <a:srgbClr val="555555"/>
                </a:solidFill>
                <a:latin typeface="맑은 고딕"/>
              </a:rPr>
              <a:t>429</a:t>
            </a:r>
          </a:p>
        </p:txBody>
      </p:sp>
      <p:sp>
        <p:nvSpPr>
          <p:cNvPr id="419" name="BL1"/>
          <p:cNvSpPr/>
          <p:nvPr/>
        </p:nvSpPr>
        <p:spPr>
          <a:xfrm>
            <a:off x="4191000" y="1003300"/>
            <a:ext cx="8255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800" b="1" dirty="0">
                <a:solidFill>
                  <a:srgbClr val="333333"/>
                </a:solidFill>
                <a:latin typeface="맑은 고딕"/>
              </a:rPr>
              <a:t>Premium</a:t>
            </a:r>
          </a:p>
        </p:txBody>
      </p:sp>
      <p:sp>
        <p:nvSpPr>
          <p:cNvPr id="420" name="BB1"/>
          <p:cNvSpPr/>
          <p:nvPr/>
        </p:nvSpPr>
        <p:spPr>
          <a:xfrm>
            <a:off x="5067300" y="1003300"/>
            <a:ext cx="993267" cy="279400"/>
          </a:xfrm>
          <a:prstGeom prst="roundRect">
            <a:avLst>
              <a:gd name="adj" fmla="val 20000"/>
            </a:avLst>
          </a:prstGeom>
          <a:solidFill>
            <a:srgbClr val="27AE6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1" name="BV1"/>
          <p:cNvSpPr/>
          <p:nvPr/>
        </p:nvSpPr>
        <p:spPr>
          <a:xfrm>
            <a:off x="6111367" y="1003300"/>
            <a:ext cx="50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800" dirty="0">
                <a:solidFill>
                  <a:srgbClr val="555555"/>
                </a:solidFill>
                <a:latin typeface="맑은 고딕"/>
              </a:rPr>
              <a:t>1817</a:t>
            </a:r>
          </a:p>
        </p:txBody>
      </p:sp>
      <p:sp>
        <p:nvSpPr>
          <p:cNvPr id="422" name="BL2"/>
          <p:cNvSpPr/>
          <p:nvPr/>
        </p:nvSpPr>
        <p:spPr>
          <a:xfrm>
            <a:off x="4191000" y="1358900"/>
            <a:ext cx="8255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800" b="1" dirty="0">
                <a:solidFill>
                  <a:srgbClr val="333333"/>
                </a:solidFill>
                <a:latin typeface="맑은 고딕"/>
              </a:rPr>
              <a:t>Standard</a:t>
            </a:r>
          </a:p>
        </p:txBody>
      </p:sp>
      <p:sp>
        <p:nvSpPr>
          <p:cNvPr id="423" name="BB2"/>
          <p:cNvSpPr/>
          <p:nvPr/>
        </p:nvSpPr>
        <p:spPr>
          <a:xfrm>
            <a:off x="5067300" y="1358900"/>
            <a:ext cx="1703368" cy="279400"/>
          </a:xfrm>
          <a:prstGeom prst="roundRect">
            <a:avLst>
              <a:gd name="adj" fmla="val 20000"/>
            </a:avLst>
          </a:prstGeom>
          <a:solidFill>
            <a:srgbClr val="82C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4" name="BV2"/>
          <p:cNvSpPr/>
          <p:nvPr/>
        </p:nvSpPr>
        <p:spPr>
          <a:xfrm>
            <a:off x="6821468" y="1358900"/>
            <a:ext cx="50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800" dirty="0">
                <a:solidFill>
                  <a:srgbClr val="555555"/>
                </a:solidFill>
                <a:latin typeface="맑은 고딕"/>
              </a:rPr>
              <a:t>3116</a:t>
            </a:r>
          </a:p>
        </p:txBody>
      </p:sp>
      <p:sp>
        <p:nvSpPr>
          <p:cNvPr id="425" name="BL3"/>
          <p:cNvSpPr/>
          <p:nvPr/>
        </p:nvSpPr>
        <p:spPr>
          <a:xfrm>
            <a:off x="4191000" y="1714500"/>
            <a:ext cx="8255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800" b="1" dirty="0">
                <a:solidFill>
                  <a:srgbClr val="333333"/>
                </a:solidFill>
                <a:latin typeface="맑은 고딕"/>
              </a:rPr>
              <a:t>Free</a:t>
            </a:r>
          </a:p>
        </p:txBody>
      </p:sp>
      <p:sp>
        <p:nvSpPr>
          <p:cNvPr id="426" name="BB3"/>
          <p:cNvSpPr/>
          <p:nvPr/>
        </p:nvSpPr>
        <p:spPr>
          <a:xfrm>
            <a:off x="5067300" y="1714500"/>
            <a:ext cx="2483441" cy="279400"/>
          </a:xfrm>
          <a:prstGeom prst="roundRect">
            <a:avLst>
              <a:gd name="adj" fmla="val 20000"/>
            </a:avLst>
          </a:prstGeom>
          <a:solidFill>
            <a:srgbClr val="B8E6C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7" name="BV3"/>
          <p:cNvSpPr/>
          <p:nvPr/>
        </p:nvSpPr>
        <p:spPr>
          <a:xfrm>
            <a:off x="7601541" y="1714500"/>
            <a:ext cx="50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800" dirty="0">
                <a:solidFill>
                  <a:srgbClr val="555555"/>
                </a:solidFill>
                <a:latin typeface="맑은 고딕"/>
              </a:rPr>
              <a:t>4543</a:t>
            </a:r>
          </a:p>
        </p:txBody>
      </p:sp>
      <p:sp>
        <p:nvSpPr>
          <p:cNvPr id="428" name="SC"/>
          <p:cNvSpPr/>
          <p:nvPr/>
        </p:nvSpPr>
        <p:spPr>
          <a:xfrm>
            <a:off x="8153400" y="101600"/>
            <a:ext cx="3911600" cy="2159000"/>
          </a:xfrm>
          <a:prstGeom prst="rect">
            <a:avLst/>
          </a:prstGeom>
          <a:solidFill>
            <a:srgbClr val="FAFAFA"/>
          </a:solidFill>
          <a:ln w="9525">
            <a:solidFill>
              <a:srgbClr val="CCCC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29" name="CT"/>
          <p:cNvSpPr/>
          <p:nvPr/>
        </p:nvSpPr>
        <p:spPr>
          <a:xfrm>
            <a:off x="8229600" y="139700"/>
            <a:ext cx="3759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ko-KR" sz="900" b="1" dirty="0">
                <a:solidFill>
                  <a:srgbClr val="333333"/>
                </a:solidFill>
                <a:latin typeface="맑은 고딕"/>
                <a:ea typeface="맑은 고딕"/>
              </a:rPr>
              <a:t>(c) MLFQ 선점형 효과 (ms)</a:t>
            </a:r>
          </a:p>
        </p:txBody>
      </p:sp>
      <p:sp>
        <p:nvSpPr>
          <p:cNvPr id="430" name="CB0"/>
          <p:cNvSpPr/>
          <p:nvPr/>
        </p:nvSpPr>
        <p:spPr>
          <a:xfrm>
            <a:off x="9093200" y="578031"/>
            <a:ext cx="762000" cy="1428569"/>
          </a:xfrm>
          <a:prstGeom prst="roundRect">
            <a:avLst>
              <a:gd name="adj" fmla="val 5000"/>
            </a:avLst>
          </a:prstGeom>
          <a:solidFill>
            <a:srgbClr val="5B8DB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31" name="CV0"/>
          <p:cNvSpPr/>
          <p:nvPr/>
        </p:nvSpPr>
        <p:spPr>
          <a:xfrm>
            <a:off x="9093200" y="400231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ctr">
              <a:buNone/>
            </a:pPr>
            <a:r>
              <a:rPr lang="en-US" sz="900" b="1" dirty="0">
                <a:solidFill>
                  <a:srgbClr val="5B8DB8"/>
                </a:solidFill>
                <a:latin typeface="맑은 고딕"/>
              </a:rPr>
              <a:t>635</a:t>
            </a:r>
          </a:p>
        </p:txBody>
      </p:sp>
      <p:sp>
        <p:nvSpPr>
          <p:cNvPr id="432" name="CL0"/>
          <p:cNvSpPr/>
          <p:nvPr/>
        </p:nvSpPr>
        <p:spPr>
          <a:xfrm>
            <a:off x="9093200" y="20320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800" b="1" dirty="0">
                <a:solidFill>
                  <a:srgbClr val="333333"/>
                </a:solidFill>
                <a:latin typeface="맑은 고딕"/>
              </a:rPr>
              <a:t>FCFS</a:t>
            </a:r>
          </a:p>
        </p:txBody>
      </p:sp>
      <p:sp>
        <p:nvSpPr>
          <p:cNvPr id="433" name="CB1"/>
          <p:cNvSpPr/>
          <p:nvPr/>
        </p:nvSpPr>
        <p:spPr>
          <a:xfrm>
            <a:off x="10363200" y="1624149"/>
            <a:ext cx="762000" cy="382451"/>
          </a:xfrm>
          <a:prstGeom prst="roundRect">
            <a:avLst>
              <a:gd name="adj" fmla="val 5000"/>
            </a:avLst>
          </a:prstGeom>
          <a:solidFill>
            <a:srgbClr val="2B579A"/>
          </a:solidFill>
          <a:ln>
            <a:noFill/>
          </a:ln>
        </p:spPr>
        <p:txBody>
          <a:bodyPr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34" name="CV1"/>
          <p:cNvSpPr/>
          <p:nvPr/>
        </p:nvSpPr>
        <p:spPr>
          <a:xfrm>
            <a:off x="10363200" y="1446349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ctr">
              <a:buNone/>
            </a:pPr>
            <a:r>
              <a:rPr lang="en-US" sz="900" b="1" dirty="0">
                <a:solidFill>
                  <a:srgbClr val="2B579A"/>
                </a:solidFill>
                <a:latin typeface="맑은 고딕"/>
              </a:rPr>
              <a:t>170</a:t>
            </a:r>
          </a:p>
        </p:txBody>
      </p:sp>
      <p:sp>
        <p:nvSpPr>
          <p:cNvPr id="435" name="CL1"/>
          <p:cNvSpPr/>
          <p:nvPr/>
        </p:nvSpPr>
        <p:spPr>
          <a:xfrm>
            <a:off x="10363200" y="20320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800" b="1" dirty="0">
                <a:solidFill>
                  <a:srgbClr val="333333"/>
                </a:solidFill>
                <a:latin typeface="맑은 고딕"/>
              </a:rPr>
              <a:t>MLFQ</a:t>
            </a:r>
          </a:p>
        </p:txBody>
      </p:sp>
      <p:sp>
        <p:nvSpPr>
          <p:cNvPr id="436" name="CAnn"/>
          <p:cNvSpPr/>
          <p:nvPr/>
        </p:nvSpPr>
        <p:spPr>
          <a:xfrm>
            <a:off x="9931400" y="685800"/>
            <a:ext cx="355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ko-KR" sz="800" b="1" dirty="0">
                <a:solidFill>
                  <a:srgbClr val="C0392B"/>
                </a:solidFill>
                <a:latin typeface="맑은 고딕"/>
                <a:ea typeface="맑은 고딕"/>
              </a:rPr>
              <a:t>약 73%↓</a:t>
            </a:r>
          </a:p>
        </p:txBody>
      </p:sp>
      <p:sp>
        <p:nvSpPr>
          <p:cNvPr id="437" name="Sum"/>
          <p:cNvSpPr/>
          <p:nvPr/>
        </p:nvSpPr>
        <p:spPr>
          <a:xfrm>
            <a:off x="127000" y="2336800"/>
            <a:ext cx="11938000" cy="736600"/>
          </a:xfrm>
          <a:prstGeom prst="rect">
            <a:avLst/>
          </a:prstGeom>
          <a:solidFill>
            <a:srgbClr val="F5F5F5"/>
          </a:solidFill>
          <a:ln w="9525">
            <a:solidFill>
              <a:srgbClr val="AAAAAA"/>
            </a:solidFill>
          </a:ln>
        </p:spPr>
        <p:txBody>
          <a:bodyPr wrap="square" lIns="54000" tIns="27000" rIns="54000" bIns="27000" anchor="ctr"/>
          <a:lstStyle/>
          <a:p>
            <a:pPr algn="l">
              <a:buNone/>
            </a:pPr>
            <a:r>
              <a:rPr lang="ko-KR" sz="900" b="1" dirty="0">
                <a:solidFill>
                  <a:srgbClr val="1A1A1A"/>
                </a:solidFill>
                <a:latin typeface="맑은 고딕"/>
                <a:ea typeface="맑은 고딕"/>
              </a:rPr>
              <a:t>주요 결과 요약</a:t>
            </a:r>
          </a:p>
          <a:p>
            <a:pPr marL="114300" indent="-114300" algn="l">
              <a:buFont typeface="Arial"/>
              <a:buChar char="•"/>
            </a:pPr>
            <a:r>
              <a:rPr lang="ko-KR" sz="800" dirty="0">
                <a:solidFill>
                  <a:srgbClr val="333333"/>
                </a:solidFill>
                <a:latin typeface="맑은 고딕"/>
                <a:ea typeface="맑은 고딕"/>
              </a:rPr>
              <a:t>Priority 스케줄러: URGENT 등급 요청 평균 ~42ms 처리 (일반 대비 극적 감소)</a:t>
            </a:r>
          </a:p>
          <a:p>
            <a:pPr marL="114300" indent="-114300" algn="l">
              <a:buFont typeface="Arial"/>
              <a:buChar char="•"/>
            </a:pPr>
            <a:r>
              <a:rPr lang="ko-KR" sz="800" dirty="0">
                <a:solidFill>
                  <a:srgbClr val="333333"/>
                </a:solidFill>
                <a:latin typeface="맑은 고딕"/>
                <a:ea typeface="맑은 고딕"/>
              </a:rPr>
              <a:t>WFQ: Enterprise vs Free 대기시간 약 10배 차이 (JFI = 0.32, 의도된 차등)</a:t>
            </a:r>
          </a:p>
          <a:p>
            <a:pPr marL="114300" indent="-114300" algn="l">
              <a:buFont typeface="Arial"/>
              <a:buChar char="•"/>
            </a:pPr>
            <a:r>
              <a:rPr lang="ko-KR" sz="800" dirty="0">
                <a:solidFill>
                  <a:srgbClr val="333333"/>
                </a:solidFill>
                <a:latin typeface="맑은 고딕"/>
                <a:ea typeface="맑은 고딕"/>
              </a:rPr>
              <a:t>MLFQ 선점형: 짧은 요청 대기시간 약 73% 감소 (635ms → 170ms)</a:t>
            </a:r>
          </a:p>
        </p:txBody>
      </p:sp>
    </p:spTree>
    <p:extLst>
      <p:ext uri="{BB962C8B-B14F-4D97-AF65-F5344CB8AC3E}">
        <p14:creationId xmlns:p14="http://schemas.microsoft.com/office/powerpoint/2010/main" val="891151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6719A4B-42BC-D94E-8E5C-F20E9BE852A5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5cc4d596-4529-4599-a8cf-c7f2980bef3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296</Words>
  <Application>Microsoft Macintosh PowerPoint</Application>
  <PresentationFormat>와이드스크린</PresentationFormat>
  <Paragraphs>97</Paragraphs>
  <Slides>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중간보고서 그림</dc:title>
  <dc:subject>PptxGenJS Presentation</dc:subject>
  <dc:creator>서민지 (C235180)</dc:creator>
  <cp:lastModifiedBy>서진석</cp:lastModifiedBy>
  <cp:revision>2</cp:revision>
  <dcterms:created xsi:type="dcterms:W3CDTF">2026-04-09T06:52:37Z</dcterms:created>
  <dcterms:modified xsi:type="dcterms:W3CDTF">2026-04-09T07:24:29Z</dcterms:modified>
</cp:coreProperties>
</file>