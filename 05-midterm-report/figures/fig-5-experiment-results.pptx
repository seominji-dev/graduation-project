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평균 대기시간 (ms)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FCFS</c:v>
                  </c:pt>
                  <c:pt idx="1">
                    <c:v>Priority</c:v>
                  </c:pt>
                  <c:pt idx="2">
                    <c:v>MLFQ</c:v>
                  </c:pt>
                  <c:pt idx="3">
                    <c:v>WFQ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2572</c:v>
                </c:pt>
                <c:pt idx="1">
                  <c:v>2677</c:v>
                </c:pt>
                <c:pt idx="2">
                  <c:v>2572</c:v>
                </c:pt>
                <c:pt idx="3">
                  <c:v>2476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EEEEE"/>
              </a:solidFill>
              <a:prstDash val="dash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대기시간 (ms)</c:v>
                </c:pt>
              </c:strCache>
            </c:strRef>
          </c:tx>
          <c:spPr>
            <a:solidFill>
              <a:srgbClr val="05966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Enterprise
(w=100)</c:v>
                  </c:pt>
                  <c:pt idx="1">
                    <c:v>Premium
(w=50)</c:v>
                  </c:pt>
                  <c:pt idx="2">
                    <c:v>Standard
(w=10)</c:v>
                  </c:pt>
                  <c:pt idx="3">
                    <c:v>Free
(w=1)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429</c:v>
                </c:pt>
                <c:pt idx="1">
                  <c:v>1817</c:v>
                </c:pt>
                <c:pt idx="2">
                  <c:v>3116</c:v>
                </c:pt>
                <c:pt idx="3">
                  <c:v>4543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EEEEE"/>
              </a:solidFill>
              <a:prstDash val="dash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FCFS</c:v>
                </c:pt>
              </c:strCache>
            </c:strRef>
          </c:tx>
          <c:spPr>
            <a:solidFill>
              <a:srgbClr val="B0BEC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짧은 요청 평균 대기시간</c:v>
                  </c:pt>
                </c:lvl>
              </c:multiLvlStrCache>
            </c:multiLvl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635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MLFQ (선점형)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짧은 요청 평균 대기시간</c:v>
                  </c:pt>
                </c:lvl>
              </c:multiLvlStrCache>
            </c:multiLvl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170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EEEEE"/>
              </a:solidFill>
              <a:prstDash val="dash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chart" Target="/ppt/charts/chart3.xm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5. 중간 실험 결과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274320" y="731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(a) 알고리즘별 평균 대기시간 (100건 실험)</a:t>
            </a:r>
            <a:endParaRPr lang="en-US" sz="11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1005840"/>
          <a:ext cx="411480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22960" y="1500759"/>
            <a:ext cx="3200400" cy="13716"/>
          </a:xfrm>
          <a:prstGeom prst="rect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926080" y="1299591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avg: 2,574ms</a:t>
            </a:r>
            <a:endParaRPr lang="en-US" sz="700" dirty="0"/>
          </a:p>
        </p:txBody>
      </p:sp>
      <p:sp>
        <p:nvSpPr>
          <p:cNvPr id="7" name="Text 4"/>
          <p:cNvSpPr/>
          <p:nvPr/>
        </p:nvSpPr>
        <p:spPr>
          <a:xfrm>
            <a:off x="4846320" y="7315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(b) WFQ 등급별 대기시간</a:t>
            </a:r>
            <a:endParaRPr lang="en-US" sz="1100" dirty="0"/>
          </a:p>
        </p:txBody>
      </p:sp>
      <p:graphicFrame>
        <p:nvGraphicFramePr>
          <p:cNvPr id="8" name="Chart 1" descr=""/>
          <p:cNvGraphicFramePr/>
          <p:nvPr/>
        </p:nvGraphicFramePr>
        <p:xfrm>
          <a:off x="4846320" y="1005840"/>
          <a:ext cx="384048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 5"/>
          <p:cNvSpPr/>
          <p:nvPr/>
        </p:nvSpPr>
        <p:spPr>
          <a:xfrm>
            <a:off x="274320" y="3474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(c) MLFQ 선점형 효과 — 짧은 요청 대기시간 (5회 반복)</a:t>
            </a:r>
            <a:endParaRPr lang="en-US" sz="1100" dirty="0"/>
          </a:p>
        </p:txBody>
      </p:sp>
      <p:graphicFrame>
        <p:nvGraphicFramePr>
          <p:cNvPr id="10" name="Chart 2" descr=""/>
          <p:cNvGraphicFramePr/>
          <p:nvPr/>
        </p:nvGraphicFramePr>
        <p:xfrm>
          <a:off x="274320" y="3749040"/>
          <a:ext cx="4114800" cy="1371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Text 6"/>
          <p:cNvSpPr/>
          <p:nvPr/>
        </p:nvSpPr>
        <p:spPr>
          <a:xfrm>
            <a:off x="1371600" y="39319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 73% 감소</a:t>
            </a:r>
            <a:endParaRPr lang="en-US" sz="1100" dirty="0"/>
          </a:p>
        </p:txBody>
      </p:sp>
      <p:sp>
        <p:nvSpPr>
          <p:cNvPr id="12" name="Shape 7"/>
          <p:cNvSpPr/>
          <p:nvPr/>
        </p:nvSpPr>
        <p:spPr>
          <a:xfrm>
            <a:off x="4846320" y="3749040"/>
            <a:ext cx="3840480" cy="137160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5029200" y="3794760"/>
            <a:ext cx="3474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결과 요약
</a:t>
            </a:r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
</a:t>
            </a:r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Priority: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URGENT 약 42ms (거의 즉시)
</a:t>
            </a:r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WFQ: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Enterprise vs Free 약 10배 차이
</a:t>
            </a:r>
            <a:pPr indent="0" marL="0">
              <a:buNone/>
            </a:pPr>
            <a:r>
              <a:rPr lang="en-US" sz="900" i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     JFI = 0.32
</a:t>
            </a:r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MLFQ: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짧은 요청 약 73% 개선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fig-5-experiment-results</dc:title>
  <dc:subject>PptxGenJS Presentation</dc:subject>
  <dc:creator>서민지 (C235180)</dc:creator>
  <cp:lastModifiedBy>서민지 (C235180)</cp:lastModifiedBy>
  <cp:revision>1</cp:revision>
  <dcterms:created xsi:type="dcterms:W3CDTF">2026-04-07T00:11:51Z</dcterms:created>
  <dcterms:modified xsi:type="dcterms:W3CDTF">2026-04-07T00:11:51Z</dcterms:modified>
</cp:coreProperties>
</file>