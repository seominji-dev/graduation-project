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Wait (ms)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FCFS</c:v>
                  </c:pt>
                  <c:pt idx="1">
                    <c:v>Priority</c:v>
                  </c:pt>
                  <c:pt idx="2">
                    <c:v>MLFQ</c:v>
                  </c:pt>
                  <c:pt idx="3">
                    <c:v>WFQ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2572</c:v>
                </c:pt>
                <c:pt idx="1">
                  <c:v>2826</c:v>
                </c:pt>
                <c:pt idx="2">
                  <c:v>2572</c:v>
                </c:pt>
                <c:pt idx="3">
                  <c:v>2819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 (ms)</c:v>
                </c:pt>
              </c:strCache>
            </c:strRef>
          </c:tx>
          <c:spPr>
            <a:solidFill>
              <a:srgbClr val="55555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849</c:v>
                </c:pt>
                <c:pt idx="1">
                  <c:v>1520</c:v>
                </c:pt>
                <c:pt idx="2">
                  <c:v>3120</c:v>
                </c:pt>
                <c:pt idx="3">
                  <c:v>4894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Improvement (%)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12345</c:v>
                  </c:pt>
                  <c:pt idx="1">
                    <c:v>42</c:v>
                  </c:pt>
                  <c:pt idx="2">
                    <c:v>7777</c:v>
                  </c:pt>
                  <c:pt idx="3">
                    <c:v>99999</c:v>
                  </c:pt>
                  <c:pt idx="4">
                    <c:v>31415</c:v>
                  </c:pt>
                  <c:pt idx="5">
                    <c:v>27182</c:v>
                  </c:pt>
                  <c:pt idx="6">
                    <c:v>65535</c:v>
                  </c:pt>
                  <c:pt idx="7">
                    <c:v>11111</c:v>
                  </c:pt>
                  <c:pt idx="8">
                    <c:v>54321</c:v>
                  </c:pt>
                  <c:pt idx="9">
                    <c:v>88888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76.11</c:v>
                </c:pt>
                <c:pt idx="1">
                  <c:v>73.25</c:v>
                </c:pt>
                <c:pt idx="2">
                  <c:v>72.84</c:v>
                </c:pt>
                <c:pt idx="3">
                  <c:v>74.92</c:v>
                </c:pt>
                <c:pt idx="4">
                  <c:v>71.56</c:v>
                </c:pt>
                <c:pt idx="5">
                  <c:v>73.1</c:v>
                </c:pt>
                <c:pt idx="6">
                  <c:v>75.33</c:v>
                </c:pt>
                <c:pt idx="7">
                  <c:v>72.98</c:v>
                </c:pt>
                <c:pt idx="8">
                  <c:v>74.15</c:v>
                </c:pt>
                <c:pt idx="9">
                  <c:v>73.56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8"/>
          <c:min val="68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55550"/>
            <a:ext cx="2705100" cy="5702498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6725" y="365075"/>
            <a:ext cx="2686050" cy="561677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3675" y="466576"/>
            <a:ext cx="24807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FCFS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3675" y="682377"/>
            <a:ext cx="24807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First-Come First-Served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19125" y="1337816"/>
            <a:ext cx="238125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9125" y="1180654"/>
            <a:ext cx="24288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특성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19125" y="1444079"/>
            <a:ext cx="2428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도착 순서 기반 처리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9125" y="1637556"/>
            <a:ext cx="2428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비선점형 (Non-preemptive)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19125" y="1831032"/>
            <a:ext cx="2428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구현 복잡도 O(1)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9125" y="2283321"/>
            <a:ext cx="238125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125" y="2126159"/>
            <a:ext cx="24288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장점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19125" y="2389584"/>
            <a:ext cx="2428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구현 간단, 베이스라인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9125" y="2841873"/>
            <a:ext cx="238125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125" y="2684711"/>
            <a:ext cx="24288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한계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19125" y="2948136"/>
            <a:ext cx="2428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호위 효과 (Convoy Effect)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9125" y="3141613"/>
            <a:ext cx="2428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차등 서비스 불가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14700" y="355550"/>
            <a:ext cx="2705100" cy="5702498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324225" y="365075"/>
            <a:ext cx="2686050" cy="561677"/>
          </a:xfrm>
          <a:prstGeom prst="rect">
            <a:avLst/>
          </a:prstGeom>
          <a:solidFill>
            <a:srgbClr val="6666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451175" y="466576"/>
            <a:ext cx="24807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Priority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51175" y="682377"/>
            <a:ext cx="24807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우선순위 기반 + Aging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76625" y="1337816"/>
            <a:ext cx="238125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6625" y="1180654"/>
            <a:ext cx="24288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특성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476625" y="1444079"/>
            <a:ext cx="2428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4단계 등급 (URGENT~LOW)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76625" y="1637556"/>
            <a:ext cx="2428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Aging 기아 방지 메커니즘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76625" y="1831032"/>
            <a:ext cx="2428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비선점형 / 등급별 큐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76625" y="2283321"/>
            <a:ext cx="238125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6625" y="2126159"/>
            <a:ext cx="24288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장점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476625" y="2389584"/>
            <a:ext cx="2428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긴급 요청 우선 처리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476625" y="2841873"/>
            <a:ext cx="238125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6625" y="2684711"/>
            <a:ext cx="24288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한계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476625" y="2948136"/>
            <a:ext cx="2428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기아 가능성 (Aging으로 해결)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476625" y="3141613"/>
            <a:ext cx="2428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동적 우선순위 미지원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72200" y="355550"/>
            <a:ext cx="2705100" cy="5702498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181725" y="365075"/>
            <a:ext cx="2686050" cy="561677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308675" y="466576"/>
            <a:ext cx="24807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MLFQ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08675" y="682377"/>
            <a:ext cx="24807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Multi-Level Feedback Queue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334125" y="1337816"/>
            <a:ext cx="238125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34125" y="1180654"/>
            <a:ext cx="24288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특성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334125" y="1444079"/>
            <a:ext cx="2428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4단계 피드백 큐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34125" y="1637556"/>
            <a:ext cx="2428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선점형 + 타임 퀀텀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334125" y="1831032"/>
            <a:ext cx="2428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Boost 메커니즘 (5초)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334125" y="2283321"/>
            <a:ext cx="238125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4125" y="2126159"/>
            <a:ext cx="24288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장점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334125" y="2389584"/>
            <a:ext cx="2428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적응형 분류, 선점 지원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334125" y="2841873"/>
            <a:ext cx="238125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34125" y="2684711"/>
            <a:ext cx="24288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한계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334125" y="2948136"/>
            <a:ext cx="2428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매개변수 조정 복잡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334125" y="3141613"/>
            <a:ext cx="2428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구현 복잡도 높음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029700" y="355550"/>
            <a:ext cx="2705100" cy="5702498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9039225" y="365075"/>
            <a:ext cx="2686050" cy="561677"/>
          </a:xfrm>
          <a:prstGeom prst="rect">
            <a:avLst/>
          </a:prstGeom>
          <a:solidFill>
            <a:srgbClr val="6666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9166175" y="466576"/>
            <a:ext cx="24807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WFQ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9166175" y="682377"/>
            <a:ext cx="24807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Weighted Fair Queuing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9191625" y="1337816"/>
            <a:ext cx="238125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191625" y="1180654"/>
            <a:ext cx="24288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특성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9191625" y="1444079"/>
            <a:ext cx="2428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가중치 비례 자원 배분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9191625" y="1637556"/>
            <a:ext cx="2428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Virtual Time 기반 스케줄링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9191625" y="1831032"/>
            <a:ext cx="2428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JFI 공정성 지표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9191625" y="2283321"/>
            <a:ext cx="238125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191625" y="2126159"/>
            <a:ext cx="24288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장점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9191625" y="2389584"/>
            <a:ext cx="2428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가중치 비례 배분, JFI 측정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9191625" y="2841873"/>
            <a:ext cx="238125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191625" y="2684711"/>
            <a:ext cx="24288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한계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9191625" y="2948136"/>
            <a:ext cx="2428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Virtual Time 계산 오버헤드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9191625" y="3141613"/>
            <a:ext cx="2428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가중치 설정 민감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57200" y="6219974"/>
            <a:ext cx="11277600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57200" y="6280249"/>
            <a:ext cx="6573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Simple (O(1))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0734824" y="6280249"/>
            <a:ext cx="10199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Complex (O(n log n))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57200" y="6580287"/>
            <a:ext cx="11277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57200" y="6635800"/>
            <a:ext cx="1150315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Ref: Silberschatz et al., Operating System Concepts (10th ed.); Arpaci-Dusseau, OSTEP Ch.8-9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55550"/>
            <a:ext cx="4276725" cy="390525"/>
          </a:xfrm>
          <a:prstGeom prst="rect">
            <a:avLst/>
          </a:prstGeom>
          <a:solidFill>
            <a:srgbClr val="333333"/>
          </a:solidFill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1588" y="450800"/>
            <a:ext cx="41679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OS 스케줄링 개념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502771" y="422225"/>
            <a:ext cx="121018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───────▶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58075" y="355550"/>
            <a:ext cx="4276725" cy="390525"/>
          </a:xfrm>
          <a:prstGeom prst="rect">
            <a:avLst/>
          </a:prstGeom>
          <a:solidFill>
            <a:srgbClr val="666666"/>
          </a:solidFill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512463" y="450800"/>
            <a:ext cx="41679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LLM API 도메인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923776"/>
            <a:ext cx="4310063" cy="403027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993850" y="1034802"/>
            <a:ext cx="126149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프로세스 (Process)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20978" y="965002"/>
            <a:ext cx="3570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──▶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78996" y="1171277"/>
            <a:ext cx="6466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i="1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스케줄링 단위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424737" y="923776"/>
            <a:ext cx="4310063" cy="403027"/>
          </a:xfrm>
          <a:prstGeom prst="rect">
            <a:avLst/>
          </a:prstGeom>
          <a:solidFill>
            <a:srgbClr val="F9F9F9"/>
          </a:solidFill>
          <a:ln w="9525">
            <a:solidFill>
              <a:srgbClr val="66666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088785" y="1034802"/>
            <a:ext cx="10016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LLM API 요청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1428304"/>
            <a:ext cx="4310063" cy="403027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284214" y="1539329"/>
            <a:ext cx="66900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CPU 시간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20978" y="1469529"/>
            <a:ext cx="3570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──▶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80348" y="1675805"/>
            <a:ext cx="4397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i="1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할당 자원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424737" y="1428304"/>
            <a:ext cx="4310063" cy="403027"/>
          </a:xfrm>
          <a:prstGeom prst="rect">
            <a:avLst/>
          </a:prstGeom>
          <a:solidFill>
            <a:srgbClr val="F9F9F9"/>
          </a:solidFill>
          <a:ln w="9525">
            <a:solidFill>
              <a:srgbClr val="66666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105900" y="1539329"/>
            <a:ext cx="9666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 호출 쿼터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1932831"/>
            <a:ext cx="4310063" cy="403027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979712" y="2043857"/>
            <a:ext cx="12901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우선순위 (Priority)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20978" y="1974056"/>
            <a:ext cx="3570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──▶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766197" y="2180332"/>
            <a:ext cx="6726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i="1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처리 순서 기준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424737" y="1932831"/>
            <a:ext cx="4310063" cy="403027"/>
          </a:xfrm>
          <a:prstGeom prst="rect">
            <a:avLst/>
          </a:prstGeom>
          <a:solidFill>
            <a:srgbClr val="F9F9F9"/>
          </a:solidFill>
          <a:ln w="9525">
            <a:solidFill>
              <a:srgbClr val="66666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716863" y="2043857"/>
            <a:ext cx="17603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테넌트 등급 · 요청 긴급도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2437358"/>
            <a:ext cx="4310063" cy="403027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984177" y="2548384"/>
            <a:ext cx="128123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스케줄링 알고리즘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20978" y="2478584"/>
            <a:ext cx="3570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──▶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766197" y="2684859"/>
            <a:ext cx="6726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i="1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자원 배분 정책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424737" y="2437358"/>
            <a:ext cx="4310063" cy="403027"/>
          </a:xfrm>
          <a:prstGeom prst="rect">
            <a:avLst/>
          </a:prstGeom>
          <a:solidFill>
            <a:srgbClr val="F9F9F9"/>
          </a:solidFill>
          <a:ln w="9525">
            <a:solidFill>
              <a:srgbClr val="66666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913614" y="2548384"/>
            <a:ext cx="135895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요청 처리 순서 결정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2941886"/>
            <a:ext cx="4310063" cy="403027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010668" y="3052911"/>
            <a:ext cx="12271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선점 (Preemption)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20978" y="2983111"/>
            <a:ext cx="3570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──▶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816947" y="3189387"/>
            <a:ext cx="5691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i="1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긴 요청 제어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424737" y="2941886"/>
            <a:ext cx="4310063" cy="403027"/>
          </a:xfrm>
          <a:prstGeom prst="rect">
            <a:avLst/>
          </a:prstGeom>
          <a:solidFill>
            <a:srgbClr val="F9F9F9"/>
          </a:solidFill>
          <a:ln w="9525">
            <a:solidFill>
              <a:srgbClr val="66666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8945166" y="3052911"/>
            <a:ext cx="129443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요청 중단 · 큐 이동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6507212"/>
            <a:ext cx="112776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4424" y="6588175"/>
            <a:ext cx="115031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핵심 아이디어: OS의 검증된 스케줄링 이론을 LLM API 요청 관리에 적용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4800"/>
            <a:ext cx="11277600" cy="653951"/>
          </a:xfrm>
          <a:prstGeom prst="rect">
            <a:avLst/>
          </a:prstGeom>
          <a:noFill/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323850"/>
            <a:ext cx="3149352" cy="615851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53951" y="476250"/>
            <a:ext cx="284982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클라이언트 계층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3951" y="682526"/>
            <a:ext cx="284982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Client Layer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879503" y="546050"/>
            <a:ext cx="29544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REST API 클라이언트 · 대시보드 · HTTP Polling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08043" y="1060252"/>
            <a:ext cx="17943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371302"/>
            <a:ext cx="11277600" cy="653951"/>
          </a:xfrm>
          <a:prstGeom prst="rect">
            <a:avLst/>
          </a:prstGeom>
          <a:noFill/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6250" y="1390352"/>
            <a:ext cx="3149352" cy="615851"/>
          </a:xfrm>
          <a:prstGeom prst="rect">
            <a:avLst/>
          </a:prstGeom>
          <a:solidFill>
            <a:srgbClr val="5555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53951" y="1542752"/>
            <a:ext cx="284982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 계층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3951" y="1749028"/>
            <a:ext cx="284982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Express.js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879503" y="1612553"/>
            <a:ext cx="32059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요청 관리 · 스케줄러 관리 · 통계/공정성 · 헬스 체크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08043" y="2126754"/>
            <a:ext cx="17943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2437805"/>
            <a:ext cx="11277600" cy="1054001"/>
          </a:xfrm>
          <a:prstGeom prst="rect">
            <a:avLst/>
          </a:prstGeom>
          <a:noFill/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6250" y="2652117"/>
            <a:ext cx="3149352" cy="625376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53951" y="2804517"/>
            <a:ext cx="284982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스케줄러 엔진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951" y="3010793"/>
            <a:ext cx="28498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런타임 교체 가능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879503" y="2833092"/>
            <a:ext cx="609600" cy="263426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041428" y="2893368"/>
            <a:ext cx="2914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FCFS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90604" y="2833092"/>
            <a:ext cx="711101" cy="263426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52529" y="2893368"/>
            <a:ext cx="3949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Priority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03205" y="2833092"/>
            <a:ext cx="666750" cy="263426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565130" y="2893368"/>
            <a:ext cx="3497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MLFQ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71456" y="2833092"/>
            <a:ext cx="596950" cy="263426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333381" y="2893368"/>
            <a:ext cx="2785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WFQ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69906" y="2833092"/>
            <a:ext cx="955477" cy="263426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031831" y="2893368"/>
            <a:ext cx="6442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Rate Limiter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851999" y="2587079"/>
            <a:ext cx="2863751" cy="755303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9013924" y="2698105"/>
            <a:ext cx="25906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핵심 기능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013924" y="2850505"/>
            <a:ext cx="2539901" cy="36820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런타임 알고리즘 교체</a:t>
            </a:r>
            <a:endParaRPr lang="en-US" sz="800" dirty="0"/>
          </a:p>
          <a:p>
            <a:pPr algn="l" marL="88900" indent="-88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이중 수준 JFI 측정</a:t>
            </a:r>
            <a:endParaRPr lang="en-US" sz="800" dirty="0"/>
          </a:p>
          <a:p>
            <a:pPr algn="l" marL="88900" indent="-88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Aging/Boost 기아 방지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008043" y="3593306"/>
            <a:ext cx="17943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▼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3904357"/>
            <a:ext cx="11277600" cy="653951"/>
          </a:xfrm>
          <a:prstGeom prst="rect">
            <a:avLst/>
          </a:prstGeom>
          <a:noFill/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76250" y="3923407"/>
            <a:ext cx="3149352" cy="615851"/>
          </a:xfrm>
          <a:prstGeom prst="rect">
            <a:avLst/>
          </a:prstGeom>
          <a:solidFill>
            <a:srgbClr val="5555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53951" y="4075807"/>
            <a:ext cx="284982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저장소 계층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3951" y="4282083"/>
            <a:ext cx="284982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Storage Layer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879503" y="4145607"/>
            <a:ext cx="36455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메모리 배열 (큐) · JSON 파일 (로그) · Ollama (LLM 백엔드)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6554837"/>
            <a:ext cx="11277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635800"/>
            <a:ext cx="1150315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Technology: Node.js + Express.js | SQLite (No Redis/MongoDB) | Memory Arrays (No BullMQ)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3901"/>
            <a:ext cx="1130052" cy="520452"/>
          </a:xfrm>
          <a:prstGeom prst="rect">
            <a:avLst/>
          </a:prstGeom>
          <a:solidFill>
            <a:srgbClr val="333333"/>
          </a:solidFill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68861" y="374452"/>
            <a:ext cx="9067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8861" y="549027"/>
            <a:ext cx="90672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최고 우선순위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688753" y="352127"/>
            <a:ext cx="5413177" cy="323850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850678" y="437852"/>
            <a:ext cx="11004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타임 퀀텀: </a:t>
            </a:r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1,000 ms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102251" y="442615"/>
            <a:ext cx="8545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단문 요청 (Short)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593157" y="875854"/>
            <a:ext cx="8722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▼ 초과 시 강등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129754"/>
            <a:ext cx="1130052" cy="520452"/>
          </a:xfrm>
          <a:prstGeom prst="rect">
            <a:avLst/>
          </a:prstGeom>
          <a:solidFill>
            <a:srgbClr val="555555"/>
          </a:solidFill>
          <a:ln w="19050">
            <a:solidFill>
              <a:srgbClr val="5555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68861" y="1250305"/>
            <a:ext cx="9067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8861" y="1424880"/>
            <a:ext cx="90672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높은 우선순위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688753" y="1227981"/>
            <a:ext cx="5413177" cy="323850"/>
          </a:xfrm>
          <a:prstGeom prst="rect">
            <a:avLst/>
          </a:prstGeom>
          <a:noFill/>
          <a:ln w="9525">
            <a:solidFill>
              <a:srgbClr val="66666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850678" y="1313706"/>
            <a:ext cx="11004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타임 퀀텀: </a:t>
            </a:r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3,000 ms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75300" y="1318468"/>
            <a:ext cx="9839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중간 요청 (Medium)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93157" y="1751707"/>
            <a:ext cx="8722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▼ 초과 시 강등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005608"/>
            <a:ext cx="1130052" cy="520452"/>
          </a:xfrm>
          <a:prstGeom prst="rect">
            <a:avLst/>
          </a:prstGeom>
          <a:solidFill>
            <a:srgbClr val="333333"/>
          </a:solidFill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68861" y="2126159"/>
            <a:ext cx="9067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8861" y="2300734"/>
            <a:ext cx="90672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보통 우선순위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688753" y="2103834"/>
            <a:ext cx="5413177" cy="323850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850678" y="2189559"/>
            <a:ext cx="11004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타임 퀀텀: </a:t>
            </a:r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8,000 ms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14901" y="2194322"/>
            <a:ext cx="8416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장문 요청 (Long)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93157" y="2627561"/>
            <a:ext cx="8722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▼ 초과 시 강등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881461"/>
            <a:ext cx="1130052" cy="520452"/>
          </a:xfrm>
          <a:prstGeom prst="rect">
            <a:avLst/>
          </a:prstGeom>
          <a:solidFill>
            <a:srgbClr val="555555"/>
          </a:solidFill>
          <a:ln w="19050">
            <a:solidFill>
              <a:srgbClr val="5555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68861" y="3002012"/>
            <a:ext cx="9067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8861" y="3176588"/>
            <a:ext cx="90672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최저 우선순위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688753" y="2979688"/>
            <a:ext cx="5413177" cy="323850"/>
          </a:xfrm>
          <a:prstGeom prst="rect">
            <a:avLst/>
          </a:prstGeom>
          <a:noFill/>
          <a:ln w="9525">
            <a:solidFill>
              <a:srgbClr val="66666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850678" y="3065413"/>
            <a:ext cx="11531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타임 퀀텀: </a:t>
            </a:r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∞ (FCFS)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40376" y="3070175"/>
            <a:ext cx="611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초장문 요청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609826"/>
            <a:ext cx="6644729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690789"/>
            <a:ext cx="26248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↑↑↑ </a:t>
            </a:r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Boost</a:t>
            </a:r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(5초 주기) — 모든 요청을 Q0로 복귀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05080" y="253901"/>
            <a:ext cx="4429720" cy="1174254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492305" y="390376"/>
            <a:ext cx="41363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MLFQ 매개변수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492305" y="618976"/>
            <a:ext cx="41363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큐 수: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4단계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492305" y="787152"/>
            <a:ext cx="41363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타임슬라이스: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500 ms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492305" y="955328"/>
            <a:ext cx="41363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Boost 주기: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5,000 ms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492305" y="1123504"/>
            <a:ext cx="41363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큐 시간 배수: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×1, ×3, ×8, ∞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05080" y="1555105"/>
            <a:ext cx="4429720" cy="4944219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492305" y="1666131"/>
            <a:ext cx="41363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OSTEP 규칙 적용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492305" y="1894731"/>
            <a:ext cx="41363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Rule 1: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Priority(A) &gt; Priority(B) → A 먼저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492305" y="2047131"/>
            <a:ext cx="41363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Rule 2: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Priority(A) = Priority(B) → RR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492305" y="2190006"/>
            <a:ext cx="41363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Rule 3: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새 요청은 Q0 진입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492305" y="2342406"/>
            <a:ext cx="41363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Rule 4: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Allotment 초과 시 강등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492305" y="2494806"/>
            <a:ext cx="41363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Rule 5: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주기적 Boost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" y="6707237"/>
            <a:ext cx="11277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6762750"/>
            <a:ext cx="1150315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Ref: Arpaci-Dusseau, Operating Systems: Three Easy Pieces, Ch.8 "Scheduling: The Multi-Level Feedback Queue"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94197" y="304800"/>
            <a:ext cx="1816001" cy="977503"/>
          </a:xfrm>
          <a:prstGeom prst="rect">
            <a:avLst/>
          </a:prstGeom>
          <a:solidFill>
            <a:srgbClr val="333333"/>
          </a:solidFill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045047" y="450800"/>
            <a:ext cx="1165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42195" y="644426"/>
            <a:ext cx="5302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Dequeue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785193" y="882402"/>
            <a:ext cx="6466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최고 우선순위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721644" y="1022003"/>
            <a:ext cx="7761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큐에서 요청 추출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186857" y="304800"/>
            <a:ext cx="41655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──▶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772049" y="304800"/>
            <a:ext cx="1816001" cy="977503"/>
          </a:xfrm>
          <a:prstGeom prst="rect">
            <a:avLst/>
          </a:prstGeom>
          <a:noFill/>
          <a:ln w="19050">
            <a:solidFill>
              <a:srgbClr val="5555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22899" y="450800"/>
            <a:ext cx="1165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②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63194" y="644426"/>
            <a:ext cx="64623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66915" y="882402"/>
            <a:ext cx="6386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LLM API 호출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213473" y="1022003"/>
            <a:ext cx="95181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타임슬라이스: 500ms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764709" y="304800"/>
            <a:ext cx="41655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──▶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49901" y="304800"/>
            <a:ext cx="1816001" cy="977503"/>
          </a:xfrm>
          <a:prstGeom prst="rect">
            <a:avLst/>
          </a:prstGeom>
          <a:noFill/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200751" y="450800"/>
            <a:ext cx="1165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③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96398" y="644426"/>
            <a:ext cx="73731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 Check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28098" y="882402"/>
            <a:ext cx="6726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경과 시간 확인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944767" y="1022003"/>
            <a:ext cx="6386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vs 큐 allotment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342561" y="304800"/>
            <a:ext cx="41655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──▶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927753" y="304800"/>
            <a:ext cx="2069902" cy="1076027"/>
          </a:xfrm>
          <a:prstGeom prst="rect">
            <a:avLst/>
          </a:prstGeom>
          <a:solidFill>
            <a:srgbClr val="F5F5F5"/>
          </a:solidFill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905554" y="450800"/>
            <a:ext cx="1165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④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675465" y="644426"/>
            <a:ext cx="58581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Quantum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44658" y="857101"/>
            <a:ext cx="6488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Exceeded?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0456" y="1069777"/>
            <a:ext cx="73898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(allotment 초과?)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949875" y="4811018"/>
            <a:ext cx="5645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Yes (초과)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0065" y="5039618"/>
            <a:ext cx="1313111" cy="1132880"/>
          </a:xfrm>
          <a:prstGeom prst="rect">
            <a:avLst/>
          </a:prstGeom>
          <a:noFill/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169396" y="5185618"/>
            <a:ext cx="1165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⑤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97797" y="5379244"/>
            <a:ext cx="46664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68168" y="5617220"/>
            <a:ext cx="7310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현재 큐 레벨 + 1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92266" y="5756821"/>
            <a:ext cx="88608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(Q0→Q1→Q2→Q3)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46141" y="5886896"/>
            <a:ext cx="7761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하위 큐에 재삽입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807398" y="4811018"/>
            <a:ext cx="5357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(완료)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18077" y="5039618"/>
            <a:ext cx="1103858" cy="1142405"/>
          </a:xfrm>
          <a:prstGeom prst="rect">
            <a:avLst/>
          </a:prstGeom>
          <a:solidFill>
            <a:srgbClr val="333333"/>
          </a:solidFill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012781" y="5185618"/>
            <a:ext cx="1165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782991" y="5379244"/>
            <a:ext cx="5855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54428" y="5617220"/>
            <a:ext cx="4397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응답 반환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740277" y="5756821"/>
            <a:ext cx="6726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대기 시간 기록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52927" y="5896421"/>
            <a:ext cx="6466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통계 업데이트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57200" y="6186785"/>
            <a:ext cx="112776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6293048"/>
            <a:ext cx="196751" cy="196751"/>
          </a:xfrm>
          <a:prstGeom prst="rect">
            <a:avLst/>
          </a:prstGeom>
          <a:solidFill>
            <a:srgbClr val="333333"/>
          </a:solidFill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30151" y="6334274"/>
            <a:ext cx="6755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시작/종료 단계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697236" y="6293048"/>
            <a:ext cx="196751" cy="196751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970187" y="6334274"/>
            <a:ext cx="4397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처리 단계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706142" y="6293048"/>
            <a:ext cx="196751" cy="196751"/>
          </a:xfrm>
          <a:prstGeom prst="rect">
            <a:avLst/>
          </a:prstGeom>
          <a:solidFill>
            <a:srgbClr val="F5F5F5"/>
          </a:solidFill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2979093" y="6334274"/>
            <a:ext cx="4397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분기 판단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715048" y="6334274"/>
            <a:ext cx="92282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──▶ 프로세스 흐름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57200" y="6570762"/>
            <a:ext cx="11277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6626275"/>
            <a:ext cx="1150315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선점 구현: 타임슬라이스(500ms) 단위 체크, Boost(5초)로 기아 방지 — OSTEP Rule 4 &amp; 5 적용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6576"/>
            <a:ext cx="5537150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3901"/>
            <a:ext cx="56478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평균 대기 시간 (Average Wait Time, ms)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197501" y="466576"/>
            <a:ext cx="5537299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97501" y="253901"/>
            <a:ext cx="56480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WFQ 테넌트별 응답 시간 (ms)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337870"/>
            <a:ext cx="3657600" cy="688628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5448895"/>
            <a:ext cx="34523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RQ1: Priority scheduling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3675" y="5642521"/>
            <a:ext cx="34523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URGENT 요청 62% 빠른 처리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3675" y="5810696"/>
            <a:ext cx="34523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(1,122ms vs FCFS 2,572ms)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267200" y="5337870"/>
            <a:ext cx="3657600" cy="688628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403675" y="5448895"/>
            <a:ext cx="34523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RQ2: MLFQ adaptability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403675" y="5642521"/>
            <a:ext cx="34523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단문 요청 73.78% 개선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03675" y="5810696"/>
            <a:ext cx="34523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95% CI: [72.36, 75.20]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077200" y="5337870"/>
            <a:ext cx="3657600" cy="688628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13675" y="5448895"/>
            <a:ext cx="34523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RQ3: WFQ differentiated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13675" y="5642521"/>
            <a:ext cx="34523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Enterprise 5.8x faster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13675" y="5810696"/>
            <a:ext cx="34523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(849ms vs Free 4,894ms)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" y="6153448"/>
            <a:ext cx="11277600" cy="336352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44426" y="6264473"/>
            <a:ext cx="10436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MLFQ 다중 시드 검증: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870770" y="6269236"/>
            <a:ext cx="66536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 = 73.78%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26234" y="6269236"/>
            <a:ext cx="51021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SD = 1.98%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429595" y="6269236"/>
            <a:ext cx="51977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CV = 2.68%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142333" y="6269236"/>
            <a:ext cx="3951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 &lt; 0.001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32883" y="6269236"/>
            <a:ext cx="80213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Cohen's d = 15.905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6570762"/>
            <a:ext cx="11277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626275"/>
            <a:ext cx="1150315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실험 조건: 500개 요청, 혼합 워크로드 (단문 40% / 중간 30% / 장문 30%), 10 시드, Ollama 로컬 LLM</a:t>
            </a:r>
            <a:endParaRPr lang="en-US" sz="7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457200" y="577602"/>
          <a:ext cx="5537150" cy="4633317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8" name="Chart 1" descr=""/>
          <p:cNvGraphicFramePr/>
          <p:nvPr/>
        </p:nvGraphicFramePr>
        <p:xfrm>
          <a:off x="6197501" y="577602"/>
          <a:ext cx="5537299" cy="4633317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20601"/>
            <a:ext cx="11277600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3901"/>
            <a:ext cx="1150315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MLFQ 다중 시드 실험 결과 (Multi-Seed Validation, n=10)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82526"/>
            <a:ext cx="6644729" cy="314325"/>
          </a:xfrm>
          <a:prstGeom prst="rect">
            <a:avLst/>
          </a:prstGeom>
          <a:solidFill>
            <a:srgbClr val="333333"/>
          </a:solidFill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3717" y="768251"/>
            <a:ext cx="14799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시드 (Seed)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07642" y="768251"/>
            <a:ext cx="14800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개선율 (%)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779490" y="692051"/>
            <a:ext cx="0" cy="295275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71243" y="768251"/>
            <a:ext cx="14800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시드 (Seed)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525319" y="768251"/>
            <a:ext cx="14800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개선율 (%)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097167" y="996851"/>
            <a:ext cx="0" cy="279202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271290"/>
            <a:ext cx="6644729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963" y="996851"/>
            <a:ext cx="0" cy="279202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7882" y="1060252"/>
            <a:ext cx="2914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12345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819718" y="1060252"/>
            <a:ext cx="2559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76.11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79490" y="996851"/>
            <a:ext cx="0" cy="269677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65558" y="1060252"/>
            <a:ext cx="2914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27182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34207" y="1060252"/>
            <a:ext cx="2623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73.10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1276052"/>
            <a:ext cx="6644729" cy="279202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7097167" y="1276052"/>
            <a:ext cx="0" cy="279202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1550491"/>
            <a:ext cx="6644729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963" y="1276052"/>
            <a:ext cx="0" cy="279202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35321" y="1339453"/>
            <a:ext cx="1165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816531" y="1339453"/>
            <a:ext cx="2623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73.25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779490" y="1276052"/>
            <a:ext cx="0" cy="269677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65558" y="1339453"/>
            <a:ext cx="2914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65535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34207" y="1339453"/>
            <a:ext cx="2623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75.33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097167" y="1555254"/>
            <a:ext cx="0" cy="279202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1829693"/>
            <a:ext cx="6644729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1963" y="1555254"/>
            <a:ext cx="0" cy="279202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77028" y="1618655"/>
            <a:ext cx="233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7777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816531" y="1618655"/>
            <a:ext cx="2623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72.84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779490" y="1555254"/>
            <a:ext cx="0" cy="269677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74211" y="1618655"/>
            <a:ext cx="2741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11111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34207" y="1618655"/>
            <a:ext cx="2623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72.98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1834455"/>
            <a:ext cx="6644729" cy="279202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7097167" y="1834455"/>
            <a:ext cx="0" cy="279202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2108895"/>
            <a:ext cx="6644729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1963" y="1834455"/>
            <a:ext cx="0" cy="279202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47882" y="1897856"/>
            <a:ext cx="2914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99999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816531" y="1897856"/>
            <a:ext cx="2623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74.92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779490" y="1834455"/>
            <a:ext cx="0" cy="269677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65558" y="1897856"/>
            <a:ext cx="2914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54321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134207" y="1897856"/>
            <a:ext cx="2623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74.15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097167" y="2113657"/>
            <a:ext cx="0" cy="279202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2388096"/>
            <a:ext cx="6644729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1963" y="2113657"/>
            <a:ext cx="0" cy="279202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47882" y="2177058"/>
            <a:ext cx="2914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31415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816531" y="2177058"/>
            <a:ext cx="2623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71.56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779490" y="2113657"/>
            <a:ext cx="0" cy="269677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65558" y="2177058"/>
            <a:ext cx="2914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88888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134207" y="2177058"/>
            <a:ext cx="2623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73.56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305080" y="682526"/>
            <a:ext cx="4429720" cy="1396901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7492305" y="819001"/>
            <a:ext cx="41363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기술 통계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492305" y="1038076"/>
            <a:ext cx="41363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평균 (Mean):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73.78%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492305" y="1219051"/>
            <a:ext cx="41363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표준편차 (SD):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1.98%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492305" y="1400026"/>
            <a:ext cx="41363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변동계수 (CV):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2.68%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492305" y="1581001"/>
            <a:ext cx="41363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최솟값: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71.56%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492305" y="1761976"/>
            <a:ext cx="41363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최댓값: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76.11%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305080" y="2206377"/>
            <a:ext cx="4429720" cy="1034951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7492305" y="2342852"/>
            <a:ext cx="41363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통계적 유의성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492305" y="2561927"/>
            <a:ext cx="41363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95% CI: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[72.36, 75.20]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492305" y="2742902"/>
            <a:ext cx="41363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p-value: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&lt; 0.001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492305" y="2923877"/>
            <a:ext cx="41363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Cohen's d: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15.905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305080" y="3368278"/>
            <a:ext cx="4429720" cy="714226"/>
          </a:xfrm>
          <a:prstGeom prst="rect">
            <a:avLst/>
          </a:prstGeom>
          <a:solidFill>
            <a:srgbClr val="333333"/>
          </a:solidFill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7501830" y="3514279"/>
            <a:ext cx="41169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결론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501830" y="3707904"/>
            <a:ext cx="41169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MLFQ는 10개 독립 시드 실험에서 단문 요청 대기 시간을 평균 73.78% 개선. CV 2.68%로 높은 재현성 확인.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57200" y="6570762"/>
            <a:ext cx="11277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6626275"/>
            <a:ext cx="1150315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대응 표본 t-검정 (paired t-test), n=10, 각 시드 500개 요청, 혼합 워크로드</a:t>
            </a:r>
            <a:endParaRPr lang="en-US" sz="700" dirty="0"/>
          </a:p>
        </p:txBody>
      </p:sp>
      <p:graphicFrame>
        <p:nvGraphicFramePr>
          <p:cNvPr id="69" name="Chart 0" descr=""/>
          <p:cNvGraphicFramePr/>
          <p:nvPr/>
        </p:nvGraphicFramePr>
        <p:xfrm>
          <a:off x="457200" y="2519809"/>
          <a:ext cx="6644729" cy="396999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Midterm Report Figures - OS Scheduling for LLM API</dc:title>
  <dc:subject>PptxGenJS Presentation</dc:subject>
  <dc:creator>서민지 (C235180)</dc:creator>
  <cp:lastModifiedBy>서민지 (C235180)</cp:lastModifiedBy>
  <cp:revision>1</cp:revision>
  <dcterms:created xsi:type="dcterms:W3CDTF">2026-03-05T05:32:28Z</dcterms:created>
  <dcterms:modified xsi:type="dcterms:W3CDTF">2026-03-05T05:32:28Z</dcterms:modified>
</cp:coreProperties>
</file>