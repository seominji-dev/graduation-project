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대기시간 (ms)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FCFS</c:v>
                  </c:pt>
                  <c:pt idx="1">
                    <c:v>Priority</c:v>
                  </c:pt>
                  <c:pt idx="2">
                    <c:v>MLFQ</c:v>
                  </c:pt>
                  <c:pt idx="3">
                    <c:v>WFQ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12203</c:v>
                </c:pt>
                <c:pt idx="1">
                  <c:v>12419</c:v>
                </c:pt>
                <c:pt idx="2">
                  <c:v>12203</c:v>
                </c:pt>
                <c:pt idx="3">
                  <c:v>11846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FCFS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짧은 요청 (Short)</c:v>
                  </c:pt>
                  <c:pt idx="1">
                    <c:v>중간 요청 (Medium)</c:v>
                  </c:pt>
                  <c:pt idx="2">
                    <c:v>긴 요청 (Long)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635</c:v>
                </c:pt>
                <c:pt idx="1">
                  <c:v>645</c:v>
                </c:pt>
                <c:pt idx="2">
                  <c:v>650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MLFQ (선점형)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짧은 요청 (Short)</c:v>
                  </c:pt>
                  <c:pt idx="1">
                    <c:v>중간 요청 (Medium)</c:v>
                  </c:pt>
                  <c:pt idx="2">
                    <c:v>긴 요청 (Long)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170</c:v>
                </c:pt>
                <c:pt idx="1">
                  <c:v>729</c:v>
                </c:pt>
                <c:pt idx="2">
                  <c:v>1226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FCFS</c:v>
                </c:pt>
              </c:strCache>
            </c:strRef>
          </c:tx>
          <c:spPr>
            <a:solidFill>
              <a:srgbClr val="00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232</c:v>
                </c:pt>
                <c:pt idx="1">
                  <c:v>810</c:v>
                </c:pt>
                <c:pt idx="2">
                  <c:v>1414</c:v>
                </c:pt>
                <c:pt idx="3">
                  <c:v>2024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Priority</c:v>
                </c:pt>
              </c:strCache>
            </c:strRef>
          </c:tx>
          <c:spPr>
            <a:solidFill>
              <a:srgbClr val="6666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379</c:v>
                </c:pt>
                <c:pt idx="1">
                  <c:v>755</c:v>
                </c:pt>
                <c:pt idx="2">
                  <c:v>1427</c:v>
                </c:pt>
                <c:pt idx="3">
                  <c:v>1887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WFQ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241</c:v>
                </c:pt>
                <c:pt idx="1">
                  <c:v>821</c:v>
                </c:pt>
                <c:pt idx="2">
                  <c:v>1392</c:v>
                </c:pt>
                <c:pt idx="3">
                  <c:v>1985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JFI (Jain's Fairness Index)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FCFS</c:v>
                  </c:pt>
                  <c:pt idx="1">
                    <c:v>Priority</c:v>
                  </c:pt>
                  <c:pt idx="2">
                    <c:v>MLFQ</c:v>
                  </c:pt>
                  <c:pt idx="3">
                    <c:v>WFQ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0.316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  <c:min val="0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1. 스케줄링 알고리즘 개념 비교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28600" y="502920"/>
            <a:ext cx="41605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7607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88696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도착 순서대로 처리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06984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선착순 단순 대기열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640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43000" y="1691640"/>
            <a:ext cx="640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20240" y="1691640"/>
            <a:ext cx="640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97480" y="1691640"/>
            <a:ext cx="640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0" y="1915668"/>
            <a:ext cx="502920" cy="9144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5400000">
            <a:off x="3931920" y="1847088"/>
            <a:ext cx="91440" cy="146304"/>
          </a:xfrm>
          <a:prstGeom prst="triangl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0" y="1847088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54880" y="502920"/>
            <a:ext cx="41605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57607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88696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우선순위 높은 요청 선처리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106984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(URGENT &gt; HIGH &gt; NORMAL &gt; LOW)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92040" y="1691640"/>
            <a:ext cx="777240" cy="457200"/>
          </a:xfrm>
          <a:prstGeom prst="rect">
            <a:avLst/>
          </a:prstGeom>
          <a:solidFill>
            <a:srgbClr val="F5F5F5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6916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URGENT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92040" y="219456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P1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806440" y="1691640"/>
            <a:ext cx="77724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06440" y="16916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HIGH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06440" y="219456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P2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720840" y="1691640"/>
            <a:ext cx="77724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0840" y="16916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NORMAL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20840" y="219456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P3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635240" y="1691640"/>
            <a:ext cx="77724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35240" y="16916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635240" y="219456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P4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28600" y="2834640"/>
            <a:ext cx="41605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290779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5760" y="321868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요청은 상위 큐 유지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65760" y="340156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 요청은 하위 큐로 강등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3886200"/>
            <a:ext cx="3474720" cy="256032"/>
          </a:xfrm>
          <a:prstGeom prst="rect">
            <a:avLst/>
          </a:prstGeom>
          <a:solidFill>
            <a:srgbClr val="333333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8862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Q0 (1초 할당)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65760" y="4187952"/>
            <a:ext cx="2926080" cy="256032"/>
          </a:xfrm>
          <a:prstGeom prst="rect">
            <a:avLst/>
          </a:prstGeom>
          <a:solidFill>
            <a:srgbClr val="666666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1879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 (3초 할당)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65760" y="4489704"/>
            <a:ext cx="2377440" cy="256032"/>
          </a:xfrm>
          <a:prstGeom prst="rect">
            <a:avLst/>
          </a:prstGeom>
          <a:solidFill>
            <a:srgbClr val="999999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48970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 (8초 할당)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65760" y="4791456"/>
            <a:ext cx="1828800" cy="256032"/>
          </a:xfrm>
          <a:prstGeom prst="rect">
            <a:avLst/>
          </a:prstGeom>
          <a:solidFill>
            <a:srgbClr val="CCCCCC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79145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Q3 (무제한)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064508" y="3886200"/>
            <a:ext cx="9144" cy="8229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10800000">
            <a:off x="3995928" y="4663440"/>
            <a:ext cx="146304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31920" y="478231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강등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754880" y="2834640"/>
            <a:ext cx="41605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92040" y="290779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892040" y="321868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가중치 비율로 시간 할당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892040" y="340156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Enterprise가 Free보다 100배 우선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892040" y="3840480"/>
            <a:ext cx="3566160" cy="256032"/>
          </a:xfrm>
          <a:prstGeom prst="rect">
            <a:avLst/>
          </a:prstGeom>
          <a:solidFill>
            <a:srgbClr val="333333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37760" y="38404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Enterprise (w=100)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892040" y="4160520"/>
            <a:ext cx="2424989" cy="256032"/>
          </a:xfrm>
          <a:prstGeom prst="rect">
            <a:avLst/>
          </a:prstGeom>
          <a:solidFill>
            <a:srgbClr val="666666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37760" y="4160520"/>
            <a:ext cx="242498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Premium (w=50)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892040" y="4480560"/>
            <a:ext cx="1426464" cy="256032"/>
          </a:xfrm>
          <a:prstGeom prst="rect">
            <a:avLst/>
          </a:prstGeom>
          <a:solidFill>
            <a:srgbClr val="CCCCCC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37760" y="4480560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Standard (w=10)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892040" y="4800600"/>
            <a:ext cx="784555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37760" y="4800600"/>
            <a:ext cx="7845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Free (w=1)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28600" y="2761488"/>
            <a:ext cx="86868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453128" y="502920"/>
            <a:ext cx="22860" cy="4526280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2. 시스템 아키텍처 (System Architecture)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406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클라이언트 계층 (Client)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82696" y="941832"/>
            <a:ext cx="237744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82696" y="9418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 Client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769864" y="941832"/>
            <a:ext cx="237744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9864" y="9418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 (Dashboard)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379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계층 (Express.js + Rate Limiter)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15768" y="203911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15768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접수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42816" y="203911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42816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전환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69864" y="203911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9864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 조회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296912" y="2039112"/>
            <a:ext cx="141732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96912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Rate Limiter (구독 등급·429 응답)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288036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93522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계층 (Scheduler)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15768" y="313639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15768" y="3136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242816" y="313639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42816" y="3136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769864" y="313639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9864" y="3136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96912" y="313639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96912" y="3136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0325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저장소/LLM 계층 (Storage/LLM)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862072" y="4233672"/>
            <a:ext cx="182880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62072" y="42336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메모리 큐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00600" y="4233672"/>
            <a:ext cx="182880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42336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 로그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739128" y="4233672"/>
            <a:ext cx="182880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39128" y="42336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LLM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110228" y="1417320"/>
            <a:ext cx="9144" cy="1828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10800000">
            <a:off x="4041648" y="1527048"/>
            <a:ext cx="146304" cy="9144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20440" y="14173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658868" y="1600200"/>
            <a:ext cx="9144" cy="18288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90288" y="1417320"/>
            <a:ext cx="146304" cy="91440"/>
          </a:xfrm>
          <a:prstGeom prst="triangle">
            <a:avLst/>
          </a:pr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66360" y="14173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4110228" y="2514600"/>
            <a:ext cx="9144" cy="1828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10800000">
            <a:off x="4041648" y="2624328"/>
            <a:ext cx="146304" cy="9144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20440" y="251460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658868" y="2697480"/>
            <a:ext cx="9144" cy="18288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90288" y="2514600"/>
            <a:ext cx="146304" cy="91440"/>
          </a:xfrm>
          <a:prstGeom prst="triangle">
            <a:avLst/>
          </a:pr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66360" y="251460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110228" y="3611880"/>
            <a:ext cx="9144" cy="1828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10800000">
            <a:off x="4041648" y="3721608"/>
            <a:ext cx="146304" cy="9144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20440" y="361188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4658868" y="3794760"/>
            <a:ext cx="9144" cy="18288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90288" y="3611880"/>
            <a:ext cx="146304" cy="91440"/>
          </a:xfrm>
          <a:prstGeom prst="triangle">
            <a:avLst/>
          </a:pr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66360" y="361188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 데이터 흐름도 (Data Flow)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7432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요청 전송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 /api/requests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103120" y="10927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2194560" y="10424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요청 객체 생성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계층 처리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0" y="10927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5400000">
            <a:off x="4206240" y="10424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Rate Limiter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(구독 등급 확인)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9768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429 or PASS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10927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5400000">
            <a:off x="6217920" y="10424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큐 등록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936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enqueue()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219188" y="1554480"/>
            <a:ext cx="9144" cy="5943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0800000">
            <a:off x="7159752" y="213055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0" y="22402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스케줄링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86000" y="2807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dequeue()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97680" y="22402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LLM 처리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97680" y="2807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API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09360" y="22402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결과 반환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JSON 기록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2807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COMPLETED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0" y="26929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16200000">
            <a:off x="4114800" y="26426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0" y="26929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16200000">
            <a:off x="6126480" y="26426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07508" y="1554480"/>
            <a:ext cx="9144" cy="4114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89120" y="1993392"/>
            <a:ext cx="16459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4389120" y="19933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429 Too Many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Requests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74320" y="2240280"/>
            <a:ext cx="1691640" cy="914400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228600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수명 주기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47472" y="251460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PENDING →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47472" y="2670048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QUEUED →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47472" y="2825496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PROCESSING →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47472" y="2980944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COMPLETED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4. 모듈 구조도 (Module Structure)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474720" y="594360"/>
            <a:ext cx="2194560" cy="457200"/>
          </a:xfrm>
          <a:prstGeom prst="rect">
            <a:avLst/>
          </a:prstGeom>
          <a:solidFill>
            <a:srgbClr val="333333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594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server.js (진입점)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(라우터)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96596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596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schedulers/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(FCFS, Priority, MLFQ, WFQ)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88620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queue/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(메모리 큐)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2356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2356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storage/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(JSON 저장)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6092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6092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(Ollama 연동)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67428" y="1051560"/>
            <a:ext cx="9144" cy="3200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1367028"/>
            <a:ext cx="713232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126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10800000">
            <a:off x="94183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3862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10800000">
            <a:off x="267919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5886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0800000">
            <a:off x="459943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9622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10800000">
            <a:off x="633679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358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10800000">
            <a:off x="807415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08760" y="256032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호출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337560" y="256032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28600" y="2926080"/>
            <a:ext cx="1554480" cy="5486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29260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rate-limiter/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(요청 제한)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560320" y="3703320"/>
            <a:ext cx="4023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333333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2560320" y="37033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tests-simple/ (Jest 단위 테스트)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4320" y="4206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화살표: 의존 관계 (호출 방향) | 점선: 테스트 전용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5. 실험 환경 구성도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154680" y="502920"/>
            <a:ext cx="2651760" cy="502920"/>
          </a:xfrm>
          <a:prstGeom prst="rect">
            <a:avLst/>
          </a:prstGeom>
          <a:solidFill>
            <a:srgbClr val="333333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54680" y="5029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생성 (Request Generator)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595628" y="1005840"/>
            <a:ext cx="9144" cy="3657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1536192" y="135331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75988" y="1005840"/>
            <a:ext cx="9144" cy="3657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4416552" y="135331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56348" y="1005840"/>
            <a:ext cx="9144" cy="3657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7296912" y="135331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463040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실험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1783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500건, 4테넌트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순차 도착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212140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엔진: 시뮬레이션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108960" y="1463040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 선점형 실험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154680" y="1783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500건 × 5시드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버스트 패턴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154680" y="212140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엔진: 시뮬레이션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89320" y="1463040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실서버 실험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35040" y="1783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20건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llama3.2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35040" y="212140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엔진: Ollama LLM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595628" y="2331720"/>
            <a:ext cx="9144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10800000">
            <a:off x="1536192" y="245059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75988" y="2331720"/>
            <a:ext cx="9144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10800000">
            <a:off x="4416552" y="245059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56348" y="2331720"/>
            <a:ext cx="9144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10800000">
            <a:off x="7296912" y="245059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" y="2560320"/>
            <a:ext cx="8686800" cy="658368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59689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계층 (Scheduler Layer)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64592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4592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93776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58368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0268" y="3218688"/>
            <a:ext cx="9144" cy="27432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10800000">
            <a:off x="4370832" y="3419856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8600" y="3520440"/>
            <a:ext cx="8686800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520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측정: 평균 대기시간 · JFI · 요청 유형별 응답시간 · JSON 로그 기록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6. 알고리즘별 평균 대기시간 비교 (ms)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실험 500건 | 4개 테넌트 | 순차 도착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82296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7. MLFQ 선점형 vs FCFS — 요청 유형별 응답시간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5시드 평균 | 버스트 패턴 | 단위: 초(s)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77724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8. 실서버 구독 등급별 평균 대기시간 (ms)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실서버 실험 20건 | 단위: ms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82296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9. 알고리즘별 Jain's Fairness Index (JFI) 비교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JFI = 1.0이 완전 공정, 낮을수록 불공평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82296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2803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── 1.0 (이상적 공정성)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최종보고서 그림</dc:title>
  <dc:subject>PptxGenJS Presentation</dc:subject>
  <dc:creator>서민지 (C235180)</dc:creator>
  <cp:lastModifiedBy>서민지 (C235180)</cp:lastModifiedBy>
  <cp:revision>1</cp:revision>
  <dcterms:created xsi:type="dcterms:W3CDTF">2026-04-17T04:12:02Z</dcterms:created>
  <dcterms:modified xsi:type="dcterms:W3CDTF">2026-04-17T04:12:02Z</dcterms:modified>
</cp:coreProperties>
</file>