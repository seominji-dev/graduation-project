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평균 대기시간 (ms)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12203</c:v>
                </c:pt>
                <c:pt idx="1">
                  <c:v>12419</c:v>
                </c:pt>
                <c:pt idx="2">
                  <c:v>12203</c:v>
                </c:pt>
                <c:pt idx="3">
                  <c:v>11846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635</c:v>
                </c:pt>
                <c:pt idx="1">
                  <c:v>645</c:v>
                </c:pt>
                <c:pt idx="2">
                  <c:v>650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MLFQ (선점형)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짧은 요청 (Short)</c:v>
                  </c:pt>
                  <c:pt idx="1">
                    <c:v>중간 요청 (Medium)</c:v>
                  </c:pt>
                  <c:pt idx="2">
                    <c:v>긴 요청 (Long)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170</c:v>
                </c:pt>
                <c:pt idx="1">
                  <c:v>729</c:v>
                </c:pt>
                <c:pt idx="2">
                  <c:v>1226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FCFS</c:v>
                </c:pt>
              </c:strCache>
            </c:strRef>
          </c:tx>
          <c:spPr>
            <a:solidFill>
              <a:srgbClr val="0000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232</c:v>
                </c:pt>
                <c:pt idx="1">
                  <c:v>810</c:v>
                </c:pt>
                <c:pt idx="2">
                  <c:v>1414</c:v>
                </c:pt>
                <c:pt idx="3">
                  <c:v>2024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Priority</c:v>
                </c:pt>
              </c:strCache>
            </c:strRef>
          </c:tx>
          <c:spPr>
            <a:solidFill>
              <a:srgbClr val="66666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379</c:v>
                </c:pt>
                <c:pt idx="1">
                  <c:v>755</c:v>
                </c:pt>
                <c:pt idx="2">
                  <c:v>1427</c:v>
                </c:pt>
                <c:pt idx="3">
                  <c:v>1887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WFQ</c:v>
                </c:pt>
              </c:strCache>
            </c:strRef>
          </c:tx>
          <c:spPr>
            <a:solidFill>
              <a:srgbClr val="CCCCC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Enterprise</c:v>
                  </c:pt>
                  <c:pt idx="1">
                    <c:v>Premium</c:v>
                  </c:pt>
                  <c:pt idx="2">
                    <c:v>Standard</c:v>
                  </c:pt>
                  <c:pt idx="3">
                    <c:v>Free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241</c:v>
                </c:pt>
                <c:pt idx="1">
                  <c:v>821</c:v>
                </c:pt>
                <c:pt idx="2">
                  <c:v>1392</c:v>
                </c:pt>
                <c:pt idx="3">
                  <c:v>1985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JFI (Jain's Fairness Index)</c:v>
                </c:pt>
              </c:strCache>
            </c:strRef>
          </c:tx>
          <c:spPr>
            <a:solidFill>
              <a:srgbClr val="33333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33333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FCFS</c:v>
                  </c:pt>
                  <c:pt idx="1">
                    <c:v>Priority</c:v>
                  </c:pt>
                  <c:pt idx="2">
                    <c:v>MLFQ</c:v>
                  </c:pt>
                  <c:pt idx="3">
                    <c:v>WFQ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0.316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2"/>
          <c:min val="0"/>
        </c:scaling>
        <c:delete val="0"/>
        <c:axPos val="l"/>
        <c:majorGridlines>
          <c:spPr>
            <a:ln w="6350" cap="flat">
              <a:solidFill>
                <a:srgbClr val="DDDDDD"/>
              </a:solidFill>
              <a:prstDash val="dot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1. 스케줄링 알고리즘 개념 비교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2860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도착 순서대로 처리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선착순 단순 대기열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R3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97480" y="16916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R4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0" y="1915668"/>
            <a:ext cx="502920" cy="9144"/>
          </a:xfrm>
          <a:prstGeom prst="rect">
            <a:avLst/>
          </a:prstGeom>
          <a:solidFill>
            <a:srgbClr val="0000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5400000">
            <a:off x="3931920" y="1847088"/>
            <a:ext cx="91440" cy="146304"/>
          </a:xfrm>
          <a:prstGeom prst="triangle">
            <a:avLst/>
          </a:prstGeom>
          <a:solidFill>
            <a:srgbClr val="000000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023360" y="1847088"/>
            <a:ext cx="320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처리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4754880" y="50292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92040" y="57607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92040" y="8869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우선순위 높은 요청 선처리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892040" y="106984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(URG &gt; HIGH &gt; NORM &gt; LOW)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solidFill>
            <a:srgbClr val="F5F5F5"/>
          </a:solidFill>
          <a:ln w="19050">
            <a:solidFill>
              <a:srgbClr val="00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URG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P1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solidFill>
            <a:srgbClr val="F5F5F5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064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HIGH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8064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P2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208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NORM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7208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P3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35240" y="1691640"/>
            <a:ext cx="777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LOW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635240" y="2194560"/>
            <a:ext cx="777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P4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2860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6576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짧은 요청은 상위 큐 유지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긴 요청은 하위 큐로 강등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65760" y="3886200"/>
            <a:ext cx="3474720" cy="320040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8862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Q0 (1초 할당)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365760" y="4270248"/>
            <a:ext cx="2926080" cy="320040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70248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Q1 (3초 할당)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654296"/>
            <a:ext cx="2377440" cy="320040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46542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Q2 (무제한)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4064508" y="3886200"/>
            <a:ext cx="9144" cy="8229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10800000">
            <a:off x="3995928" y="4663440"/>
            <a:ext cx="146304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0" y="4782312"/>
            <a:ext cx="365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강등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4754880" y="2834640"/>
            <a:ext cx="4160520" cy="22402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2907792"/>
            <a:ext cx="3886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892040" y="321868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가중치 비율로 시간 할당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4892040" y="3401568"/>
            <a:ext cx="3886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Enterprise가 Free보다 100배 우선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892040" y="3840480"/>
            <a:ext cx="3566160" cy="256032"/>
          </a:xfrm>
          <a:prstGeom prst="rect">
            <a:avLst/>
          </a:prstGeom>
          <a:solidFill>
            <a:srgbClr val="333333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937760" y="3840480"/>
            <a:ext cx="3566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Enterprise (w=100)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892040" y="4160520"/>
            <a:ext cx="2424989" cy="256032"/>
          </a:xfrm>
          <a:prstGeom prst="rect">
            <a:avLst/>
          </a:prstGeom>
          <a:solidFill>
            <a:srgbClr val="666666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37760" y="4160520"/>
            <a:ext cx="2424989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Premium (w=50)</a:t>
            </a:r>
            <a:endParaRPr lang="en-US" sz="800" dirty="0"/>
          </a:p>
        </p:txBody>
      </p:sp>
      <p:sp>
        <p:nvSpPr>
          <p:cNvPr id="55" name="Shape 53"/>
          <p:cNvSpPr/>
          <p:nvPr/>
        </p:nvSpPr>
        <p:spPr>
          <a:xfrm>
            <a:off x="4892040" y="4480560"/>
            <a:ext cx="1426464" cy="256032"/>
          </a:xfrm>
          <a:prstGeom prst="rect">
            <a:avLst/>
          </a:prstGeom>
          <a:solidFill>
            <a:srgbClr val="CCCCCC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37760" y="4480560"/>
            <a:ext cx="14264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Standard (w=10)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892040" y="4800600"/>
            <a:ext cx="784555" cy="25603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937760" y="4800600"/>
            <a:ext cx="78455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Free (w=1)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228600" y="2761488"/>
            <a:ext cx="8686800" cy="2286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453128" y="502920"/>
            <a:ext cx="22860" cy="4526280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2. 시스템 아키텍처 (System Architecture)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457200" y="64008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68580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계층 (Client)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3040380" y="868680"/>
            <a:ext cx="25603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040380" y="868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Client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737860" y="868680"/>
            <a:ext cx="256032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37860" y="868680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대시보드 (Dashboard)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146304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0876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(Express.js)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517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517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접수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7091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전환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766560" y="169164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169164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통계 조회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" y="228600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1F3A5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317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제한 계층 (Rate Limiter)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6517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구독 등급 확인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091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토큰 버킷 제어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766560" y="251460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51460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응답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10896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31546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44602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44602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9194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9194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3786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73786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383780" y="3337560"/>
            <a:ext cx="150876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383780" y="3337560"/>
            <a:ext cx="1508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" y="3931920"/>
            <a:ext cx="8229600" cy="6858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3977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저장소/LLM 계층 (Storage/LLM)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517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메모리 큐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091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JSON 로그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766560" y="4160520"/>
            <a:ext cx="1920240" cy="347472"/>
          </a:xfrm>
          <a:prstGeom prst="rect">
            <a:avLst/>
          </a:prstGeom>
          <a:solidFill>
            <a:srgbClr val="F5F5F5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766560" y="4160520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110228" y="132588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0800000">
            <a:off x="4041648" y="132130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1325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4658868" y="139446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590288" y="132588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66360" y="132588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110228" y="214884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10800000">
            <a:off x="4041648" y="214426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520440" y="2148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2" name="Shape 50"/>
          <p:cNvSpPr/>
          <p:nvPr/>
        </p:nvSpPr>
        <p:spPr>
          <a:xfrm>
            <a:off x="4658868" y="221742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590288" y="214884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166360" y="214884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4110228" y="297180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800000">
            <a:off x="4041648" y="296722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20440" y="29718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658868" y="304038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590288" y="297180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166360" y="297180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4110228" y="3794760"/>
            <a:ext cx="9144" cy="685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10800000">
            <a:off x="4041648" y="3790188"/>
            <a:ext cx="146304" cy="91440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3520440" y="3794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4658868" y="3863340"/>
            <a:ext cx="9144" cy="68580"/>
          </a:xfrm>
          <a:prstGeom prst="rect">
            <a:avLst/>
          </a:prstGeom>
          <a:solidFill>
            <a:srgbClr val="66666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590288" y="3794760"/>
            <a:ext cx="146304" cy="91440"/>
          </a:xfrm>
          <a:prstGeom prst="triangle">
            <a:avLst/>
          </a:prstGeom>
          <a:solidFill>
            <a:srgbClr val="666666"/>
          </a:solidFill>
          <a:ln w="6350">
            <a:solidFill>
              <a:srgbClr val="66666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166360" y="3794760"/>
            <a:ext cx="502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응답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3. 데이터 흐름도 (Data Flow)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27432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1. 요청 전송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POST /api/requests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10312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5400000">
            <a:off x="219456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2. 입력 검증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 계층 처리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420624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9768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3. Rate Limiter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(구독 등급 확인)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29768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or PASS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0927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217920" y="10424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309360" y="6400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9360" y="731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4. 큐 등록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12070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enqueue()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19188" y="1554480"/>
            <a:ext cx="9144" cy="5943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7159752" y="213055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5. 스케줄링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dequeue()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9768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6. LLM 처리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29768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API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309360" y="2240280"/>
            <a:ext cx="1828800" cy="9144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09360" y="2331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7. 결과 반환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+ JSON 기록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309360" y="280720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16200000">
            <a:off x="411480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26480" y="2692908"/>
            <a:ext cx="13716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16200000">
            <a:off x="6126480" y="2642616"/>
            <a:ext cx="91440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207508" y="1554480"/>
            <a:ext cx="9144" cy="41148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8" name="Text 36"/>
          <p:cNvSpPr/>
          <p:nvPr/>
        </p:nvSpPr>
        <p:spPr>
          <a:xfrm>
            <a:off x="4389120" y="199339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429 Too Many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Requests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274320" y="2240280"/>
            <a:ext cx="1691640" cy="914400"/>
          </a:xfrm>
          <a:prstGeom prst="rect">
            <a:avLst/>
          </a:prstGeom>
          <a:solidFill>
            <a:srgbClr val="F5F5F5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2286000"/>
            <a:ext cx="1600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수명 주기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347472" y="2514600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PENDING →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47472" y="2670048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QUEUED →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347472" y="2825496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PROCESSING →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347472" y="2980944"/>
            <a:ext cx="1554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COMPLETED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4. 모듈 구조도 (Module Structure)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0" y="59436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server.js (진입점)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api/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(라우터)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659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schedulers/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(FCFS, Priority, MLFQ, WFQ)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8620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queue/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(메모리 큐)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2356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storage/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(JSON 저장)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60920" y="1691640"/>
            <a:ext cx="1554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llm/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(Ollama 연동)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67428" y="1051560"/>
            <a:ext cx="9144" cy="32004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05840" y="1367028"/>
            <a:ext cx="7132320" cy="9144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12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9418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386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0800000">
            <a:off x="26791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5886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10800000">
            <a:off x="459943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9622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633679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133588" y="1371600"/>
            <a:ext cx="9144" cy="22860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8074152" y="1581912"/>
            <a:ext cx="128016" cy="109728"/>
          </a:xfrm>
          <a:prstGeom prst="triangle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5087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호출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3337560" y="2560320"/>
            <a:ext cx="502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28600" y="2926080"/>
            <a:ext cx="1554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rate-limiter/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(요청 제한)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solidFill>
            <a:srgbClr val="FFFFFF"/>
          </a:solidFill>
          <a:ln w="6350">
            <a:solidFill>
              <a:srgbClr val="333333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2560320" y="37033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tests-simple/ (Jest 단위 테스트)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74320" y="42062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※ 화살표: 의존 관계 (호출 방향) | 점선: 테스트 전용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595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5. 실험 환경 구성도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solidFill>
            <a:srgbClr val="333333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154680" y="50292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요청 생성 (Request Generator)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159562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0">
            <a:off x="153619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47598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10800000">
            <a:off x="441655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56348" y="1005840"/>
            <a:ext cx="9144" cy="3657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7296912" y="135331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860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500건, 4테넌트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순차 도착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10896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5468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 선점형 실험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15468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500건 × 5시드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버스트 패턴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15468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시뮬레이션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989320" y="1463040"/>
            <a:ext cx="2743200" cy="86868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35040" y="150876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실서버 실험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35040" y="1783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20건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llama3.2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035040" y="2121408"/>
            <a:ext cx="2651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엔진: Ollama LLM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59562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10800000">
            <a:off x="153619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7598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441655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56348" y="2331720"/>
            <a:ext cx="9144" cy="13716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7296912" y="2450592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28600" y="2560320"/>
            <a:ext cx="8686800" cy="65836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25968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스케줄러 계층 (Scheduler Layer)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64592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FCFS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9184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Priority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MLFQ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83680" y="2862072"/>
            <a:ext cx="1371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WFQ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0268" y="3218688"/>
            <a:ext cx="9144" cy="274320"/>
          </a:xfrm>
          <a:prstGeom prst="rect">
            <a:avLst/>
          </a:prstGeom>
          <a:solidFill>
            <a:srgbClr val="3333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0800000">
            <a:off x="4370832" y="3419856"/>
            <a:ext cx="128016" cy="109728"/>
          </a:xfrm>
          <a:prstGeom prst="triangle">
            <a:avLst/>
          </a:prstGeom>
          <a:solidFill>
            <a:srgbClr val="333333"/>
          </a:solidFill>
          <a:ln w="635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28600" y="3520440"/>
            <a:ext cx="8686800" cy="566928"/>
          </a:xfrm>
          <a:prstGeom prst="rect">
            <a:avLst/>
          </a:prstGeom>
          <a:solidFill>
            <a:srgbClr val="F5F5F5"/>
          </a:solidFill>
          <a:ln w="9525">
            <a:solidFill>
              <a:srgbClr val="00000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65760" y="3520440"/>
            <a:ext cx="84124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 측정: 평균 대기시간 · JFI · 요청 유형별 응답시간 · JSON 로그 기록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6. 알고리즘별 평균 대기시간 비교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기본 실험 500건 | 4개 테넌트 | 순차 도착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7. MLFQ 선점형 vs FCFS — 요청 유형별 대기시간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5회 반복 (다중 시드) | 버스트 패턴 | 단위: 초(s)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77724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8. 실서버 구독 등급별 평균 대기시간 (ms)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Ollama 실서버 실험 20건 | 단위: ms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9. 알고리즘별 Jain's Fairness Index (JFI) 비교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274320" y="475488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JFI = 1.0이 완전 공정, 낮을수록 불공평</a:t>
            </a:r>
            <a:endParaRPr lang="en-US" sz="9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777240"/>
          <a:ext cx="822960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82803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── 1.0 (이상적 공정성)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최종보고서 그림</dc:title>
  <dc:subject>PptxGenJS Presentation</dc:subject>
  <dc:creator>서민지 (C235180)</dc:creator>
  <cp:lastModifiedBy>서민지 (C235180)</cp:lastModifiedBy>
  <cp:revision>1</cp:revision>
  <dcterms:created xsi:type="dcterms:W3CDTF">2026-04-15T02:38:14Z</dcterms:created>
  <dcterms:modified xsi:type="dcterms:W3CDTF">2026-04-15T02:38:14Z</dcterms:modified>
</cp:coreProperties>
</file>