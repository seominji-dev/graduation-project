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</c:v>
                </c:pt>
                <c:pt idx="1">
                  <c:v>810</c:v>
                </c:pt>
                <c:pt idx="2">
                  <c:v>1414</c:v>
                </c:pt>
                <c:pt idx="3">
                  <c:v>2024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379</c:v>
                </c:pt>
                <c:pt idx="1">
                  <c:v>755</c:v>
                </c:pt>
                <c:pt idx="2">
                  <c:v>1427</c:v>
                </c:pt>
                <c:pt idx="3">
                  <c:v>1887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241</c:v>
                </c:pt>
                <c:pt idx="1">
                  <c:v>821</c:v>
                </c:pt>
                <c:pt idx="2">
                  <c:v>1392</c:v>
                </c:pt>
                <c:pt idx="3">
                  <c:v>1985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6858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2563EB">
              <a:alpha val="12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31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74520" y="1014984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74520" y="101498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17720" y="1014984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101498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059669">
              <a:alpha val="12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45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325880" y="19293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1929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20440" y="19293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1929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15000" y="19293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15000" y="1929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25146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DC2626">
              <a:alpha val="12000"/>
            </a:srgbClr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제한 계층 (Rate Limiter)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25880" y="28437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25880" y="28437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구독 등급 확인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20440" y="28437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8437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토큰 버킷 제어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715000" y="28437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15000" y="28437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응답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4290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D97706">
              <a:alpha val="12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474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4300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300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88036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88036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1772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35508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5508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43434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64748B">
              <a:alpha val="12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4389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325880" y="46725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25880" y="46725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520440" y="46725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520440" y="46725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15000" y="46725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15000" y="46725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886200" y="1435608"/>
            <a:ext cx="365760" cy="18288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44" name="Text 42"/>
          <p:cNvSpPr/>
          <p:nvPr/>
        </p:nvSpPr>
        <p:spPr>
          <a:xfrm>
            <a:off x="33375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892040" y="1435608"/>
            <a:ext cx="365760" cy="18288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46" name="Text 44"/>
          <p:cNvSpPr/>
          <p:nvPr/>
        </p:nvSpPr>
        <p:spPr>
          <a:xfrm>
            <a:off x="530352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3886200" y="2350008"/>
            <a:ext cx="365760" cy="18288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8" name="Text 46"/>
          <p:cNvSpPr/>
          <p:nvPr/>
        </p:nvSpPr>
        <p:spPr>
          <a:xfrm>
            <a:off x="3337560" y="23317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892040" y="2350008"/>
            <a:ext cx="365760" cy="182880"/>
          </a:xfrm>
          <a:prstGeom prst="upArrow">
            <a:avLst/>
          </a:prstGeom>
          <a:solidFill>
            <a:srgbClr val="DC2626"/>
          </a:solidFill>
          <a:ln/>
        </p:spPr>
      </p:sp>
      <p:sp>
        <p:nvSpPr>
          <p:cNvPr id="50" name="Text 48"/>
          <p:cNvSpPr/>
          <p:nvPr/>
        </p:nvSpPr>
        <p:spPr>
          <a:xfrm>
            <a:off x="5303520" y="23317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3886200" y="3264408"/>
            <a:ext cx="365760" cy="182880"/>
          </a:xfrm>
          <a:prstGeom prst="downArrow">
            <a:avLst/>
          </a:prstGeom>
          <a:solidFill>
            <a:srgbClr val="DC2626"/>
          </a:solidFill>
          <a:ln/>
        </p:spPr>
      </p:sp>
      <p:sp>
        <p:nvSpPr>
          <p:cNvPr id="52" name="Text 50"/>
          <p:cNvSpPr/>
          <p:nvPr/>
        </p:nvSpPr>
        <p:spPr>
          <a:xfrm>
            <a:off x="3337560" y="32461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4892040" y="3264408"/>
            <a:ext cx="365760" cy="18288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54" name="Text 52"/>
          <p:cNvSpPr/>
          <p:nvPr/>
        </p:nvSpPr>
        <p:spPr>
          <a:xfrm>
            <a:off x="5303520" y="32461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3886200" y="4178808"/>
            <a:ext cx="365760" cy="18288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56" name="Text 54"/>
          <p:cNvSpPr/>
          <p:nvPr/>
        </p:nvSpPr>
        <p:spPr>
          <a:xfrm>
            <a:off x="3337560" y="41605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4892040" y="4178808"/>
            <a:ext cx="365760" cy="18288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58" name="Text 56"/>
          <p:cNvSpPr/>
          <p:nvPr/>
        </p:nvSpPr>
        <p:spPr>
          <a:xfrm>
            <a:off x="5303520" y="41605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488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7" name="Shape 5"/>
          <p:cNvSpPr/>
          <p:nvPr/>
        </p:nvSpPr>
        <p:spPr>
          <a:xfrm>
            <a:off x="23774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062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44348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C2626">
              <a:alpha val="15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63640" y="1005840"/>
            <a:ext cx="228600" cy="256032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5" name="Shape 13"/>
          <p:cNvSpPr/>
          <p:nvPr/>
        </p:nvSpPr>
        <p:spPr>
          <a:xfrm>
            <a:off x="6492240" y="6858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777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1280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223760" y="1691640"/>
            <a:ext cx="365760" cy="5943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19" name="Shape 17"/>
          <p:cNvSpPr/>
          <p:nvPr/>
        </p:nvSpPr>
        <p:spPr>
          <a:xfrm>
            <a:off x="23774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774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348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348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92240" y="22860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2377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2880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63640" y="2606040"/>
            <a:ext cx="228600" cy="256032"/>
          </a:xfrm>
          <a:prstGeom prst="lef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4206240" y="2606040"/>
            <a:ext cx="228600" cy="256032"/>
          </a:xfrm>
          <a:prstGeom prst="lef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228600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457200" y="237744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
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83480" y="1691640"/>
            <a:ext cx="365760" cy="548640"/>
          </a:xfrm>
          <a:prstGeom prst="downArrow">
            <a:avLst/>
          </a:prstGeom>
          <a:solidFill>
            <a:srgbClr val="DC2626">
              <a:alpha val="4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526280" y="2286000"/>
            <a:ext cx="1645920" cy="457200"/>
          </a:xfrm>
          <a:prstGeom prst="roundRect">
            <a:avLst>
              <a:gd name="adj" fmla="val 14000"/>
            </a:avLst>
          </a:prstGeom>
          <a:solidFill>
            <a:srgbClr val="DC2626">
              <a:alpha val="15000"/>
            </a:srgbClr>
          </a:solidFill>
          <a:ln w="12700">
            <a:solidFill>
              <a:srgbClr val="DC2626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4526280" y="2286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1792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 시 즉시 반환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알고리즘별 평균 대기시간 비교 (ms)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4개 테넌트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132320" y="32004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 최소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11,846ms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extended-results.json (시뮬레이션 500건)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대기시간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5회 반복 (다중 시드)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7772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097280"/>
            <a:ext cx="1920240" cy="594360"/>
          </a:xfrm>
          <a:prstGeom prst="roundRect">
            <a:avLst>
              <a:gd name="adj" fmla="val 12308"/>
            </a:avLst>
          </a:prstGeom>
          <a:solidFill>
            <a:srgbClr val="DC2626">
              <a:alpha val="15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75120" y="109728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73% 감소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등급: 모든 스케줄러에서 최소 대기시간 확인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Jain's Fairness Index (JFI) 비교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217920" y="3108960"/>
            <a:ext cx="2377440" cy="731520"/>
          </a:xfrm>
          <a:prstGeom prst="roundRect">
            <a:avLst>
              <a:gd name="adj" fmla="val 12500"/>
            </a:avLst>
          </a:prstGeom>
          <a:solidFill>
            <a:srgbClr val="DC2626">
              <a:alpha val="15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0" y="310896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JFI = 0.316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차등 서비스로 공정성 낮음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━━ 완전 공정 (JFI = 1.0)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스케줄링 알고리즘 개념 비교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4206240" cy="2103120"/>
          </a:xfrm>
          <a:prstGeom prst="roundRect">
            <a:avLst>
              <a:gd name="adj" fmla="val 5217"/>
            </a:avLst>
          </a:prstGeom>
          <a:solidFill>
            <a:srgbClr val="2563EB">
              <a:alpha val="7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772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 순서대로 처리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선착순 단순 대기열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640080" cy="502920"/>
          </a:xfrm>
          <a:prstGeom prst="rect">
            <a:avLst/>
          </a:prstGeom>
          <a:solidFill>
            <a:srgbClr val="2563EB">
              <a:alpha val="2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45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640080" cy="502920"/>
          </a:xfrm>
          <a:prstGeom prst="rect">
            <a:avLst/>
          </a:prstGeom>
          <a:solidFill>
            <a:srgbClr val="2563EB">
              <a:alpha val="2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4440" y="1645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11680" y="1645920"/>
            <a:ext cx="640080" cy="502920"/>
          </a:xfrm>
          <a:prstGeom prst="rect">
            <a:avLst/>
          </a:prstGeom>
          <a:solidFill>
            <a:srgbClr val="2563EB">
              <a:alpha val="2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0" y="1645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88920" y="1645920"/>
            <a:ext cx="640080" cy="502920"/>
          </a:xfrm>
          <a:prstGeom prst="rect">
            <a:avLst/>
          </a:prstGeom>
          <a:solidFill>
            <a:srgbClr val="2563EB">
              <a:alpha val="2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88920" y="164592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66160" y="1737360"/>
            <a:ext cx="457200" cy="32004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6160" y="21031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685800"/>
            <a:ext cx="4206240" cy="2103120"/>
          </a:xfrm>
          <a:prstGeom prst="roundRect">
            <a:avLst>
              <a:gd name="adj" fmla="val 5217"/>
            </a:avLst>
          </a:prstGeom>
          <a:solidFill>
            <a:srgbClr val="D97706">
              <a:alpha val="7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7772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0060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높은 요청 선처리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(urgent → high → normal → low)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846320" y="1645920"/>
            <a:ext cx="777240" cy="502920"/>
          </a:xfrm>
          <a:prstGeom prst="rect">
            <a:avLst/>
          </a:prstGeom>
          <a:solidFill>
            <a:srgbClr val="DC2626">
              <a:alpha val="25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645920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219456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760720" y="1645920"/>
            <a:ext cx="777240" cy="502920"/>
          </a:xfrm>
          <a:prstGeom prst="rect">
            <a:avLst/>
          </a:prstGeom>
          <a:solidFill>
            <a:srgbClr val="D97706">
              <a:alpha val="2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0" y="1645920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760720" y="219456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5920"/>
            <a:ext cx="777240" cy="502920"/>
          </a:xfrm>
          <a:prstGeom prst="rect">
            <a:avLst/>
          </a:prstGeom>
          <a:solidFill>
            <a:srgbClr val="059669">
              <a:alpha val="2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1645920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75120" y="219456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89520" y="1645920"/>
            <a:ext cx="777240" cy="502920"/>
          </a:xfrm>
          <a:prstGeom prst="rect">
            <a:avLst/>
          </a:prstGeom>
          <a:solidFill>
            <a:srgbClr val="64748B">
              <a:alpha val="25000"/>
            </a:srgbClr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9520" y="1645920"/>
            <a:ext cx="777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589520" y="2194560"/>
            <a:ext cx="777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74320" y="2926080"/>
            <a:ext cx="4206240" cy="2103120"/>
          </a:xfrm>
          <a:prstGeom prst="roundRect">
            <a:avLst>
              <a:gd name="adj" fmla="val 5217"/>
            </a:avLst>
          </a:prstGeom>
          <a:solidFill>
            <a:srgbClr val="2563EB">
              <a:alpha val="7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30175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11480" y="33375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요청은 상위 큐 유지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요청은 하위 큐로 강등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3840480"/>
            <a:ext cx="3474720" cy="292608"/>
          </a:xfrm>
          <a:prstGeom prst="rect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84048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 할당)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4206240"/>
            <a:ext cx="2926080" cy="292608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20624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 할당)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" y="4572000"/>
            <a:ext cx="2377440" cy="292608"/>
          </a:xfrm>
          <a:prstGeom prst="rect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5720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(무제한)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840480" y="3931920"/>
            <a:ext cx="320040" cy="8229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0" y="475488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663440" y="2926080"/>
            <a:ext cx="4206240" cy="2103120"/>
          </a:xfrm>
          <a:prstGeom prst="roundRect">
            <a:avLst>
              <a:gd name="adj" fmla="val 5217"/>
            </a:avLst>
          </a:prstGeom>
          <a:solidFill>
            <a:srgbClr val="059669">
              <a:alpha val="7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0600" y="30175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800600" y="33375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 비율로 시간 할당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Enterprise가 Free보다 100배 우선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46320" y="3840480"/>
            <a:ext cx="3474720" cy="246888"/>
          </a:xfrm>
          <a:prstGeom prst="rect">
            <a:avLst/>
          </a:prstGeom>
          <a:solidFill>
            <a:srgbClr val="059669">
              <a:alpha val="28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92040" y="3840480"/>
            <a:ext cx="3474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846320" y="4142232"/>
            <a:ext cx="2362810" cy="246888"/>
          </a:xfrm>
          <a:prstGeom prst="rect">
            <a:avLst/>
          </a:prstGeom>
          <a:solidFill>
            <a:srgbClr val="059669">
              <a:alpha val="23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92040" y="4142232"/>
            <a:ext cx="236281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846320" y="4443984"/>
            <a:ext cx="1389888" cy="246888"/>
          </a:xfrm>
          <a:prstGeom prst="rect">
            <a:avLst/>
          </a:prstGeom>
          <a:solidFill>
            <a:srgbClr val="059669">
              <a:alpha val="18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92040" y="4443984"/>
            <a:ext cx="1389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846320" y="4745736"/>
            <a:ext cx="764438" cy="246888"/>
          </a:xfrm>
          <a:prstGeom prst="rect">
            <a:avLst/>
          </a:prstGeom>
          <a:solidFill>
            <a:srgbClr val="059669">
              <a:alpha val="13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92040" y="4745736"/>
            <a:ext cx="76443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274320" y="2816352"/>
            <a:ext cx="859536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685800"/>
            <a:ext cx="22860" cy="434340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실험 환경 구성도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0" y="685800"/>
            <a:ext cx="2651760" cy="5486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6858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481328" y="1234440"/>
            <a:ext cx="329184" cy="457200"/>
          </a:xfrm>
          <a:prstGeom prst="downArrow">
            <a:avLst/>
          </a:prstGeom>
          <a:solidFill>
            <a:srgbClr val="2563EB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361688" y="1234440"/>
            <a:ext cx="329184" cy="457200"/>
          </a:xfrm>
          <a:prstGeom prst="downArrow">
            <a:avLst/>
          </a:prstGeom>
          <a:solidFill>
            <a:srgbClr val="3B82F6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242048" y="1234440"/>
            <a:ext cx="329184" cy="457200"/>
          </a:xfrm>
          <a:prstGeom prst="downArrow">
            <a:avLst/>
          </a:prstGeom>
          <a:solidFill>
            <a:srgbClr val="059669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691640"/>
            <a:ext cx="2743200" cy="868680"/>
          </a:xfrm>
          <a:prstGeom prst="roundRect">
            <a:avLst>
              <a:gd name="adj" fmla="val 10526"/>
            </a:avLst>
          </a:prstGeom>
          <a:solidFill>
            <a:srgbClr val="2563EB">
              <a:alpha val="12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737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07568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4테넌트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691640"/>
            <a:ext cx="2743200" cy="868680"/>
          </a:xfrm>
          <a:prstGeom prst="roundRect">
            <a:avLst>
              <a:gd name="adj" fmla="val 10526"/>
            </a:avLst>
          </a:prstGeom>
          <a:solidFill>
            <a:srgbClr val="3B82F6">
              <a:alpha val="12000"/>
            </a:srgbClr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1737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54680" y="207568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500건×5시드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1691640"/>
            <a:ext cx="2743200" cy="868680"/>
          </a:xfrm>
          <a:prstGeom prst="roundRect">
            <a:avLst>
              <a:gd name="adj" fmla="val 10526"/>
            </a:avLst>
          </a:prstGeom>
          <a:solidFill>
            <a:srgbClr val="059669">
              <a:alpha val="12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1737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207568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834640"/>
            <a:ext cx="8595360" cy="685800"/>
          </a:xfrm>
          <a:prstGeom prst="roundRect">
            <a:avLst>
              <a:gd name="adj" fmla="val 13333"/>
            </a:avLst>
          </a:prstGeom>
          <a:solidFill>
            <a:srgbClr val="D97706">
              <a:alpha val="12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880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3154680"/>
            <a:ext cx="13716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0" y="3154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4720" y="3154680"/>
            <a:ext cx="13716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3154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120640" y="3154680"/>
            <a:ext cx="13716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3154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766560" y="3154680"/>
            <a:ext cx="13716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3154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481328" y="2560320"/>
            <a:ext cx="329184" cy="274320"/>
          </a:xfrm>
          <a:prstGeom prst="downArrow">
            <a:avLst/>
          </a:prstGeom>
          <a:solidFill>
            <a:srgbClr val="2563EB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61688" y="2560320"/>
            <a:ext cx="329184" cy="274320"/>
          </a:xfrm>
          <a:prstGeom prst="downArrow">
            <a:avLst/>
          </a:prstGeom>
          <a:solidFill>
            <a:srgbClr val="3B82F6">
              <a:alpha val="6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242048" y="2560320"/>
            <a:ext cx="329184" cy="274320"/>
          </a:xfrm>
          <a:prstGeom prst="downArrow">
            <a:avLst/>
          </a:prstGeom>
          <a:solidFill>
            <a:srgbClr val="059669">
              <a:alpha val="6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434840" y="3520440"/>
            <a:ext cx="274320" cy="32004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3867912"/>
            <a:ext cx="8595360" cy="685800"/>
          </a:xfrm>
          <a:prstGeom prst="roundRect">
            <a:avLst>
              <a:gd name="adj" fmla="val 13333"/>
            </a:avLst>
          </a:prstGeom>
          <a:solidFill>
            <a:srgbClr val="059669">
              <a:alpha val="12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867912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2026-04-12T00:31:43Z</dcterms:created>
  <dcterms:modified xsi:type="dcterms:W3CDTF">2026-04-12T00:31:43Z</dcterms:modified>
</cp:coreProperties>
</file>