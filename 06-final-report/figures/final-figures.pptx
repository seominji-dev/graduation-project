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6858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74520" y="1014984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4520" y="1014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17720" y="1014984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014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2588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2044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5146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DC2626">
              <a:alpha val="12000"/>
            </a:srgbClr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제한 계층 (Rate Limiter)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2588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2588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등급 확인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버킷 제어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71500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응답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D97706">
              <a:alpha val="12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7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300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8036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8036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1772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35508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3434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64748B">
              <a:alpha val="12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389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32588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52044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2044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1500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886200" y="1435608"/>
            <a:ext cx="365760" cy="18288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375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892040" y="1435608"/>
            <a:ext cx="365760" cy="18288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886200" y="2350008"/>
            <a:ext cx="365760" cy="18288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8" name="Text 46"/>
          <p:cNvSpPr/>
          <p:nvPr/>
        </p:nvSpPr>
        <p:spPr>
          <a:xfrm>
            <a:off x="3337560" y="23317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892040" y="2350008"/>
            <a:ext cx="365760" cy="182880"/>
          </a:xfrm>
          <a:prstGeom prst="upArrow">
            <a:avLst/>
          </a:prstGeom>
          <a:solidFill>
            <a:srgbClr val="DC2626"/>
          </a:solidFill>
          <a:ln/>
        </p:spPr>
      </p:sp>
      <p:sp>
        <p:nvSpPr>
          <p:cNvPr id="50" name="Text 48"/>
          <p:cNvSpPr/>
          <p:nvPr/>
        </p:nvSpPr>
        <p:spPr>
          <a:xfrm>
            <a:off x="5303520" y="23317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886200" y="3264408"/>
            <a:ext cx="365760" cy="182880"/>
          </a:xfrm>
          <a:prstGeom prst="downArrow">
            <a:avLst/>
          </a:prstGeom>
          <a:solidFill>
            <a:srgbClr val="DC2626"/>
          </a:solidFill>
          <a:ln/>
        </p:spPr>
      </p:sp>
      <p:sp>
        <p:nvSpPr>
          <p:cNvPr id="52" name="Text 50"/>
          <p:cNvSpPr/>
          <p:nvPr/>
        </p:nvSpPr>
        <p:spPr>
          <a:xfrm>
            <a:off x="3337560" y="32461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4892040" y="3264408"/>
            <a:ext cx="365760" cy="18288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54" name="Text 52"/>
          <p:cNvSpPr/>
          <p:nvPr/>
        </p:nvSpPr>
        <p:spPr>
          <a:xfrm>
            <a:off x="5303520" y="32461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3886200" y="4178808"/>
            <a:ext cx="365760" cy="18288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56" name="Text 54"/>
          <p:cNvSpPr/>
          <p:nvPr/>
        </p:nvSpPr>
        <p:spPr>
          <a:xfrm>
            <a:off x="3337560" y="41605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892040" y="4178808"/>
            <a:ext cx="365760" cy="18288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58" name="Text 56"/>
          <p:cNvSpPr/>
          <p:nvPr/>
        </p:nvSpPr>
        <p:spPr>
          <a:xfrm>
            <a:off x="5303520" y="41605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488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44348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636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23760" y="1691640"/>
            <a:ext cx="365760" cy="5943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774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348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348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922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636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42062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28600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57200" y="2377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
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83480" y="1691640"/>
            <a:ext cx="365760" cy="548640"/>
          </a:xfrm>
          <a:prstGeom prst="downArrow">
            <a:avLst/>
          </a:prstGeom>
          <a:solidFill>
            <a:srgbClr val="DC2626">
              <a:alpha val="4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26280" y="228600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DC2626">
              <a:alpha val="15000"/>
            </a:srgbClr>
          </a:solidFill>
          <a:ln w="12700">
            <a:solidFill>
              <a:srgbClr val="DC2626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452628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시 즉시 반환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알고리즘별 평균 대기시간 비교 (ms)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4개 테넌트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132320" y="32004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최소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11,846ms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extended-results.json (시뮬레이션 500건)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대기시간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 반복 (다중 시드)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09728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0" y="10972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등급: 모든 스케줄러에서 최소 대기시간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Jain's Fairness Index (JFI) 비교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310896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31089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JFI = 0.316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차등 서비스로 공정성 낮음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━━ 완전 공정 (JFI = 1.0)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알고리즘 특성 비교 요약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46304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알고리즘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65960" y="731520"/>
            <a:ext cx="219456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5960" y="731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차등 서비스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06240" y="731520"/>
            <a:ext cx="164592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7315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공정성 (JFI)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97880" y="731520"/>
            <a:ext cx="274320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97880" y="7315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적합 상황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1430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143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965960" y="1143000"/>
            <a:ext cx="219456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11430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06240" y="1143000"/>
            <a:ext cx="164592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114300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1143000"/>
            <a:ext cx="274320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11430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환경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020824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D97706">
              <a:alpha val="12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020824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965960" y="2020824"/>
            <a:ext cx="219456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65960" y="202082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기반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2020824"/>
            <a:ext cx="164592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2020824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897880" y="2020824"/>
            <a:ext cx="274320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2020824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 요청 처리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98648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898648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965960" y="2898648"/>
            <a:ext cx="219456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65960" y="289864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실행시간 기반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06240" y="2898648"/>
            <a:ext cx="164592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06240" y="2898648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1.000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897880" y="2898648"/>
            <a:ext cx="274320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97880" y="289864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776472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377647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965960" y="3776472"/>
            <a:ext cx="219456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77647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등급 기반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206240" y="3776472"/>
            <a:ext cx="164592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06240" y="3776472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897880" y="3776472"/>
            <a:ext cx="2743200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7880" y="3776472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차등 서비스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JFI: 1.000 = 완전 공정 (모든 요청 동등 처리) | 0.316 = 차등 서비스 적용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스케줄링 알고리즘 개념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2563EB">
              <a:alpha val="7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772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순서대로 처리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선착순 단순 대기열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1168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8892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66160" y="1737360"/>
            <a:ext cx="457200" cy="32004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21031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68580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D97706">
              <a:alpha val="7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7772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0060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높은 요청 선처리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(urgent → high → normal → low)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46320" y="1645920"/>
            <a:ext cx="777240" cy="502920"/>
          </a:xfrm>
          <a:prstGeom prst="rect">
            <a:avLst/>
          </a:prstGeom>
          <a:solidFill>
            <a:srgbClr val="DC2626">
              <a:alpha val="25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760720" y="1645920"/>
            <a:ext cx="777240" cy="502920"/>
          </a:xfrm>
          <a:prstGeom prst="rect">
            <a:avLst/>
          </a:prstGeom>
          <a:solidFill>
            <a:srgbClr val="D97706">
              <a:alpha val="2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607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5920"/>
            <a:ext cx="777240" cy="50292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89520" y="1645920"/>
            <a:ext cx="777240" cy="502920"/>
          </a:xfrm>
          <a:prstGeom prst="rect">
            <a:avLst/>
          </a:prstGeom>
          <a:solidFill>
            <a:srgbClr val="64748B">
              <a:alpha val="25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95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4320" y="292608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2563EB">
              <a:alpha val="7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0175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" y="3337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요청은 상위 큐 유지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요청은 하위 큐로 강등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3474720" cy="292608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84048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 할당)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4206240"/>
            <a:ext cx="2926080" cy="292608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20624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 할당)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4572000"/>
            <a:ext cx="2377440" cy="292608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5720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(무제한)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840480" y="3931920"/>
            <a:ext cx="320040" cy="8229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0" y="47548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292608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059669">
              <a:alpha val="7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30175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800600" y="3337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비율로 시간 할당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Enterprise가 Free보다 100배 우선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46320" y="3840480"/>
            <a:ext cx="3474720" cy="246888"/>
          </a:xfrm>
          <a:prstGeom prst="rect">
            <a:avLst/>
          </a:prstGeom>
          <a:solidFill>
            <a:srgbClr val="059669">
              <a:alpha val="28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92040" y="3840480"/>
            <a:ext cx="3474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846320" y="4142232"/>
            <a:ext cx="2362810" cy="246888"/>
          </a:xfrm>
          <a:prstGeom prst="rect">
            <a:avLst/>
          </a:prstGeom>
          <a:solidFill>
            <a:srgbClr val="059669">
              <a:alpha val="23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4142232"/>
            <a:ext cx="236281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4443984"/>
            <a:ext cx="1389888" cy="246888"/>
          </a:xfrm>
          <a:prstGeom prst="rect">
            <a:avLst/>
          </a:prstGeom>
          <a:solidFill>
            <a:srgbClr val="059669">
              <a:alpha val="18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4443984"/>
            <a:ext cx="1389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846320" y="4745736"/>
            <a:ext cx="764438" cy="246888"/>
          </a:xfrm>
          <a:prstGeom prst="rect">
            <a:avLst/>
          </a:prstGeom>
          <a:solidFill>
            <a:srgbClr val="059669">
              <a:alpha val="13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92040" y="4745736"/>
            <a:ext cx="76443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74320" y="2816352"/>
            <a:ext cx="85953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685800"/>
            <a:ext cx="22860" cy="434340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실험 환경 구성도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685800"/>
            <a:ext cx="2651760" cy="5486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6858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481328" y="1234440"/>
            <a:ext cx="329184" cy="457200"/>
          </a:xfrm>
          <a:prstGeom prst="downArrow">
            <a:avLst/>
          </a:prstGeom>
          <a:solidFill>
            <a:srgbClr val="2563EB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361688" y="1234440"/>
            <a:ext cx="329184" cy="457200"/>
          </a:xfrm>
          <a:prstGeom prst="downArrow">
            <a:avLst/>
          </a:prstGeom>
          <a:solidFill>
            <a:srgbClr val="3B82F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42048" y="1234440"/>
            <a:ext cx="329184" cy="457200"/>
          </a:xfrm>
          <a:prstGeom prst="downArrow">
            <a:avLst/>
          </a:prstGeom>
          <a:solidFill>
            <a:srgbClr val="059669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69164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737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07568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4테넌트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69164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1737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54680" y="207568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500건×5시드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1737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07568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8595360" cy="685800"/>
          </a:xfrm>
          <a:prstGeom prst="roundRect">
            <a:avLst>
              <a:gd name="adj" fmla="val 13333"/>
            </a:avLst>
          </a:prstGeom>
          <a:solidFill>
            <a:srgbClr val="D97706">
              <a:alpha val="12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472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12064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6656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481328" y="2560320"/>
            <a:ext cx="329184" cy="274320"/>
          </a:xfrm>
          <a:prstGeom prst="downArrow">
            <a:avLst/>
          </a:prstGeom>
          <a:solidFill>
            <a:srgbClr val="2563EB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61688" y="2560320"/>
            <a:ext cx="329184" cy="274320"/>
          </a:xfrm>
          <a:prstGeom prst="downArrow">
            <a:avLst/>
          </a:prstGeom>
          <a:solidFill>
            <a:srgbClr val="3B82F6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242048" y="2560320"/>
            <a:ext cx="329184" cy="274320"/>
          </a:xfrm>
          <a:prstGeom prst="downArrow">
            <a:avLst/>
          </a:prstGeom>
          <a:solidFill>
            <a:srgbClr val="059669">
              <a:alpha val="6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434840" y="3520440"/>
            <a:ext cx="274320" cy="32004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3867912"/>
            <a:ext cx="8595360" cy="685800"/>
          </a:xfrm>
          <a:prstGeom prst="roundRect">
            <a:avLst>
              <a:gd name="adj" fmla="val 13333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86791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2026-04-11T07:02:06Z</dcterms:created>
  <dcterms:modified xsi:type="dcterms:W3CDTF">2026-04-11T07:02:06Z</dcterms:modified>
</cp:coreProperties>
</file>