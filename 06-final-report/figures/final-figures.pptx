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5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6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7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8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평균 대기시간 (ms)</c:v>
                </c:pt>
              </c:strCache>
            </c:strRef>
          </c:tx>
          <c:spPr>
            <a:solidFill>
              <a:srgbClr val="33333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3333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3333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3333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333333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FCFS</c:v>
                  </c:pt>
                  <c:pt idx="1">
                    <c:v>Priority</c:v>
                  </c:pt>
                  <c:pt idx="2">
                    <c:v>MLFQ</c:v>
                  </c:pt>
                  <c:pt idx="3">
                    <c:v>WFQ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12203</c:v>
                </c:pt>
                <c:pt idx="1">
                  <c:v>12419</c:v>
                </c:pt>
                <c:pt idx="2">
                  <c:v>12203</c:v>
                </c:pt>
                <c:pt idx="3">
                  <c:v>11846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DDDD"/>
              </a:solidFill>
              <a:prstDash val="dot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FCFS</c:v>
                </c:pt>
              </c:strCache>
            </c:strRef>
          </c:tx>
          <c:spPr>
            <a:solidFill>
              <a:srgbClr val="CCCCC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짧은 요청 (Short)</c:v>
                  </c:pt>
                  <c:pt idx="1">
                    <c:v>중간 요청 (Medium)</c:v>
                  </c:pt>
                  <c:pt idx="2">
                    <c:v>긴 요청 (Long)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635</c:v>
                </c:pt>
                <c:pt idx="1">
                  <c:v>645</c:v>
                </c:pt>
                <c:pt idx="2">
                  <c:v>650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MLFQ (선점형)</c:v>
                </c:pt>
              </c:strCache>
            </c:strRef>
          </c:tx>
          <c:spPr>
            <a:solidFill>
              <a:srgbClr val="33333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짧은 요청 (Short)</c:v>
                  </c:pt>
                  <c:pt idx="1">
                    <c:v>중간 요청 (Medium)</c:v>
                  </c:pt>
                  <c:pt idx="2">
                    <c:v>긴 요청 (Long)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170</c:v>
                </c:pt>
                <c:pt idx="1">
                  <c:v>729</c:v>
                </c:pt>
                <c:pt idx="2">
                  <c:v>1226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DDDD"/>
              </a:solidFill>
              <a:prstDash val="dot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FCFS</c:v>
                </c:pt>
              </c:strCache>
            </c:strRef>
          </c:tx>
          <c:spPr>
            <a:solidFill>
              <a:srgbClr val="0000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Enterprise</c:v>
                  </c:pt>
                  <c:pt idx="1">
                    <c:v>Premium</c:v>
                  </c:pt>
                  <c:pt idx="2">
                    <c:v>Standard</c:v>
                  </c:pt>
                  <c:pt idx="3">
                    <c:v>Free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232</c:v>
                </c:pt>
                <c:pt idx="1">
                  <c:v>810</c:v>
                </c:pt>
                <c:pt idx="2">
                  <c:v>1414</c:v>
                </c:pt>
                <c:pt idx="3">
                  <c:v>2024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Priority</c:v>
                </c:pt>
              </c:strCache>
            </c:strRef>
          </c:tx>
          <c:spPr>
            <a:solidFill>
              <a:srgbClr val="66666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Enterprise</c:v>
                  </c:pt>
                  <c:pt idx="1">
                    <c:v>Premium</c:v>
                  </c:pt>
                  <c:pt idx="2">
                    <c:v>Standard</c:v>
                  </c:pt>
                  <c:pt idx="3">
                    <c:v>Free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379</c:v>
                </c:pt>
                <c:pt idx="1">
                  <c:v>755</c:v>
                </c:pt>
                <c:pt idx="2">
                  <c:v>1427</c:v>
                </c:pt>
                <c:pt idx="3">
                  <c:v>1887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WFQ</c:v>
                </c:pt>
              </c:strCache>
            </c:strRef>
          </c:tx>
          <c:spPr>
            <a:solidFill>
              <a:srgbClr val="CCCCC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Enterprise</c:v>
                  </c:pt>
                  <c:pt idx="1">
                    <c:v>Premium</c:v>
                  </c:pt>
                  <c:pt idx="2">
                    <c:v>Standard</c:v>
                  </c:pt>
                  <c:pt idx="3">
                    <c:v>Free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241</c:v>
                </c:pt>
                <c:pt idx="1">
                  <c:v>821</c:v>
                </c:pt>
                <c:pt idx="2">
                  <c:v>1392</c:v>
                </c:pt>
                <c:pt idx="3">
                  <c:v>1985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DDDD"/>
              </a:solidFill>
              <a:prstDash val="dot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JFI (Jain's Fairness Index)</c:v>
                </c:pt>
              </c:strCache>
            </c:strRef>
          </c:tx>
          <c:spPr>
            <a:solidFill>
              <a:srgbClr val="33333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3333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3333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3333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333333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FCFS</c:v>
                  </c:pt>
                  <c:pt idx="1">
                    <c:v>Priority</c:v>
                  </c:pt>
                  <c:pt idx="2">
                    <c:v>MLFQ</c:v>
                  </c:pt>
                  <c:pt idx="3">
                    <c:v>WFQ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0.316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2"/>
          <c:min val="0"/>
        </c:scaling>
        <c:delete val="0"/>
        <c:axPos val="l"/>
        <c:majorGridlines>
          <c:spPr>
            <a:ln w="6350" cap="flat">
              <a:solidFill>
                <a:srgbClr val="DDDDDD"/>
              </a:solidFill>
              <a:prstDash val="dot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45720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1. 스케줄링 알고리즘 개념 비교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228600" y="502920"/>
            <a:ext cx="416052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76072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FCFS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886968"/>
            <a:ext cx="3886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도착 순서대로 처리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1069848"/>
            <a:ext cx="3886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선착순 단순 대기열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691640"/>
            <a:ext cx="640080" cy="457200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6916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143000" y="1691640"/>
            <a:ext cx="640080" cy="457200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3000" y="16916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R2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920240" y="1691640"/>
            <a:ext cx="640080" cy="457200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20240" y="16916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R3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697480" y="1691640"/>
            <a:ext cx="640080" cy="457200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97480" y="16916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R4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474720" y="1915668"/>
            <a:ext cx="502920" cy="9144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rot="5400000">
            <a:off x="3931920" y="1847088"/>
            <a:ext cx="91440" cy="146304"/>
          </a:xfrm>
          <a:prstGeom prst="triangle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23360" y="1847088"/>
            <a:ext cx="320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754880" y="502920"/>
            <a:ext cx="416052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576072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Priority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92040" y="886968"/>
            <a:ext cx="3886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우선순위 높은 요청 선처리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92040" y="1069848"/>
            <a:ext cx="3886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(URG &gt; HIGH &gt; NORM &gt; LOW)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892040" y="1691640"/>
            <a:ext cx="777240" cy="457200"/>
          </a:xfrm>
          <a:prstGeom prst="rect">
            <a:avLst/>
          </a:prstGeom>
          <a:solidFill>
            <a:srgbClr val="F5F5F5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1691640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URG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92040" y="2194560"/>
            <a:ext cx="777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P1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806440" y="1691640"/>
            <a:ext cx="777240" cy="457200"/>
          </a:xfrm>
          <a:prstGeom prst="rect">
            <a:avLst/>
          </a:prstGeom>
          <a:solidFill>
            <a:srgbClr val="F5F5F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06440" y="1691640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HIGH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806440" y="2194560"/>
            <a:ext cx="777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P2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720840" y="1691640"/>
            <a:ext cx="777240" cy="457200"/>
          </a:xfrm>
          <a:prstGeom prst="rect">
            <a:avLst/>
          </a:prstGeom>
          <a:solidFill>
            <a:srgbClr val="F5F5F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20840" y="1691640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NORM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720840" y="2194560"/>
            <a:ext cx="777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P3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7635240" y="1691640"/>
            <a:ext cx="777240" cy="457200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35240" y="1691640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LOW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635240" y="2194560"/>
            <a:ext cx="777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P4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28600" y="2834640"/>
            <a:ext cx="416052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2907792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MLFQ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65760" y="3218688"/>
            <a:ext cx="3886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짧은 요청은 상위 큐 유지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65760" y="3401568"/>
            <a:ext cx="3886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긴 요청은 하위 큐로 강등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65760" y="3886200"/>
            <a:ext cx="3474720" cy="256032"/>
          </a:xfrm>
          <a:prstGeom prst="rect">
            <a:avLst/>
          </a:prstGeom>
          <a:solidFill>
            <a:srgbClr val="333333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388620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Q0 (1초 할당)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365760" y="4187952"/>
            <a:ext cx="2926080" cy="256032"/>
          </a:xfrm>
          <a:prstGeom prst="rect">
            <a:avLst/>
          </a:prstGeom>
          <a:solidFill>
            <a:srgbClr val="666666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4187952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Q1 (3초 할당)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365760" y="4489704"/>
            <a:ext cx="2377440" cy="256032"/>
          </a:xfrm>
          <a:prstGeom prst="rect">
            <a:avLst/>
          </a:prstGeom>
          <a:solidFill>
            <a:srgbClr val="999999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448970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Q2 (8초 할당)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365760" y="4791456"/>
            <a:ext cx="1828800" cy="256032"/>
          </a:xfrm>
          <a:prstGeom prst="rect">
            <a:avLst/>
          </a:prstGeom>
          <a:solidFill>
            <a:srgbClr val="CCCCCC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200" y="4791456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Q3 (무제한)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4064508" y="3886200"/>
            <a:ext cx="9144" cy="82296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 rot="10800000">
            <a:off x="3995928" y="4663440"/>
            <a:ext cx="146304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931920" y="4782312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강등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4754880" y="2834640"/>
            <a:ext cx="416052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92040" y="2907792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WFQ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4892040" y="3218688"/>
            <a:ext cx="3886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가중치 비율로 시간 할당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892040" y="3401568"/>
            <a:ext cx="3886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Enterprise가 Free보다 100배 우선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892040" y="3840480"/>
            <a:ext cx="3566160" cy="256032"/>
          </a:xfrm>
          <a:prstGeom prst="rect">
            <a:avLst/>
          </a:prstGeom>
          <a:solidFill>
            <a:srgbClr val="333333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937760" y="384048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Enterprise (w=100)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4892040" y="4160520"/>
            <a:ext cx="2424989" cy="256032"/>
          </a:xfrm>
          <a:prstGeom prst="rect">
            <a:avLst/>
          </a:prstGeom>
          <a:solidFill>
            <a:srgbClr val="666666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937760" y="4160520"/>
            <a:ext cx="242498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Premium (w=50)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4892040" y="4480560"/>
            <a:ext cx="1426464" cy="256032"/>
          </a:xfrm>
          <a:prstGeom prst="rect">
            <a:avLst/>
          </a:prstGeom>
          <a:solidFill>
            <a:srgbClr val="CCCCCC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937760" y="4480560"/>
            <a:ext cx="14264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Standard (w=10)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4892040" y="4800600"/>
            <a:ext cx="784555" cy="256032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937760" y="4800600"/>
            <a:ext cx="7845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Free (w=1)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228600" y="2761488"/>
            <a:ext cx="8686800" cy="22860"/>
          </a:xfrm>
          <a:prstGeom prst="rect">
            <a:avLst/>
          </a:prstGeom>
          <a:solidFill>
            <a:srgbClr val="CCCCC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453128" y="502920"/>
            <a:ext cx="22860" cy="4526280"/>
          </a:xfrm>
          <a:prstGeom prst="rect">
            <a:avLst/>
          </a:prstGeom>
          <a:solidFill>
            <a:srgbClr val="CCCCCC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2. 시스템 아키텍처 (System Architecture)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457200" y="685800"/>
            <a:ext cx="822960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74066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클라이언트 계층 (Client)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82696" y="941832"/>
            <a:ext cx="237744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82696" y="941832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REST Client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769864" y="941832"/>
            <a:ext cx="237744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9864" y="941832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대시보드 (Dashboard)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783080"/>
            <a:ext cx="822960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8379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API 계층 (Express.js + Rate Limiter)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15768" y="2039112"/>
            <a:ext cx="141732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15768" y="203911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 접수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242816" y="2039112"/>
            <a:ext cx="141732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42816" y="203911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스케줄러 전환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769864" y="2039112"/>
            <a:ext cx="141732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69864" y="203911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통계 조회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296912" y="2039112"/>
            <a:ext cx="1417320" cy="384048"/>
          </a:xfrm>
          <a:prstGeom prst="rect">
            <a:avLst/>
          </a:prstGeom>
          <a:solidFill>
            <a:srgbClr val="F5F5F5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96912" y="203911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Rate Limiter (구독 등급·429 응답)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57200" y="2880360"/>
            <a:ext cx="822960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293522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스케줄러 계층 (Scheduler)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15768" y="3136392"/>
            <a:ext cx="141732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15768" y="313639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FCFS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242816" y="3136392"/>
            <a:ext cx="141732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42816" y="313639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Priority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769864" y="3136392"/>
            <a:ext cx="141732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69864" y="313639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MLFQ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296912" y="3136392"/>
            <a:ext cx="141732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96912" y="313639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WFQ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" y="3977640"/>
            <a:ext cx="822960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403250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저장소/LLM 계층 (Storage/LLM)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862072" y="4233672"/>
            <a:ext cx="182880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862072" y="423367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메모리 큐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800600" y="4233672"/>
            <a:ext cx="182880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00600" y="423367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JSON 로그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739128" y="4233672"/>
            <a:ext cx="182880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39128" y="423367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Ollama LLM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110228" y="1417320"/>
            <a:ext cx="9144" cy="18288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rot="10800000">
            <a:off x="4041648" y="1527048"/>
            <a:ext cx="146304" cy="91440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520440" y="141732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4658868" y="1600200"/>
            <a:ext cx="9144" cy="182880"/>
          </a:xfrm>
          <a:prstGeom prst="rect">
            <a:avLst/>
          </a:prstGeom>
          <a:solidFill>
            <a:srgbClr val="6666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590288" y="1417320"/>
            <a:ext cx="146304" cy="91440"/>
          </a:xfrm>
          <a:prstGeom prst="triangle">
            <a:avLst/>
          </a:prstGeom>
          <a:solidFill>
            <a:srgbClr val="666666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166360" y="141732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응답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4110228" y="2514600"/>
            <a:ext cx="9144" cy="18288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rot="10800000">
            <a:off x="4041648" y="2624328"/>
            <a:ext cx="146304" cy="91440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520440" y="251460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4658868" y="2697480"/>
            <a:ext cx="9144" cy="182880"/>
          </a:xfrm>
          <a:prstGeom prst="rect">
            <a:avLst/>
          </a:prstGeom>
          <a:solidFill>
            <a:srgbClr val="6666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590288" y="2514600"/>
            <a:ext cx="146304" cy="91440"/>
          </a:xfrm>
          <a:prstGeom prst="triangle">
            <a:avLst/>
          </a:prstGeom>
          <a:solidFill>
            <a:srgbClr val="666666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166360" y="251460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응답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4110228" y="3611880"/>
            <a:ext cx="9144" cy="18288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 rot="10800000">
            <a:off x="4041648" y="3721608"/>
            <a:ext cx="146304" cy="91440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520440" y="361188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4658868" y="3794760"/>
            <a:ext cx="9144" cy="182880"/>
          </a:xfrm>
          <a:prstGeom prst="rect">
            <a:avLst/>
          </a:prstGeom>
          <a:solidFill>
            <a:srgbClr val="6666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590288" y="3611880"/>
            <a:ext cx="146304" cy="91440"/>
          </a:xfrm>
          <a:prstGeom prst="triangle">
            <a:avLst/>
          </a:prstGeom>
          <a:solidFill>
            <a:srgbClr val="666666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166360" y="361188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응답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 데이터 흐름도 (Data Flow)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274320" y="640080"/>
            <a:ext cx="18288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요청 전송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12070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POST /api/requests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103120" y="1092708"/>
            <a:ext cx="137160" cy="9144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5400000">
            <a:off x="2194560" y="1042416"/>
            <a:ext cx="91440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0" y="640080"/>
            <a:ext cx="18288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0" y="7315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입력 검증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286000" y="12070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API 계층 처리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114800" y="1092708"/>
            <a:ext cx="137160" cy="9144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5400000">
            <a:off x="4206240" y="1042416"/>
            <a:ext cx="91440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97680" y="640080"/>
            <a:ext cx="18288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97680" y="7315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Rate Limiter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(구독 등급 확인)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297680" y="12070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429 or PASS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126480" y="1092708"/>
            <a:ext cx="137160" cy="9144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rot="5400000">
            <a:off x="6217920" y="1042416"/>
            <a:ext cx="91440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09360" y="640080"/>
            <a:ext cx="18288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0" y="7315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큐 등록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309360" y="12070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enqueue()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219188" y="1554480"/>
            <a:ext cx="9144" cy="59436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rot="10800000">
            <a:off x="7159752" y="2130552"/>
            <a:ext cx="128016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86000" y="2240280"/>
            <a:ext cx="18288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86000" y="23317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스케줄링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286000" y="28072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dequeue()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297680" y="2240280"/>
            <a:ext cx="18288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97680" y="23317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 LLM 처리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297680" y="28072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Ollama API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309360" y="2240280"/>
            <a:ext cx="18288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09360" y="23317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 결과 반환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JSON 기록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309360" y="28072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COMPLETED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114800" y="2692908"/>
            <a:ext cx="137160" cy="9144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rot="16200000">
            <a:off x="4114800" y="2642616"/>
            <a:ext cx="91440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126480" y="2692908"/>
            <a:ext cx="137160" cy="9144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rot="16200000">
            <a:off x="6126480" y="2642616"/>
            <a:ext cx="91440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207508" y="1554480"/>
            <a:ext cx="9144" cy="41148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389120" y="1993392"/>
            <a:ext cx="164592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333333"/>
            </a:solidFill>
            <a:prstDash val="dash"/>
          </a:ln>
        </p:spPr>
      </p:sp>
      <p:sp>
        <p:nvSpPr>
          <p:cNvPr id="38" name="Text 36"/>
          <p:cNvSpPr/>
          <p:nvPr/>
        </p:nvSpPr>
        <p:spPr>
          <a:xfrm>
            <a:off x="4389120" y="1993392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429 Too Many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Requests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274320" y="2240280"/>
            <a:ext cx="1691640" cy="914400"/>
          </a:xfrm>
          <a:prstGeom prst="rect">
            <a:avLst/>
          </a:prstGeom>
          <a:solidFill>
            <a:srgbClr val="F5F5F5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0040" y="2286000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 수명 주기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47472" y="2514600"/>
            <a:ext cx="1554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PENDING →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347472" y="2670048"/>
            <a:ext cx="1554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QUEUED →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347472" y="2825496"/>
            <a:ext cx="1554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PROCESSING →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347472" y="2980944"/>
            <a:ext cx="1554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COMPLETED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4. 모듈 구조도 (Module Structure)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3474720" y="594360"/>
            <a:ext cx="2194560" cy="457200"/>
          </a:xfrm>
          <a:prstGeom prst="rect">
            <a:avLst/>
          </a:prstGeom>
          <a:solidFill>
            <a:srgbClr val="333333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0" y="5943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server.js (진입점)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28600" y="1691640"/>
            <a:ext cx="1554480" cy="777240"/>
          </a:xfrm>
          <a:prstGeom prst="rect">
            <a:avLst/>
          </a:prstGeom>
          <a:solidFill>
            <a:srgbClr val="F5F5F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69164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api/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(라우터)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965960" y="1691640"/>
            <a:ext cx="1554480" cy="777240"/>
          </a:xfrm>
          <a:prstGeom prst="rect">
            <a:avLst/>
          </a:prstGeom>
          <a:solidFill>
            <a:srgbClr val="F5F5F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65960" y="169164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schedulers/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(FCFS, Priority, MLFQ, WFQ)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886200" y="1691640"/>
            <a:ext cx="1554480" cy="777240"/>
          </a:xfrm>
          <a:prstGeom prst="rect">
            <a:avLst/>
          </a:prstGeom>
          <a:solidFill>
            <a:srgbClr val="F5F5F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86200" y="169164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queue/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(메모리 큐)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623560" y="1691640"/>
            <a:ext cx="1554480" cy="777240"/>
          </a:xfrm>
          <a:prstGeom prst="rect">
            <a:avLst/>
          </a:prstGeom>
          <a:solidFill>
            <a:srgbClr val="F5F5F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23560" y="169164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storage/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(JSON 저장)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360920" y="1691640"/>
            <a:ext cx="1554480" cy="777240"/>
          </a:xfrm>
          <a:prstGeom prst="rect">
            <a:avLst/>
          </a:prstGeom>
          <a:solidFill>
            <a:srgbClr val="F5F5F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60920" y="169164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llm/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(Ollama 연동)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67428" y="1051560"/>
            <a:ext cx="9144" cy="32004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05840" y="1367028"/>
            <a:ext cx="7132320" cy="9144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01268" y="1371600"/>
            <a:ext cx="9144" cy="22860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rot="10800000">
            <a:off x="941832" y="1581912"/>
            <a:ext cx="128016" cy="109728"/>
          </a:xfrm>
          <a:prstGeom prst="triangle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38628" y="1371600"/>
            <a:ext cx="9144" cy="22860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rot="10800000">
            <a:off x="2679192" y="1581912"/>
            <a:ext cx="128016" cy="109728"/>
          </a:xfrm>
          <a:prstGeom prst="triangle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58868" y="1371600"/>
            <a:ext cx="9144" cy="22860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rot="10800000">
            <a:off x="4599432" y="1581912"/>
            <a:ext cx="128016" cy="109728"/>
          </a:xfrm>
          <a:prstGeom prst="triangle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96228" y="1371600"/>
            <a:ext cx="9144" cy="22860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rot="10800000">
            <a:off x="6336792" y="1581912"/>
            <a:ext cx="128016" cy="109728"/>
          </a:xfrm>
          <a:prstGeom prst="triangle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33588" y="1371600"/>
            <a:ext cx="9144" cy="22860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rot="10800000">
            <a:off x="8074152" y="1581912"/>
            <a:ext cx="128016" cy="109728"/>
          </a:xfrm>
          <a:prstGeom prst="triangle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508760" y="2560320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호출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3337560" y="2560320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228600" y="2926080"/>
            <a:ext cx="1554480" cy="548640"/>
          </a:xfrm>
          <a:prstGeom prst="rect">
            <a:avLst/>
          </a:prstGeom>
          <a:solidFill>
            <a:srgbClr val="F5F5F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28600" y="292608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rate-limiter/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(요청 제한)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560320" y="3703320"/>
            <a:ext cx="402336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333333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2560320" y="370332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tests-simple/ (Jest 단위 테스트)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74320" y="4206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화살표: 의존 관계 (호출 방향) | 점선: 테스트 전용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45720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5. 실험 환경 구성도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3154680" y="502920"/>
            <a:ext cx="2651760" cy="502920"/>
          </a:xfrm>
          <a:prstGeom prst="rect">
            <a:avLst/>
          </a:prstGeom>
          <a:solidFill>
            <a:srgbClr val="333333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154680" y="50292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 생성 (Request Generator)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595628" y="1005840"/>
            <a:ext cx="9144" cy="36576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0800000">
            <a:off x="1536192" y="1353312"/>
            <a:ext cx="128016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475988" y="1005840"/>
            <a:ext cx="9144" cy="36576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10800000">
            <a:off x="4416552" y="1353312"/>
            <a:ext cx="128016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56348" y="1005840"/>
            <a:ext cx="9144" cy="36576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10800000">
            <a:off x="7296912" y="1353312"/>
            <a:ext cx="128016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8600" y="1463040"/>
            <a:ext cx="27432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5087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 실험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74320" y="178308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500건, 4테넌트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순차 도착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74320" y="2121408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엔진: 시뮬레이션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108960" y="1463040"/>
            <a:ext cx="27432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54680" y="15087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MLFQ 선점형 실험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154680" y="178308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500건 × 5시드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버스트 패턴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154680" y="2121408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엔진: 시뮬레이션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989320" y="1463040"/>
            <a:ext cx="27432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35040" y="15087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실서버 실험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035040" y="178308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20건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Ollama llama3.2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035040" y="2121408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엔진: Ollama LLM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1595628" y="2331720"/>
            <a:ext cx="9144" cy="13716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rot="10800000">
            <a:off x="1536192" y="2450592"/>
            <a:ext cx="128016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75988" y="2331720"/>
            <a:ext cx="9144" cy="13716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rot="10800000">
            <a:off x="4416552" y="2450592"/>
            <a:ext cx="128016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356348" y="2331720"/>
            <a:ext cx="9144" cy="13716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rot="10800000">
            <a:off x="7296912" y="2450592"/>
            <a:ext cx="128016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28600" y="2560320"/>
            <a:ext cx="8686800" cy="658368"/>
          </a:xfrm>
          <a:prstGeom prst="rect">
            <a:avLst/>
          </a:prstGeom>
          <a:solidFill>
            <a:srgbClr val="F5F5F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2596896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스케줄러 계층 (Scheduler Layer)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645920" y="2862072"/>
            <a:ext cx="13716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645920" y="286207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FCFS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291840" y="2862072"/>
            <a:ext cx="13716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91840" y="286207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Priority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937760" y="2862072"/>
            <a:ext cx="13716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37760" y="286207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MLFQ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583680" y="2862072"/>
            <a:ext cx="13716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83680" y="286207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WFQ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430268" y="3218688"/>
            <a:ext cx="9144" cy="27432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rot="10800000">
            <a:off x="4370832" y="3419856"/>
            <a:ext cx="128016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28600" y="3520440"/>
            <a:ext cx="8686800" cy="566928"/>
          </a:xfrm>
          <a:prstGeom prst="rect">
            <a:avLst/>
          </a:prstGeom>
          <a:solidFill>
            <a:srgbClr val="F5F5F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3520440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 측정: 평균 대기시간 · JFI · 요청 유형별 응답시간 · JSON 로그 기록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6. 알고리즘별 평균 대기시간 비교 (ms)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274320" y="475488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 실험 500건 | 4개 테넌트 | 순차 도착</a:t>
            </a:r>
            <a:endParaRPr lang="en-US" sz="9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777240"/>
          <a:ext cx="822960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7. MLFQ 선점형 vs FCFS — 요청 유형별 응답시간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274320" y="475488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5회 반복 (다중 시드) | 버스트 패턴 | 단위: 초(s)</a:t>
            </a:r>
            <a:endParaRPr lang="en-US" sz="9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777240"/>
          <a:ext cx="777240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8. 실서버 구독 등급별 평균 대기시간 (ms)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274320" y="475488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Ollama 실서버 실험 20건 | 단위: ms</a:t>
            </a:r>
            <a:endParaRPr lang="en-US" sz="9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777240"/>
          <a:ext cx="82296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9. 알고리즘별 Jain's Fairness Index (JFI) 비교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274320" y="475488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JFI = 1.0이 완전 공정, 낮을수록 불공평</a:t>
            </a:r>
            <a:endParaRPr lang="en-US" sz="9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777240"/>
          <a:ext cx="822960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82803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── 1.0 (이상적 공정성)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최종보고서 그림</dc:title>
  <dc:subject>PptxGenJS Presentation</dc:subject>
  <dc:creator>서민지 (C235180)</dc:creator>
  <cp:lastModifiedBy>서민지 (C235180)</cp:lastModifiedBy>
  <cp:revision>1</cp:revision>
  <dcterms:created xsi:type="dcterms:W3CDTF">2026-04-16T01:46:24Z</dcterms:created>
  <dcterms:modified xsi:type="dcterms:W3CDTF">2026-04-16T01:46:24Z</dcterms:modified>
</cp:coreProperties>
</file>