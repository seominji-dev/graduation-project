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5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6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7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8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평균 대기시간 (ms)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563E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9770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B82F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59669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FCFS</c:v>
                  </c:pt>
                  <c:pt idx="1">
                    <c:v>Priority</c:v>
                  </c:pt>
                  <c:pt idx="2">
                    <c:v>MLFQ</c:v>
                  </c:pt>
                  <c:pt idx="3">
                    <c:v>WFQ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12203</c:v>
                </c:pt>
                <c:pt idx="1">
                  <c:v>12419</c:v>
                </c:pt>
                <c:pt idx="2">
                  <c:v>12203</c:v>
                </c:pt>
                <c:pt idx="3">
                  <c:v>11846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EEEEE"/>
              </a:solidFill>
              <a:prstDash val="dash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FCFS</c:v>
                </c:pt>
              </c:strCache>
            </c:strRef>
          </c:tx>
          <c:spPr>
            <a:solidFill>
              <a:srgbClr val="B0BEC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짧은 요청 (Short)</c:v>
                  </c:pt>
                  <c:pt idx="1">
                    <c:v>중간 요청 (Medium)</c:v>
                  </c:pt>
                  <c:pt idx="2">
                    <c:v>긴 요청 (Long)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635</c:v>
                </c:pt>
                <c:pt idx="1">
                  <c:v>645</c:v>
                </c:pt>
                <c:pt idx="2">
                  <c:v>650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MLFQ (선점형)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짧은 요청 (Short)</c:v>
                  </c:pt>
                  <c:pt idx="1">
                    <c:v>중간 요청 (Medium)</c:v>
                  </c:pt>
                  <c:pt idx="2">
                    <c:v>긴 요청 (Long)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170</c:v>
                </c:pt>
                <c:pt idx="1">
                  <c:v>729</c:v>
                </c:pt>
                <c:pt idx="2">
                  <c:v>1226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EEEEE"/>
              </a:solidFill>
              <a:prstDash val="dash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FCFS</c:v>
                </c:pt>
              </c:strCache>
            </c:strRef>
          </c:tx>
          <c:spPr>
            <a:solidFill>
              <a:srgbClr val="64748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Enterprise</c:v>
                  </c:pt>
                  <c:pt idx="1">
                    <c:v>Premium</c:v>
                  </c:pt>
                  <c:pt idx="2">
                    <c:v>Standard</c:v>
                  </c:pt>
                  <c:pt idx="3">
                    <c:v>Free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232</c:v>
                </c:pt>
                <c:pt idx="1">
                  <c:v>810</c:v>
                </c:pt>
                <c:pt idx="2">
                  <c:v>1414</c:v>
                </c:pt>
                <c:pt idx="3">
                  <c:v>2024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Priority</c:v>
                </c:pt>
              </c:strCache>
            </c:strRef>
          </c:tx>
          <c:spPr>
            <a:solidFill>
              <a:srgbClr val="D9770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Enterprise</c:v>
                  </c:pt>
                  <c:pt idx="1">
                    <c:v>Premium</c:v>
                  </c:pt>
                  <c:pt idx="2">
                    <c:v>Standard</c:v>
                  </c:pt>
                  <c:pt idx="3">
                    <c:v>Free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379</c:v>
                </c:pt>
                <c:pt idx="1">
                  <c:v>755</c:v>
                </c:pt>
                <c:pt idx="2">
                  <c:v>1427</c:v>
                </c:pt>
                <c:pt idx="3">
                  <c:v>1887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WFQ</c:v>
                </c:pt>
              </c:strCache>
            </c:strRef>
          </c:tx>
          <c:spPr>
            <a:solidFill>
              <a:srgbClr val="05966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Enterprise</c:v>
                  </c:pt>
                  <c:pt idx="1">
                    <c:v>Premium</c:v>
                  </c:pt>
                  <c:pt idx="2">
                    <c:v>Standard</c:v>
                  </c:pt>
                  <c:pt idx="3">
                    <c:v>Free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241</c:v>
                </c:pt>
                <c:pt idx="1">
                  <c:v>821</c:v>
                </c:pt>
                <c:pt idx="2">
                  <c:v>1392</c:v>
                </c:pt>
                <c:pt idx="3">
                  <c:v>1985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EEEEE"/>
              </a:solidFill>
              <a:prstDash val="dash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JFI (Jain's Fairness Index)</c:v>
                </c:pt>
              </c:strCache>
            </c:strRef>
          </c:tx>
          <c:spPr>
            <a:solidFill>
              <a:srgbClr val="05966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59669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9669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59669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FCFS</c:v>
                  </c:pt>
                  <c:pt idx="1">
                    <c:v>Priority</c:v>
                  </c:pt>
                  <c:pt idx="2">
                    <c:v>MLFQ</c:v>
                  </c:pt>
                  <c:pt idx="3">
                    <c:v>WFQ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0.316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2"/>
          <c:min val="0"/>
        </c:scaling>
        <c:delete val="0"/>
        <c:axPos val="l"/>
        <c:majorGridlines>
          <c:spPr>
            <a:ln w="6350" cap="flat">
              <a:solidFill>
                <a:srgbClr val="EEEEEE"/>
              </a:solidFill>
              <a:prstDash val="dash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1. 스케줄링 알고리즘 개념 비교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274320" y="685800"/>
            <a:ext cx="4206240" cy="2103120"/>
          </a:xfrm>
          <a:prstGeom prst="roundRect">
            <a:avLst>
              <a:gd name="adj" fmla="val 5217"/>
            </a:avLst>
          </a:prstGeom>
          <a:solidFill>
            <a:srgbClr val="2563EB">
              <a:alpha val="7000"/>
            </a:srgbClr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7724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FCFS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11480" y="10972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도착 순서대로 처리</a:t>
            </a:r>
            <a:endParaRPr lang="en-US" sz="900" dirty="0"/>
          </a:p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선착순 단순 대기열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645920"/>
            <a:ext cx="640080" cy="502920"/>
          </a:xfrm>
          <a:prstGeom prst="rect">
            <a:avLst/>
          </a:prstGeom>
          <a:solidFill>
            <a:srgbClr val="2563EB">
              <a:alpha val="25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64592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234440" y="1645920"/>
            <a:ext cx="640080" cy="502920"/>
          </a:xfrm>
          <a:prstGeom prst="rect">
            <a:avLst/>
          </a:prstGeom>
          <a:solidFill>
            <a:srgbClr val="2563EB">
              <a:alpha val="25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34440" y="164592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R2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011680" y="1645920"/>
            <a:ext cx="640080" cy="502920"/>
          </a:xfrm>
          <a:prstGeom prst="rect">
            <a:avLst/>
          </a:prstGeom>
          <a:solidFill>
            <a:srgbClr val="2563EB">
              <a:alpha val="25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11680" y="164592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R3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88920" y="1645920"/>
            <a:ext cx="640080" cy="502920"/>
          </a:xfrm>
          <a:prstGeom prst="rect">
            <a:avLst/>
          </a:prstGeom>
          <a:solidFill>
            <a:srgbClr val="2563EB">
              <a:alpha val="25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88920" y="164592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R4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566160" y="1737360"/>
            <a:ext cx="457200" cy="320040"/>
          </a:xfrm>
          <a:prstGeom prst="rightArrow">
            <a:avLst/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3566160" y="21031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663440" y="685800"/>
            <a:ext cx="4206240" cy="2103120"/>
          </a:xfrm>
          <a:prstGeom prst="roundRect">
            <a:avLst>
              <a:gd name="adj" fmla="val 5217"/>
            </a:avLst>
          </a:prstGeom>
          <a:solidFill>
            <a:srgbClr val="D97706">
              <a:alpha val="7000"/>
            </a:srgbClr>
          </a:solidFill>
          <a:ln w="2540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77724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Priority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00600" y="10972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우선순위 높은 요청 선처리</a:t>
            </a:r>
            <a:endParaRPr lang="en-US" sz="900" dirty="0"/>
          </a:p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(urgent → high → normal → low)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846320" y="1645920"/>
            <a:ext cx="777240" cy="502920"/>
          </a:xfrm>
          <a:prstGeom prst="rect">
            <a:avLst/>
          </a:prstGeom>
          <a:solidFill>
            <a:srgbClr val="DC2626">
              <a:alpha val="25000"/>
            </a:srgbClr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1645920"/>
            <a:ext cx="777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URG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46320" y="2194560"/>
            <a:ext cx="777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P1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5760720" y="1645920"/>
            <a:ext cx="777240" cy="502920"/>
          </a:xfrm>
          <a:prstGeom prst="rect">
            <a:avLst/>
          </a:prstGeom>
          <a:solidFill>
            <a:srgbClr val="D97706">
              <a:alpha val="25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60720" y="1645920"/>
            <a:ext cx="777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HIGH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760720" y="2194560"/>
            <a:ext cx="777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P2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675120" y="1645920"/>
            <a:ext cx="777240" cy="502920"/>
          </a:xfrm>
          <a:prstGeom prst="rect">
            <a:avLst/>
          </a:prstGeom>
          <a:solidFill>
            <a:srgbClr val="059669">
              <a:alpha val="2500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75120" y="1645920"/>
            <a:ext cx="777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NORM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675120" y="2194560"/>
            <a:ext cx="777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P3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7589520" y="1645920"/>
            <a:ext cx="777240" cy="502920"/>
          </a:xfrm>
          <a:prstGeom prst="rect">
            <a:avLst/>
          </a:prstGeom>
          <a:solidFill>
            <a:srgbClr val="64748B">
              <a:alpha val="25000"/>
            </a:srgbClr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589520" y="1645920"/>
            <a:ext cx="777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LOW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589520" y="2194560"/>
            <a:ext cx="777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P4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274320" y="2926080"/>
            <a:ext cx="4206240" cy="2103120"/>
          </a:xfrm>
          <a:prstGeom prst="roundRect">
            <a:avLst>
              <a:gd name="adj" fmla="val 5217"/>
            </a:avLst>
          </a:prstGeom>
          <a:solidFill>
            <a:srgbClr val="2563EB">
              <a:alpha val="7000"/>
            </a:srgbClr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1480" y="301752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MLFQ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11480" y="33375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짧은 요청은 상위 큐 유지</a:t>
            </a:r>
            <a:endParaRPr lang="en-US" sz="900" dirty="0"/>
          </a:p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긴 요청은 하위 큐로 강등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57200" y="3840480"/>
            <a:ext cx="3474720" cy="292608"/>
          </a:xfrm>
          <a:prstGeom prst="rect">
            <a:avLst/>
          </a:prstGeom>
          <a:solidFill>
            <a:srgbClr val="2563EB">
              <a:alpha val="20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384048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Q0 (1초 할당)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57200" y="4206240"/>
            <a:ext cx="2926080" cy="292608"/>
          </a:xfrm>
          <a:prstGeom prst="rect">
            <a:avLst/>
          </a:prstGeom>
          <a:solidFill>
            <a:srgbClr val="3B82F6">
              <a:alpha val="2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8640" y="420624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Q1 (3초 할당)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57200" y="4572000"/>
            <a:ext cx="2377440" cy="292608"/>
          </a:xfrm>
          <a:prstGeom prst="rect">
            <a:avLst/>
          </a:prstGeom>
          <a:solidFill>
            <a:srgbClr val="60A5FA">
              <a:alpha val="20000"/>
            </a:srgbClr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8640" y="457200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0A5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Q2 (무제한)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3840480" y="3931920"/>
            <a:ext cx="320040" cy="822960"/>
          </a:xfrm>
          <a:prstGeom prst="downArrow">
            <a:avLst/>
          </a:prstGeom>
          <a:solidFill>
            <a:srgbClr val="CBD5E1"/>
          </a:solidFill>
          <a:ln/>
        </p:spPr>
      </p:sp>
      <p:sp>
        <p:nvSpPr>
          <p:cNvPr id="41" name="Text 39"/>
          <p:cNvSpPr/>
          <p:nvPr/>
        </p:nvSpPr>
        <p:spPr>
          <a:xfrm>
            <a:off x="3657600" y="4754880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강등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4663440" y="2926080"/>
            <a:ext cx="4206240" cy="2103120"/>
          </a:xfrm>
          <a:prstGeom prst="roundRect">
            <a:avLst>
              <a:gd name="adj" fmla="val 5217"/>
            </a:avLst>
          </a:prstGeom>
          <a:solidFill>
            <a:srgbClr val="059669">
              <a:alpha val="7000"/>
            </a:srgbClr>
          </a:solidFill>
          <a:ln w="25400">
            <a:solidFill>
              <a:srgbClr val="05966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00600" y="301752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WFQ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4800600" y="33375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가중치 비율로 시간 할당</a:t>
            </a:r>
            <a:endParaRPr lang="en-US" sz="900" dirty="0"/>
          </a:p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Enterprise가 Free보다 100배 우선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846320" y="3840480"/>
            <a:ext cx="3474720" cy="246888"/>
          </a:xfrm>
          <a:prstGeom prst="rect">
            <a:avLst/>
          </a:prstGeom>
          <a:solidFill>
            <a:srgbClr val="059669">
              <a:alpha val="2800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92040" y="3840480"/>
            <a:ext cx="3474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Enterprise (w=100)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4846320" y="4142232"/>
            <a:ext cx="2362810" cy="246888"/>
          </a:xfrm>
          <a:prstGeom prst="rect">
            <a:avLst/>
          </a:prstGeom>
          <a:solidFill>
            <a:srgbClr val="059669">
              <a:alpha val="2300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92040" y="4142232"/>
            <a:ext cx="236281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Premium (w=50)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4846320" y="4443984"/>
            <a:ext cx="1389888" cy="246888"/>
          </a:xfrm>
          <a:prstGeom prst="rect">
            <a:avLst/>
          </a:prstGeom>
          <a:solidFill>
            <a:srgbClr val="059669">
              <a:alpha val="1800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892040" y="4443984"/>
            <a:ext cx="138988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Standard (w=10)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4846320" y="4745736"/>
            <a:ext cx="764438" cy="246888"/>
          </a:xfrm>
          <a:prstGeom prst="rect">
            <a:avLst/>
          </a:prstGeom>
          <a:solidFill>
            <a:srgbClr val="059669">
              <a:alpha val="1300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892040" y="4745736"/>
            <a:ext cx="76443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Free (w=1)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274320" y="2816352"/>
            <a:ext cx="859536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434840" y="685800"/>
            <a:ext cx="22860" cy="4343400"/>
          </a:xfrm>
          <a:prstGeom prst="rect">
            <a:avLst/>
          </a:prstGeom>
          <a:solidFill>
            <a:srgbClr val="CBD5E1"/>
          </a:solidFill>
          <a:ln w="1270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2. 시스템 아키텍처 (System Architecture)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548640" y="685800"/>
            <a:ext cx="8046720" cy="749808"/>
          </a:xfrm>
          <a:prstGeom prst="roundRect">
            <a:avLst>
              <a:gd name="adj" fmla="val 12195"/>
            </a:avLst>
          </a:prstGeom>
          <a:solidFill>
            <a:srgbClr val="2563EB">
              <a:alpha val="12000"/>
            </a:srgbClr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731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클라이언트 계층 (Client)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874520" y="1014984"/>
            <a:ext cx="256032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74520" y="1014984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REST Client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617720" y="1014984"/>
            <a:ext cx="256032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17720" y="1014984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대시보드 (Dashboard)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600200"/>
            <a:ext cx="8046720" cy="749808"/>
          </a:xfrm>
          <a:prstGeom prst="roundRect">
            <a:avLst>
              <a:gd name="adj" fmla="val 12195"/>
            </a:avLst>
          </a:prstGeom>
          <a:solidFill>
            <a:srgbClr val="059669">
              <a:alpha val="12000"/>
            </a:srgbClr>
          </a:solidFill>
          <a:ln w="25400">
            <a:solidFill>
              <a:srgbClr val="0596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6459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API 계층 (Express.js)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325880" y="1929384"/>
            <a:ext cx="201168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5240">
            <a:solidFill>
              <a:srgbClr val="0596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25880" y="1929384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요청 접수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520440" y="1929384"/>
            <a:ext cx="201168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5240">
            <a:solidFill>
              <a:srgbClr val="0596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20440" y="1929384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스케줄러 전환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715000" y="1929384"/>
            <a:ext cx="201168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5240">
            <a:solidFill>
              <a:srgbClr val="0596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15000" y="1929384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통계 조회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48640" y="2514600"/>
            <a:ext cx="8046720" cy="749808"/>
          </a:xfrm>
          <a:prstGeom prst="roundRect">
            <a:avLst>
              <a:gd name="adj" fmla="val 12195"/>
            </a:avLst>
          </a:prstGeom>
          <a:solidFill>
            <a:srgbClr val="DC2626">
              <a:alpha val="12000"/>
            </a:srgbClr>
          </a:solidFill>
          <a:ln w="254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2560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요청 제한 계층 (Rate Limiter)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325880" y="2843784"/>
            <a:ext cx="201168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5240">
            <a:solidFill>
              <a:srgbClr val="DC262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325880" y="2843784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구독 등급 확인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520440" y="2843784"/>
            <a:ext cx="201168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524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20440" y="2843784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토큰 버킷 제어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715000" y="2843784"/>
            <a:ext cx="201168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5240">
            <a:solidFill>
              <a:srgbClr val="DC262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715000" y="2843784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429 응답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48640" y="3429000"/>
            <a:ext cx="8046720" cy="749808"/>
          </a:xfrm>
          <a:prstGeom prst="roundRect">
            <a:avLst>
              <a:gd name="adj" fmla="val 12195"/>
            </a:avLst>
          </a:prstGeom>
          <a:solidFill>
            <a:srgbClr val="D97706">
              <a:alpha val="12000"/>
            </a:srgbClr>
          </a:solidFill>
          <a:ln w="25400">
            <a:solidFill>
              <a:srgbClr val="D9770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34747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스케줄러 계층 (Scheduler)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143000" y="3758184"/>
            <a:ext cx="155448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5240">
            <a:solidFill>
              <a:srgbClr val="D9770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143000" y="3758184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FCFS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880360" y="3758184"/>
            <a:ext cx="155448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5240">
            <a:solidFill>
              <a:srgbClr val="D9770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880360" y="3758184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Priority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617720" y="3758184"/>
            <a:ext cx="155448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5240">
            <a:solidFill>
              <a:srgbClr val="D9770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17720" y="3758184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MLFQ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355080" y="3758184"/>
            <a:ext cx="155448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5240">
            <a:solidFill>
              <a:srgbClr val="D9770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55080" y="3758184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WFQ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48640" y="4343400"/>
            <a:ext cx="8046720" cy="749808"/>
          </a:xfrm>
          <a:prstGeom prst="roundRect">
            <a:avLst>
              <a:gd name="adj" fmla="val 12195"/>
            </a:avLst>
          </a:prstGeom>
          <a:solidFill>
            <a:srgbClr val="64748B">
              <a:alpha val="12000"/>
            </a:srgbClr>
          </a:solidFill>
          <a:ln w="25400">
            <a:solidFill>
              <a:srgbClr val="64748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31520" y="43891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저장소/LLM 계층 (Storage/LLM)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1325880" y="4672584"/>
            <a:ext cx="201168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5240">
            <a:solidFill>
              <a:srgbClr val="64748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325880" y="4672584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메모리 큐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520440" y="4672584"/>
            <a:ext cx="201168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5240">
            <a:solidFill>
              <a:srgbClr val="64748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520440" y="4672584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JSON 로그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715000" y="4672584"/>
            <a:ext cx="201168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5240">
            <a:solidFill>
              <a:srgbClr val="64748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715000" y="4672584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Ollama LLM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886200" y="1435608"/>
            <a:ext cx="365760" cy="182880"/>
          </a:xfrm>
          <a:prstGeom prst="downArrow">
            <a:avLst/>
          </a:prstGeom>
          <a:solidFill>
            <a:srgbClr val="2563EB"/>
          </a:solidFill>
          <a:ln/>
        </p:spPr>
      </p:sp>
      <p:sp>
        <p:nvSpPr>
          <p:cNvPr id="44" name="Text 42"/>
          <p:cNvSpPr/>
          <p:nvPr/>
        </p:nvSpPr>
        <p:spPr>
          <a:xfrm>
            <a:off x="3337560" y="1417320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요청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4892040" y="1435608"/>
            <a:ext cx="365760" cy="182880"/>
          </a:xfrm>
          <a:prstGeom prst="upArrow">
            <a:avLst/>
          </a:prstGeom>
          <a:solidFill>
            <a:srgbClr val="059669"/>
          </a:solidFill>
          <a:ln/>
        </p:spPr>
      </p:sp>
      <p:sp>
        <p:nvSpPr>
          <p:cNvPr id="46" name="Text 44"/>
          <p:cNvSpPr/>
          <p:nvPr/>
        </p:nvSpPr>
        <p:spPr>
          <a:xfrm>
            <a:off x="5303520" y="1417320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응답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3886200" y="2350008"/>
            <a:ext cx="365760" cy="182880"/>
          </a:xfrm>
          <a:prstGeom prst="downArrow">
            <a:avLst/>
          </a:prstGeom>
          <a:solidFill>
            <a:srgbClr val="059669"/>
          </a:solidFill>
          <a:ln/>
        </p:spPr>
      </p:sp>
      <p:sp>
        <p:nvSpPr>
          <p:cNvPr id="48" name="Text 46"/>
          <p:cNvSpPr/>
          <p:nvPr/>
        </p:nvSpPr>
        <p:spPr>
          <a:xfrm>
            <a:off x="3337560" y="2331720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요청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4892040" y="2350008"/>
            <a:ext cx="365760" cy="182880"/>
          </a:xfrm>
          <a:prstGeom prst="upArrow">
            <a:avLst/>
          </a:prstGeom>
          <a:solidFill>
            <a:srgbClr val="DC2626"/>
          </a:solidFill>
          <a:ln/>
        </p:spPr>
      </p:sp>
      <p:sp>
        <p:nvSpPr>
          <p:cNvPr id="50" name="Text 48"/>
          <p:cNvSpPr/>
          <p:nvPr/>
        </p:nvSpPr>
        <p:spPr>
          <a:xfrm>
            <a:off x="5303520" y="2331720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응답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3886200" y="3264408"/>
            <a:ext cx="365760" cy="182880"/>
          </a:xfrm>
          <a:prstGeom prst="downArrow">
            <a:avLst/>
          </a:prstGeom>
          <a:solidFill>
            <a:srgbClr val="DC2626"/>
          </a:solidFill>
          <a:ln/>
        </p:spPr>
      </p:sp>
      <p:sp>
        <p:nvSpPr>
          <p:cNvPr id="52" name="Text 50"/>
          <p:cNvSpPr/>
          <p:nvPr/>
        </p:nvSpPr>
        <p:spPr>
          <a:xfrm>
            <a:off x="3337560" y="3246120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요청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4892040" y="3264408"/>
            <a:ext cx="365760" cy="182880"/>
          </a:xfrm>
          <a:prstGeom prst="upArrow">
            <a:avLst/>
          </a:prstGeom>
          <a:solidFill>
            <a:srgbClr val="D97706"/>
          </a:solidFill>
          <a:ln/>
        </p:spPr>
      </p:sp>
      <p:sp>
        <p:nvSpPr>
          <p:cNvPr id="54" name="Text 52"/>
          <p:cNvSpPr/>
          <p:nvPr/>
        </p:nvSpPr>
        <p:spPr>
          <a:xfrm>
            <a:off x="5303520" y="3246120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977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응답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3886200" y="4178808"/>
            <a:ext cx="365760" cy="182880"/>
          </a:xfrm>
          <a:prstGeom prst="downArrow">
            <a:avLst/>
          </a:prstGeom>
          <a:solidFill>
            <a:srgbClr val="D97706"/>
          </a:solidFill>
          <a:ln/>
        </p:spPr>
      </p:sp>
      <p:sp>
        <p:nvSpPr>
          <p:cNvPr id="56" name="Text 54"/>
          <p:cNvSpPr/>
          <p:nvPr/>
        </p:nvSpPr>
        <p:spPr>
          <a:xfrm>
            <a:off x="3337560" y="4160520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977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요청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4892040" y="4178808"/>
            <a:ext cx="365760" cy="182880"/>
          </a:xfrm>
          <a:prstGeom prst="upArrow">
            <a:avLst/>
          </a:prstGeom>
          <a:solidFill>
            <a:srgbClr val="64748B"/>
          </a:solidFill>
          <a:ln/>
        </p:spPr>
      </p:sp>
      <p:sp>
        <p:nvSpPr>
          <p:cNvPr id="58" name="Text 56"/>
          <p:cNvSpPr/>
          <p:nvPr/>
        </p:nvSpPr>
        <p:spPr>
          <a:xfrm>
            <a:off x="5303520" y="4160520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응답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 데이터 흐름도 (Data Flow)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320040" y="685800"/>
            <a:ext cx="1828800" cy="1005840"/>
          </a:xfrm>
          <a:prstGeom prst="roundRect">
            <a:avLst>
              <a:gd name="adj" fmla="val 9091"/>
            </a:avLst>
          </a:prstGeom>
          <a:solidFill>
            <a:srgbClr val="2563EB">
              <a:alpha val="15000"/>
            </a:srgbClr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772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요청 전송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12801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POST /api/requests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148840" y="1005840"/>
            <a:ext cx="228600" cy="256032"/>
          </a:xfrm>
          <a:prstGeom prst="rightArrow">
            <a:avLst/>
          </a:prstGeom>
          <a:solidFill>
            <a:srgbClr val="CBD5E1"/>
          </a:solidFill>
          <a:ln/>
        </p:spPr>
      </p:sp>
      <p:sp>
        <p:nvSpPr>
          <p:cNvPr id="7" name="Shape 5"/>
          <p:cNvSpPr/>
          <p:nvPr/>
        </p:nvSpPr>
        <p:spPr>
          <a:xfrm>
            <a:off x="2377440" y="685800"/>
            <a:ext cx="1828800" cy="1005840"/>
          </a:xfrm>
          <a:prstGeom prst="roundRect">
            <a:avLst>
              <a:gd name="adj" fmla="val 9091"/>
            </a:avLst>
          </a:prstGeom>
          <a:solidFill>
            <a:srgbClr val="059669">
              <a:alpha val="15000"/>
            </a:srgbClr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377440" y="7772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입력 검증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377440" y="12801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API 계층 처리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206240" y="1005840"/>
            <a:ext cx="228600" cy="256032"/>
          </a:xfrm>
          <a:prstGeom prst="rightArrow">
            <a:avLst/>
          </a:prstGeom>
          <a:solidFill>
            <a:srgbClr val="CBD5E1"/>
          </a:solidFill>
          <a:ln/>
        </p:spPr>
      </p:sp>
      <p:sp>
        <p:nvSpPr>
          <p:cNvPr id="11" name="Shape 9"/>
          <p:cNvSpPr/>
          <p:nvPr/>
        </p:nvSpPr>
        <p:spPr>
          <a:xfrm>
            <a:off x="4434840" y="685800"/>
            <a:ext cx="1828800" cy="1005840"/>
          </a:xfrm>
          <a:prstGeom prst="roundRect">
            <a:avLst>
              <a:gd name="adj" fmla="val 9091"/>
            </a:avLst>
          </a:prstGeom>
          <a:solidFill>
            <a:srgbClr val="DC2626">
              <a:alpha val="15000"/>
            </a:srgbClr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34840" y="7772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Rate Limiter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(구독 등급 확인)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434840" y="12801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429 or PASS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263640" y="1005840"/>
            <a:ext cx="228600" cy="256032"/>
          </a:xfrm>
          <a:prstGeom prst="rightArrow">
            <a:avLst/>
          </a:prstGeom>
          <a:solidFill>
            <a:srgbClr val="CBD5E1"/>
          </a:solidFill>
          <a:ln/>
        </p:spPr>
      </p:sp>
      <p:sp>
        <p:nvSpPr>
          <p:cNvPr id="15" name="Shape 13"/>
          <p:cNvSpPr/>
          <p:nvPr/>
        </p:nvSpPr>
        <p:spPr>
          <a:xfrm>
            <a:off x="6492240" y="685800"/>
            <a:ext cx="1828800" cy="1005840"/>
          </a:xfrm>
          <a:prstGeom prst="roundRect">
            <a:avLst>
              <a:gd name="adj" fmla="val 9091"/>
            </a:avLst>
          </a:prstGeom>
          <a:solidFill>
            <a:srgbClr val="D97706">
              <a:alpha val="15000"/>
            </a:srgbClr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7772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큐 등록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92240" y="12801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enqueue()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223760" y="1691640"/>
            <a:ext cx="365760" cy="594360"/>
          </a:xfrm>
          <a:prstGeom prst="downArrow">
            <a:avLst/>
          </a:prstGeom>
          <a:solidFill>
            <a:srgbClr val="CBD5E1"/>
          </a:solidFill>
          <a:ln/>
        </p:spPr>
      </p:sp>
      <p:sp>
        <p:nvSpPr>
          <p:cNvPr id="19" name="Shape 17"/>
          <p:cNvSpPr/>
          <p:nvPr/>
        </p:nvSpPr>
        <p:spPr>
          <a:xfrm>
            <a:off x="2377440" y="2286000"/>
            <a:ext cx="1828800" cy="1005840"/>
          </a:xfrm>
          <a:prstGeom prst="roundRect">
            <a:avLst>
              <a:gd name="adj" fmla="val 9091"/>
            </a:avLst>
          </a:prstGeom>
          <a:solidFill>
            <a:srgbClr val="D97706">
              <a:alpha val="15000"/>
            </a:srgbClr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377440" y="23774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 스케줄링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377440" y="28803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dequeue()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434840" y="2286000"/>
            <a:ext cx="1828800" cy="1005840"/>
          </a:xfrm>
          <a:prstGeom prst="roundRect">
            <a:avLst>
              <a:gd name="adj" fmla="val 9091"/>
            </a:avLst>
          </a:prstGeom>
          <a:solidFill>
            <a:srgbClr val="2563EB">
              <a:alpha val="15000"/>
            </a:srgbClr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34840" y="23774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 LLM 처리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434840" y="28803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Ollama API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492240" y="2286000"/>
            <a:ext cx="1828800" cy="1005840"/>
          </a:xfrm>
          <a:prstGeom prst="roundRect">
            <a:avLst>
              <a:gd name="adj" fmla="val 9091"/>
            </a:avLst>
          </a:prstGeom>
          <a:solidFill>
            <a:srgbClr val="059669">
              <a:alpha val="15000"/>
            </a:srgbClr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92240" y="23774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7. 결과 반환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 JSON 기록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92240" y="28803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COMPLETED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263640" y="2606040"/>
            <a:ext cx="228600" cy="256032"/>
          </a:xfrm>
          <a:prstGeom prst="leftArrow">
            <a:avLst/>
          </a:prstGeom>
          <a:solidFill>
            <a:srgbClr val="CBD5E1"/>
          </a:solidFill>
          <a:ln/>
        </p:spPr>
      </p:sp>
      <p:sp>
        <p:nvSpPr>
          <p:cNvPr id="29" name="Shape 27"/>
          <p:cNvSpPr/>
          <p:nvPr/>
        </p:nvSpPr>
        <p:spPr>
          <a:xfrm>
            <a:off x="4206240" y="2606040"/>
            <a:ext cx="228600" cy="256032"/>
          </a:xfrm>
          <a:prstGeom prst="leftArrow">
            <a:avLst/>
          </a:prstGeom>
          <a:solidFill>
            <a:srgbClr val="CBD5E1"/>
          </a:solidFill>
          <a:ln/>
        </p:spPr>
      </p:sp>
      <p:sp>
        <p:nvSpPr>
          <p:cNvPr id="30" name="Shape 28"/>
          <p:cNvSpPr/>
          <p:nvPr/>
        </p:nvSpPr>
        <p:spPr>
          <a:xfrm>
            <a:off x="320040" y="2286000"/>
            <a:ext cx="2011680" cy="1005840"/>
          </a:xfrm>
          <a:prstGeom prst="roundRect">
            <a:avLst>
              <a:gd name="adj" fmla="val 9091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457200" y="2377440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요청 수명 주기
</a:t>
            </a:r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PENDING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→ </a:t>
            </a:r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QUEUED
</a:t>
            </a:r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PROCESSING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→ </a:t>
            </a:r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COMPLETED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983480" y="1691640"/>
            <a:ext cx="365760" cy="548640"/>
          </a:xfrm>
          <a:prstGeom prst="downArrow">
            <a:avLst/>
          </a:prstGeom>
          <a:solidFill>
            <a:srgbClr val="DC2626">
              <a:alpha val="4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4526280" y="2286000"/>
            <a:ext cx="1645920" cy="457200"/>
          </a:xfrm>
          <a:prstGeom prst="roundRect">
            <a:avLst>
              <a:gd name="adj" fmla="val 14000"/>
            </a:avLst>
          </a:prstGeom>
          <a:solidFill>
            <a:srgbClr val="DC2626">
              <a:alpha val="15000"/>
            </a:srgbClr>
          </a:solidFill>
          <a:ln w="12700">
            <a:solidFill>
              <a:srgbClr val="DC2626"/>
            </a:solidFill>
            <a:prstDash val="dash"/>
          </a:ln>
        </p:spPr>
      </p:sp>
      <p:sp>
        <p:nvSpPr>
          <p:cNvPr id="34" name="Text 32"/>
          <p:cNvSpPr/>
          <p:nvPr/>
        </p:nvSpPr>
        <p:spPr>
          <a:xfrm>
            <a:off x="4526280" y="22860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429 Too Many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Requests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217920" y="24231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초과 시 즉시 반환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4. 모듈 구조도 (Module Structure)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3474720" y="685800"/>
            <a:ext cx="2194560" cy="502920"/>
          </a:xfrm>
          <a:prstGeom prst="roundRect">
            <a:avLst>
              <a:gd name="adj" fmla="val 14545"/>
            </a:avLst>
          </a:prstGeom>
          <a:solidFill>
            <a:srgbClr val="2563EB">
              <a:alpha val="15000"/>
            </a:srgbClr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0" y="68580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server.js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(진입점)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828800"/>
            <a:ext cx="1554480" cy="822960"/>
          </a:xfrm>
          <a:prstGeom prst="roundRect">
            <a:avLst>
              <a:gd name="adj" fmla="val 8889"/>
            </a:avLst>
          </a:prstGeom>
          <a:solidFill>
            <a:srgbClr val="059669">
              <a:alpha val="12000"/>
            </a:srgbClr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82880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api/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(라우터)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011680" y="1828800"/>
            <a:ext cx="1554480" cy="822960"/>
          </a:xfrm>
          <a:prstGeom prst="roundRect">
            <a:avLst>
              <a:gd name="adj" fmla="val 8889"/>
            </a:avLst>
          </a:prstGeom>
          <a:solidFill>
            <a:srgbClr val="D97706">
              <a:alpha val="12000"/>
            </a:srgbClr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11680" y="182880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schedulers/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(FCFS, Priority,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MLFQ, WFQ)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749040" y="1828800"/>
            <a:ext cx="1554480" cy="822960"/>
          </a:xfrm>
          <a:prstGeom prst="roundRect">
            <a:avLst>
              <a:gd name="adj" fmla="val 8889"/>
            </a:avLst>
          </a:prstGeom>
          <a:solidFill>
            <a:srgbClr val="64748B">
              <a:alpha val="12000"/>
            </a:srgbClr>
          </a:solidFill>
          <a:ln w="19050">
            <a:solidFill>
              <a:srgbClr val="64748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49040" y="182880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queue/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(메모리 큐)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0" y="1828800"/>
            <a:ext cx="1554480" cy="822960"/>
          </a:xfrm>
          <a:prstGeom prst="roundRect">
            <a:avLst>
              <a:gd name="adj" fmla="val 8889"/>
            </a:avLst>
          </a:prstGeom>
          <a:solidFill>
            <a:srgbClr val="64748B">
              <a:alpha val="12000"/>
            </a:srgbClr>
          </a:solidFill>
          <a:ln w="19050">
            <a:solidFill>
              <a:srgbClr val="64748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0" y="182880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storage/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(JSON 저장)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223760" y="1828800"/>
            <a:ext cx="1554480" cy="822960"/>
          </a:xfrm>
          <a:prstGeom prst="roundRect">
            <a:avLst>
              <a:gd name="adj" fmla="val 8889"/>
            </a:avLst>
          </a:prstGeom>
          <a:solidFill>
            <a:srgbClr val="DC2626">
              <a:alpha val="12000"/>
            </a:srgbClr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23760" y="182880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llm/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(Ollama 연동)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0" y="1188720"/>
            <a:ext cx="-3520440" cy="64008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0" y="1188720"/>
            <a:ext cx="-1783080" cy="64008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0" y="1188720"/>
            <a:ext cx="-45720" cy="64008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0" y="1188720"/>
            <a:ext cx="1691640" cy="64008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0" y="1188720"/>
            <a:ext cx="3429000" cy="64008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46120" y="27432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 →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1508760" y="27432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호출 →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274320" y="3200400"/>
            <a:ext cx="1554480" cy="594360"/>
          </a:xfrm>
          <a:prstGeom prst="roundRect">
            <a:avLst>
              <a:gd name="adj" fmla="val 12308"/>
            </a:avLst>
          </a:prstGeom>
          <a:solidFill>
            <a:srgbClr val="DC2626">
              <a:alpha val="12000"/>
            </a:srgbClr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320040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rate-limiter/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(요청 제한)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560320" y="3931920"/>
            <a:ext cx="4023360" cy="457200"/>
          </a:xfrm>
          <a:prstGeom prst="roundRect">
            <a:avLst>
              <a:gd name="adj" fmla="val 16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2560320" y="393192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tests-simple/ (Jest 단위 테스트)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74320" y="45720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화살표: 의존 관계 (호출 방향)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5. 실험 환경 구성도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3200400" y="685800"/>
            <a:ext cx="2651760" cy="54864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0" y="68580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요청 생성 (Request Generator)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481328" y="1234440"/>
            <a:ext cx="329184" cy="457200"/>
          </a:xfrm>
          <a:prstGeom prst="downArrow">
            <a:avLst/>
          </a:prstGeom>
          <a:solidFill>
            <a:srgbClr val="2563EB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361688" y="1234440"/>
            <a:ext cx="329184" cy="457200"/>
          </a:xfrm>
          <a:prstGeom prst="downArrow">
            <a:avLst/>
          </a:prstGeom>
          <a:solidFill>
            <a:srgbClr val="3B82F6">
              <a:alpha val="6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242048" y="1234440"/>
            <a:ext cx="329184" cy="457200"/>
          </a:xfrm>
          <a:prstGeom prst="downArrow">
            <a:avLst/>
          </a:prstGeom>
          <a:solidFill>
            <a:srgbClr val="059669">
              <a:alpha val="6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274320" y="1691640"/>
            <a:ext cx="2743200" cy="868680"/>
          </a:xfrm>
          <a:prstGeom prst="roundRect">
            <a:avLst>
              <a:gd name="adj" fmla="val 10526"/>
            </a:avLst>
          </a:prstGeom>
          <a:solidFill>
            <a:srgbClr val="2563EB">
              <a:alpha val="12000"/>
            </a:srgbClr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73736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기본 실험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4320" y="2075688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500건, 4테넌트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순차 도착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154680" y="1691640"/>
            <a:ext cx="2743200" cy="868680"/>
          </a:xfrm>
          <a:prstGeom prst="roundRect">
            <a:avLst>
              <a:gd name="adj" fmla="val 10526"/>
            </a:avLst>
          </a:prstGeom>
          <a:solidFill>
            <a:srgbClr val="3B82F6">
              <a:alpha val="12000"/>
            </a:srgbClr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54680" y="173736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MLFQ 선점형 실험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154680" y="2075688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500건×5시드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버스트 패턴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035040" y="1691640"/>
            <a:ext cx="2743200" cy="868680"/>
          </a:xfrm>
          <a:prstGeom prst="roundRect">
            <a:avLst>
              <a:gd name="adj" fmla="val 10526"/>
            </a:avLst>
          </a:prstGeom>
          <a:solidFill>
            <a:srgbClr val="059669">
              <a:alpha val="12000"/>
            </a:srgbClr>
          </a:solidFill>
          <a:ln w="25400">
            <a:solidFill>
              <a:srgbClr val="0596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35040" y="173736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실서버 실험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035040" y="2075688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20건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Ollama llama3.2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74320" y="2834640"/>
            <a:ext cx="8595360" cy="685800"/>
          </a:xfrm>
          <a:prstGeom prst="roundRect">
            <a:avLst>
              <a:gd name="adj" fmla="val 13333"/>
            </a:avLst>
          </a:prstGeom>
          <a:solidFill>
            <a:srgbClr val="D97706">
              <a:alpha val="12000"/>
            </a:srgbClr>
          </a:solidFill>
          <a:ln w="2540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880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스케줄러 계층 (Scheduler Layer)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828800" y="3154680"/>
            <a:ext cx="137160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828800" y="31546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FCFS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474720" y="3154680"/>
            <a:ext cx="137160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31546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Priority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120640" y="3154680"/>
            <a:ext cx="137160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20640" y="31546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MLFQ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766560" y="3154680"/>
            <a:ext cx="137160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66560" y="31546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WFQ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481328" y="2560320"/>
            <a:ext cx="329184" cy="274320"/>
          </a:xfrm>
          <a:prstGeom prst="downArrow">
            <a:avLst/>
          </a:prstGeom>
          <a:solidFill>
            <a:srgbClr val="2563EB">
              <a:alpha val="6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4361688" y="2560320"/>
            <a:ext cx="329184" cy="274320"/>
          </a:xfrm>
          <a:prstGeom prst="downArrow">
            <a:avLst/>
          </a:prstGeom>
          <a:solidFill>
            <a:srgbClr val="3B82F6">
              <a:alpha val="6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7242048" y="2560320"/>
            <a:ext cx="329184" cy="274320"/>
          </a:xfrm>
          <a:prstGeom prst="downArrow">
            <a:avLst/>
          </a:prstGeom>
          <a:solidFill>
            <a:srgbClr val="059669">
              <a:alpha val="6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434840" y="3520440"/>
            <a:ext cx="274320" cy="320040"/>
          </a:xfrm>
          <a:prstGeom prst="downArrow">
            <a:avLst/>
          </a:prstGeom>
          <a:solidFill>
            <a:srgbClr val="CBD5E1"/>
          </a:solidFill>
          <a:ln/>
        </p:spPr>
      </p:sp>
      <p:sp>
        <p:nvSpPr>
          <p:cNvPr id="31" name="Shape 29"/>
          <p:cNvSpPr/>
          <p:nvPr/>
        </p:nvSpPr>
        <p:spPr>
          <a:xfrm>
            <a:off x="274320" y="3867912"/>
            <a:ext cx="8595360" cy="685800"/>
          </a:xfrm>
          <a:prstGeom prst="roundRect">
            <a:avLst>
              <a:gd name="adj" fmla="val 13333"/>
            </a:avLst>
          </a:prstGeom>
          <a:solidFill>
            <a:srgbClr val="059669">
              <a:alpha val="12000"/>
            </a:srgbClr>
          </a:solidFill>
          <a:ln w="25400">
            <a:solidFill>
              <a:srgbClr val="05966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386791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 측정: 평균 대기시간 · JFI · 요청 유형별 응답시간 · JSON 로그 기록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6. 알고리즘별 평균 대기시간 비교 (ms)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274320" y="50292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기본 실험 500건 | 4개 테넌트 | 순차 도착</a:t>
            </a:r>
            <a:endParaRPr lang="en-US" sz="9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822960"/>
          <a:ext cx="82296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7132320" y="320040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WFQ 최소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11,846ms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출처: extended-results.json (시뮬레이션 500건)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7. MLFQ 선점형 vs FCFS — 요청 유형별 대기시간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274320" y="50292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5회 반복 (다중 시드) | 버스트 패턴 | 단위: 초(s)</a:t>
            </a:r>
            <a:endParaRPr lang="en-US" sz="9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822960"/>
          <a:ext cx="777240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675120" y="1097280"/>
            <a:ext cx="1920240" cy="594360"/>
          </a:xfrm>
          <a:prstGeom prst="roundRect">
            <a:avLst>
              <a:gd name="adj" fmla="val 12308"/>
            </a:avLst>
          </a:prstGeom>
          <a:solidFill>
            <a:srgbClr val="DC2626">
              <a:alpha val="15000"/>
            </a:srgbClr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675120" y="109728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짧은 요청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73% 감소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8. 실서버 구독 등급별 평균 대기시간 (ms)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274320" y="50292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Ollama 실서버 실험 20건 | 단위: ms</a:t>
            </a:r>
            <a:endParaRPr lang="en-US" sz="9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822960"/>
          <a:ext cx="822960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274320" y="475488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Enterprise 등급: 모든 스케줄러에서 최소 대기시간 확인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9. 알고리즘별 Jain's Fairness Index (JFI) 비교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274320" y="50292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JFI = 1.0이 완전 공정, 낮을수록 불공평</a:t>
            </a:r>
            <a:endParaRPr lang="en-US" sz="9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822960"/>
          <a:ext cx="82296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217920" y="3108960"/>
            <a:ext cx="2377440" cy="731520"/>
          </a:xfrm>
          <a:prstGeom prst="roundRect">
            <a:avLst>
              <a:gd name="adj" fmla="val 12500"/>
            </a:avLst>
          </a:prstGeom>
          <a:solidFill>
            <a:srgbClr val="DC2626">
              <a:alpha val="15000"/>
            </a:srgbClr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217920" y="310896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WFQ: JFI = 0.316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차등 서비스로 공정성 낮음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━━ 완전 공정 (JFI = 1.0)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최종보고서 그림</dc:title>
  <dc:subject>PptxGenJS Presentation</dc:subject>
  <dc:creator>서민지 (C235180)</dc:creator>
  <cp:lastModifiedBy>서민지 (C235180)</cp:lastModifiedBy>
  <cp:revision>1</cp:revision>
  <dcterms:created xsi:type="dcterms:W3CDTF">2026-04-12T08:21:08Z</dcterms:created>
  <dcterms:modified xsi:type="dcterms:W3CDTF">2026-04-12T08:21:08Z</dcterms:modified>
</cp:coreProperties>
</file>