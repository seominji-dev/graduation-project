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2000250" cy="3480495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90525" y="314325"/>
            <a:ext cx="1981200" cy="342900"/>
          </a:xfrm>
          <a:prstGeom prst="rect">
            <a:avLst/>
          </a:prstGeom>
          <a:solidFill>
            <a:srgbClr val="2B57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4244" y="390525"/>
            <a:ext cx="18137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FCFS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0202" y="809476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선착순 처리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17475" y="1309390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7475" y="1114127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17475" y="1402854"/>
            <a:ext cx="1727299" cy="45720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FIFO 큐</a:t>
            </a:r>
            <a:endParaRPr lang="en-US" sz="950" dirty="0"/>
          </a:p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비선점형</a:t>
            </a:r>
            <a:endParaRPr lang="en-US" sz="950" dirty="0"/>
          </a:p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O(1) 스케줄링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17475" y="2182118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7475" y="1986855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7475" y="2275582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호위 효과 발생, 차등 서비스 불가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508200" y="304800"/>
            <a:ext cx="2000399" cy="3480495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517725" y="314325"/>
            <a:ext cx="1981349" cy="342900"/>
          </a:xfrm>
          <a:prstGeom prst="rect">
            <a:avLst/>
          </a:prstGeom>
          <a:solidFill>
            <a:srgbClr val="2B57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601443" y="390525"/>
            <a:ext cx="18139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Priority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27401" y="809476"/>
            <a:ext cx="17619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 기반 + 에이징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44676" y="1309390"/>
            <a:ext cx="1727448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44676" y="1114127"/>
            <a:ext cx="17619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44676" y="1402854"/>
            <a:ext cx="1727448" cy="600075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 우선순위 (URGENT~LOW)</a:t>
            </a:r>
            <a:endParaRPr lang="en-US" sz="950" dirty="0"/>
          </a:p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에이징으로 기아 방지</a:t>
            </a:r>
            <a:endParaRPr lang="en-US" sz="950" dirty="0"/>
          </a:p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동적 우선순위 조정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644676" y="2324993"/>
            <a:ext cx="1727448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44676" y="2129730"/>
            <a:ext cx="17619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44676" y="2418457"/>
            <a:ext cx="17619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에이징 없으면 기아 발생 가능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35550" y="304800"/>
            <a:ext cx="2000250" cy="3480495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645075" y="314325"/>
            <a:ext cx="1981200" cy="342900"/>
          </a:xfrm>
          <a:prstGeom prst="rect">
            <a:avLst/>
          </a:prstGeom>
          <a:solidFill>
            <a:srgbClr val="2B57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728793" y="390525"/>
            <a:ext cx="18137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MLFQ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54752" y="809476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다단계 피드백 큐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72025" y="1309390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2025" y="1114127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72025" y="1402854"/>
            <a:ext cx="1727299" cy="45720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적응형 분류</a:t>
            </a:r>
            <a:endParaRPr lang="en-US" sz="950" dirty="0"/>
          </a:p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큐별 타임 퀀텀</a:t>
            </a:r>
            <a:endParaRPr lang="en-US" sz="950" dirty="0"/>
          </a:p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선점형 스케줄링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72025" y="2182118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72025" y="1986855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72025" y="2275582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파라미터 튜닝 복잡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762750" y="304800"/>
            <a:ext cx="2000250" cy="3480495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772275" y="314325"/>
            <a:ext cx="1981200" cy="342900"/>
          </a:xfrm>
          <a:prstGeom prst="rect">
            <a:avLst/>
          </a:prstGeom>
          <a:solidFill>
            <a:srgbClr val="2B57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855994" y="390525"/>
            <a:ext cx="18137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WFQ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881952" y="809476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 공정 큐잉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899225" y="1309390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99225" y="1114127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899225" y="1402854"/>
            <a:ext cx="1727299" cy="45720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 비례 서비스</a:t>
            </a:r>
            <a:endParaRPr lang="en-US" sz="950" dirty="0"/>
          </a:p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종료 시각 계산</a:t>
            </a:r>
            <a:endParaRPr lang="en-US" sz="950" dirty="0"/>
          </a:p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JFI 공정성 지표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899225" y="2182118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99225" y="1986855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899225" y="2275582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VFT 계산 부담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81000" y="3861495"/>
            <a:ext cx="8401050" cy="596503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390525" y="3871020"/>
            <a:ext cx="8382000" cy="298252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17475" y="3934420"/>
            <a:ext cx="8983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Rate Limiter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550640" y="3953470"/>
            <a:ext cx="8229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DD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버킷 알고리즘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17475" y="4232672"/>
            <a:ext cx="14545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역할:</a:t>
            </a:r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테넌트별 요청 빈도 제한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2197447" y="4232672"/>
            <a:ext cx="11011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방법:</a:t>
            </a:r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버스트 용량 제어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530947" y="4232672"/>
            <a:ext cx="143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과부하 방지 (보조 수단)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81000" y="4594473"/>
            <a:ext cx="8382000" cy="0"/>
          </a:xfrm>
          <a:prstGeom prst="line">
            <a:avLst/>
          </a:prstGeom>
          <a:noFill/>
          <a:ln w="19050">
            <a:solidFill>
              <a:srgbClr val="2B579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1000" y="4642098"/>
            <a:ext cx="2017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942159" y="4642098"/>
            <a:ext cx="12850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복잡도 / 성능 최적화  →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565207" y="4642098"/>
            <a:ext cx="2017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81000" y="4891236"/>
            <a:ext cx="8382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81000" y="4946749"/>
            <a:ext cx="854964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[1] Silberschatz et al., Operating System Concepts, 10th ed., 2018.  [2] Arpaci-Dusseau, OSTEP, v1.10, 2023.  [3] Kurose &amp; Ross, Computer Networking, 8th ed., 2021.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53901"/>
            <a:ext cx="8382000" cy="453926"/>
          </a:xfrm>
          <a:prstGeom prst="rect">
            <a:avLst/>
          </a:prstGeom>
          <a:noFill/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0050" y="272951"/>
            <a:ext cx="2590800" cy="415826"/>
          </a:xfrm>
          <a:prstGeom prst="rect">
            <a:avLst/>
          </a:prstGeom>
          <a:solidFill>
            <a:srgbClr val="2B57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2450" y="399901"/>
            <a:ext cx="23317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 계층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194000" y="404664"/>
            <a:ext cx="17330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 클라이언트 · 대시보드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497288" y="784027"/>
            <a:ext cx="152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1000" y="1041202"/>
            <a:ext cx="8382000" cy="587276"/>
          </a:xfrm>
          <a:prstGeom prst="rect">
            <a:avLst/>
          </a:prstGeom>
          <a:noFill/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00050" y="1060252"/>
            <a:ext cx="2590800" cy="549176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52450" y="1187202"/>
            <a:ext cx="23317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계층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52450" y="1349127"/>
            <a:ext cx="2331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(Express.js)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194000" y="1258639"/>
            <a:ext cx="25963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관리 · 스케줄러 관리 · 통계/공정성 · 상태 확인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97288" y="1704677"/>
            <a:ext cx="152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1000" y="1961852"/>
            <a:ext cx="8382000" cy="698302"/>
          </a:xfrm>
          <a:prstGeom prst="rect">
            <a:avLst/>
          </a:prstGeom>
          <a:noFill/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00050" y="2031653"/>
            <a:ext cx="2590800" cy="558701"/>
          </a:xfrm>
          <a:prstGeom prst="rect">
            <a:avLst/>
          </a:prstGeom>
          <a:solidFill>
            <a:srgbClr val="2B57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52450" y="2158603"/>
            <a:ext cx="23317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스케줄러 엔진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2450" y="2320528"/>
            <a:ext cx="23317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(런타임 교체 가능)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194000" y="2082403"/>
            <a:ext cx="604540" cy="238125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330476" y="2130028"/>
            <a:ext cx="3382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FCFS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74740" y="2082403"/>
            <a:ext cx="717500" cy="238125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011216" y="2130028"/>
            <a:ext cx="4534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Priority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68441" y="2082403"/>
            <a:ext cx="632668" cy="238125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04916" y="2130028"/>
            <a:ext cx="366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MLFQ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77309" y="2082403"/>
            <a:ext cx="569119" cy="238125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513784" y="2130028"/>
            <a:ext cx="3020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WFQ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22628" y="2082403"/>
            <a:ext cx="1006822" cy="238125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159103" y="2130028"/>
            <a:ext cx="7485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Rate Limiter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194000" y="2396728"/>
            <a:ext cx="186537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기능: 에이징, 부스트, 이중 수준 JFI 측정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497288" y="2736354"/>
            <a:ext cx="152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81000" y="2993529"/>
            <a:ext cx="5857429" cy="596801"/>
          </a:xfrm>
          <a:prstGeom prst="rect">
            <a:avLst/>
          </a:prstGeom>
          <a:noFill/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00050" y="3084016"/>
            <a:ext cx="2590800" cy="415826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52450" y="3210967"/>
            <a:ext cx="23317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계층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194000" y="3215729"/>
            <a:ext cx="18901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배열 (큐) · JSON 파일 (로그)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39929" y="2993529"/>
            <a:ext cx="2423071" cy="596801"/>
          </a:xfrm>
          <a:prstGeom prst="rect">
            <a:avLst/>
          </a:prstGeom>
          <a:noFill/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358979" y="3012579"/>
            <a:ext cx="992981" cy="558701"/>
          </a:xfrm>
          <a:prstGeom prst="rect">
            <a:avLst/>
          </a:prstGeom>
          <a:solidFill>
            <a:srgbClr val="2B57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511379" y="3139529"/>
            <a:ext cx="7019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백엔드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511379" y="3301454"/>
            <a:ext cx="7019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(외부 서비스)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555111" y="3220492"/>
            <a:ext cx="4103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957393" y="3230017"/>
            <a:ext cx="59507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추론 엔진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81000" y="4872186"/>
            <a:ext cx="8382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1000" y="4927699"/>
            <a:ext cx="8549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Node.js 22 LTS + Express.js 4.18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279202"/>
            <a:ext cx="84980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1: 요청 수신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04800" y="498128"/>
            <a:ext cx="1561951" cy="669727"/>
          </a:xfrm>
          <a:prstGeom prst="rect">
            <a:avLst/>
          </a:prstGeom>
          <a:solidFill>
            <a:srgbClr val="2B579A"/>
          </a:solidFill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8101" y="618679"/>
            <a:ext cx="12953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38101" y="771079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 호출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8101" y="913954"/>
            <a:ext cx="12953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/api/requests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942951" y="728216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5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97001" y="498128"/>
            <a:ext cx="4749998" cy="669727"/>
          </a:xfrm>
          <a:prstGeom prst="rect">
            <a:avLst/>
          </a:prstGeom>
          <a:solidFill>
            <a:srgbClr val="F5F5F5"/>
          </a:solidFill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298421" y="685354"/>
            <a:ext cx="45471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계층 (Express.js)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98421" y="837754"/>
            <a:ext cx="45471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검증 · 테넌트 식별 · 우선순위 할당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023199" y="728216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5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77249" y="498128"/>
            <a:ext cx="1561951" cy="669727"/>
          </a:xfrm>
          <a:prstGeom prst="rect">
            <a:avLst/>
          </a:prstGeom>
          <a:solidFill>
            <a:srgbClr val="F5F5F5"/>
          </a:solidFill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410550" y="623441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Rate Limiter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10550" y="766316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버킷 확인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410550" y="909191"/>
            <a:ext cx="12953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한도 초과 시 거부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497288" y="1218456"/>
            <a:ext cx="152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6301" y="1450032"/>
            <a:ext cx="84980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2: 스케줄링 결정 (런타임 교체 가능)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04800" y="1668959"/>
            <a:ext cx="2076450" cy="533400"/>
          </a:xfrm>
          <a:prstGeom prst="rect">
            <a:avLst/>
          </a:prstGeom>
          <a:solidFill>
            <a:srgbClr val="E8E8E8"/>
          </a:solidFill>
          <a:ln w="9525">
            <a:solidFill>
              <a:srgbClr val="4472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97282" y="1797546"/>
            <a:ext cx="18914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FCFS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97282" y="1940421"/>
            <a:ext cx="18914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도착 순서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457450" y="1668959"/>
            <a:ext cx="2076450" cy="533400"/>
          </a:xfrm>
          <a:prstGeom prst="rect">
            <a:avLst/>
          </a:prstGeom>
          <a:solidFill>
            <a:srgbClr val="E8E8E8"/>
          </a:solidFill>
          <a:ln w="9525">
            <a:solidFill>
              <a:srgbClr val="4472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549932" y="1797546"/>
            <a:ext cx="18914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Priority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49932" y="1940421"/>
            <a:ext cx="18914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 + 에이징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610100" y="1668959"/>
            <a:ext cx="2076450" cy="533400"/>
          </a:xfrm>
          <a:prstGeom prst="rect">
            <a:avLst/>
          </a:prstGeom>
          <a:solidFill>
            <a:srgbClr val="D5E8F0"/>
          </a:solidFill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02582" y="1754684"/>
            <a:ext cx="18914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5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MLFQ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02582" y="1888034"/>
            <a:ext cx="189148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 큐 + 선점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702582" y="1992809"/>
            <a:ext cx="18914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Q0:500ms Q1:1.5s Q2:4s Q3:무제한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62750" y="1668959"/>
            <a:ext cx="2076450" cy="533400"/>
          </a:xfrm>
          <a:prstGeom prst="rect">
            <a:avLst/>
          </a:prstGeom>
          <a:solidFill>
            <a:srgbClr val="D5E8F0"/>
          </a:solidFill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855232" y="1754684"/>
            <a:ext cx="18914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5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WFQ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855232" y="1888034"/>
            <a:ext cx="189148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종료 시각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855232" y="1992809"/>
            <a:ext cx="18914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가중치: 100/50/10/1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313212" y="2240310"/>
            <a:ext cx="25679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PUT /api/scheduler → 런타임 알고리즘 전환 (재시작 불필요)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497288" y="2402086"/>
            <a:ext cx="152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06301" y="2633663"/>
            <a:ext cx="84980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3: 실행 및 응답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04800" y="2852589"/>
            <a:ext cx="4749998" cy="679252"/>
          </a:xfrm>
          <a:prstGeom prst="rect">
            <a:avLst/>
          </a:prstGeom>
          <a:solidFill>
            <a:srgbClr val="F5F5F5"/>
          </a:solidFill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06220" y="3044577"/>
            <a:ext cx="45471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관리자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06220" y="3196977"/>
            <a:ext cx="45471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요청 추출 · LLM 백엔드로 전달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130998" y="3087439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5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385048" y="2852589"/>
            <a:ext cx="1688902" cy="679252"/>
          </a:xfrm>
          <a:prstGeom prst="rect">
            <a:avLst/>
          </a:prstGeom>
          <a:solidFill>
            <a:srgbClr val="2B579A"/>
          </a:solidFill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517079" y="3049339"/>
            <a:ext cx="14248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 (LLM)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7079" y="3192214"/>
            <a:ext cx="14248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추론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150150" y="3087439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5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404199" y="2852589"/>
            <a:ext cx="1435001" cy="679252"/>
          </a:xfrm>
          <a:prstGeom prst="rect">
            <a:avLst/>
          </a:prstGeom>
          <a:solidFill>
            <a:srgbClr val="F5F5F5"/>
          </a:solidFill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7538770" y="2973139"/>
            <a:ext cx="11658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538770" y="3125539"/>
            <a:ext cx="11658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대기시간 기록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538770" y="3268414"/>
            <a:ext cx="11658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JFI 계산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04800" y="4862661"/>
            <a:ext cx="85344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4800" y="4918174"/>
            <a:ext cx="870508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에이징/부스트로 기아 방지 · MLFQ 선점으로 짧은 요청 우선 · JFI로 공정성 측정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Proposal Figures - OS Scheduling for LLM API</dc:title>
  <dc:subject>PptxGenJS Presentation</dc:subject>
  <dc:creator>서민지 (C235180)</dc:creator>
  <cp:lastModifiedBy>서민지 (C235180)</cp:lastModifiedBy>
  <cp:revision>1</cp:revision>
  <dcterms:created xsi:type="dcterms:W3CDTF">2026-03-08T03:06:44Z</dcterms:created>
  <dcterms:modified xsi:type="dcterms:W3CDTF">2026-03-08T03:06:44Z</dcterms:modified>
</cp:coreProperties>
</file>