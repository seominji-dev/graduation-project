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04800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스케줄링 알고리즘 (비교 대상)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8100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9052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7424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020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선착순 처리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1747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747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1747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FIFO 큐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비선점형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O(1) 스케줄링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1747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747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1747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호위 효과 발생, 차등 서비스 불가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508200" y="498425"/>
            <a:ext cx="2000399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517725" y="507950"/>
            <a:ext cx="1981349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01443" y="584150"/>
            <a:ext cx="18139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27401" y="100310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우선순위 기반 + 에이징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44676" y="1503015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44676" y="1307753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644676" y="1596479"/>
            <a:ext cx="1727448" cy="6000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우선순위 (URGENT~LOW)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에이징으로 기아 방지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우선순위 조정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644676" y="2518618"/>
            <a:ext cx="1727448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44676" y="2323356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44676" y="2612082"/>
            <a:ext cx="176199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에이징 없으면 기아 발생 가능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355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450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28793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7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다단계 피드백 큐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720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20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20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적응형 분류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큐별 타임 퀀텀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선점형 스케줄링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720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720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7720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파라미터 튜닝 복잡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762750" y="498425"/>
            <a:ext cx="2000250" cy="306794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6772275" y="507950"/>
            <a:ext cx="1981200" cy="342900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5994" y="584150"/>
            <a:ext cx="1813762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881952" y="1003102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공정 큐잉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99225" y="1503015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99225" y="1307753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899225" y="1596479"/>
            <a:ext cx="1727299" cy="457200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 비례 서비스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 계산</a:t>
            </a:r>
            <a:endParaRPr lang="en-US" sz="950" dirty="0"/>
          </a:p>
          <a:p>
            <a:pPr algn="l" marL="88900" indent="-88900">
              <a:buSzPct val="100000"/>
              <a:buChar char="•"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공정성 지표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899225" y="2375743"/>
            <a:ext cx="1727299" cy="0"/>
          </a:xfrm>
          <a:prstGeom prst="line">
            <a:avLst/>
          </a:prstGeom>
          <a:noFill/>
          <a:ln w="9525">
            <a:solidFill>
              <a:srgbClr val="99999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899225" y="2180481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899225" y="2469207"/>
            <a:ext cx="176184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spcAft>
                <a:spcPts val="200"/>
              </a:spcAft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VFT 계산 부담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381000" y="3667869"/>
            <a:ext cx="85496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800"/>
              </a:spcBef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4472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보조 기능 (전처리 단계)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81000" y="3861495"/>
            <a:ext cx="8401050" cy="596503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390525" y="3871020"/>
            <a:ext cx="8382000" cy="298252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517475" y="3934420"/>
            <a:ext cx="8983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550640" y="3953470"/>
            <a:ext cx="82293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17475" y="4232672"/>
            <a:ext cx="14545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테넌트별 요청 빈도 제한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2197447" y="4232672"/>
            <a:ext cx="110119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버스트 용량 제어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530947" y="4232672"/>
            <a:ext cx="1430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목적:</a:t>
            </a:r>
            <a:pPr algn="l"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과부하 방지 (보조 수단)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81000" y="4594473"/>
            <a:ext cx="8382000" cy="0"/>
          </a:xfrm>
          <a:prstGeom prst="line">
            <a:avLst/>
          </a:prstGeom>
          <a:noFill/>
          <a:ln w="19050">
            <a:solidFill>
              <a:srgbClr val="2B579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1000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942159" y="4642098"/>
            <a:ext cx="128502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복잡도 / 기능 다양성  →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8565207" y="4642098"/>
            <a:ext cx="20174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1000" y="489123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81000" y="4946749"/>
            <a:ext cx="854964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[1] Silberschatz et al., Operating System Concepts, 10th ed., 2018.  [2] Arpaci-Dusseau, OSTEP, v1.10, 2023.  [3] Kurose &amp; Ross, Computer Networking, 8th ed., 2021.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253901"/>
            <a:ext cx="8382000" cy="45392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272951"/>
            <a:ext cx="2590800" cy="415826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2450" y="399901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계층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194000" y="404664"/>
            <a:ext cx="117694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클라이언트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497288" y="78402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1000" y="1041202"/>
            <a:ext cx="8382000" cy="587276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00050" y="106025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52450" y="1187202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2450" y="1349127"/>
            <a:ext cx="233172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(Express.js)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194000" y="1258639"/>
            <a:ext cx="25963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관리 · 스케줄러 관리 · 통계/공정성 · 상태 확인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97288" y="1704677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1000" y="1961852"/>
            <a:ext cx="8382000" cy="587276"/>
          </a:xfrm>
          <a:prstGeom prst="rect">
            <a:avLst/>
          </a:prstGeom>
          <a:noFill/>
          <a:ln w="19050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980902"/>
            <a:ext cx="2590800" cy="54917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52450" y="2107853"/>
            <a:ext cx="23317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2450" y="2260253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(전처리 단계)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194000" y="2179290"/>
            <a:ext cx="30084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알고리즘 · 테넌트별 요청 빈도 제한 · 과부하 방지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97288" y="2625328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1000" y="2882503"/>
            <a:ext cx="8382000" cy="698302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00050" y="2952304"/>
            <a:ext cx="2590800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2450" y="3079254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 엔진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2450" y="3241179"/>
            <a:ext cx="233172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(런타임 교체 가능)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194000" y="3003054"/>
            <a:ext cx="60454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330476" y="3050679"/>
            <a:ext cx="3382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874740" y="3003054"/>
            <a:ext cx="717500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216" y="3050679"/>
            <a:ext cx="453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8441" y="3003054"/>
            <a:ext cx="632668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04916" y="3050679"/>
            <a:ext cx="36691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377309" y="3003054"/>
            <a:ext cx="569119" cy="238125"/>
          </a:xfrm>
          <a:prstGeom prst="rect">
            <a:avLst/>
          </a:prstGeom>
          <a:noFill/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513784" y="3050679"/>
            <a:ext cx="3020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194000" y="3317379"/>
            <a:ext cx="199866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기능: 에이징, 부스트, 두 가지 수준 JFI 측정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97288" y="3657005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81000" y="3914180"/>
            <a:ext cx="5857429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00050" y="4004667"/>
            <a:ext cx="2590800" cy="415826"/>
          </a:xfrm>
          <a:prstGeom prst="rect">
            <a:avLst/>
          </a:prstGeom>
          <a:solidFill>
            <a:srgbClr val="4472C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52450" y="4131618"/>
            <a:ext cx="23317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저장소 계층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194000" y="4136380"/>
            <a:ext cx="189012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배열 (큐) · JSON 파일 (로그)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339929" y="3914180"/>
            <a:ext cx="2423071" cy="596801"/>
          </a:xfrm>
          <a:prstGeom prst="rect">
            <a:avLst/>
          </a:prstGeom>
          <a:noFill/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358979" y="3933230"/>
            <a:ext cx="992981" cy="558701"/>
          </a:xfrm>
          <a:prstGeom prst="rect">
            <a:avLst/>
          </a:prstGeom>
          <a:solidFill>
            <a:srgbClr val="2B579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511379" y="4060180"/>
            <a:ext cx="7019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백엔드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11379" y="4222105"/>
            <a:ext cx="7019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(외부 서비스)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555111" y="4141143"/>
            <a:ext cx="41032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57393" y="4150668"/>
            <a:ext cx="595074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 엔진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81000" y="4872186"/>
            <a:ext cx="83820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1000" y="4927699"/>
            <a:ext cx="854964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Node.js 22 LTS + Express.js 4.18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27920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1: 요청 수신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04800" y="498128"/>
            <a:ext cx="1561951" cy="669727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101" y="618679"/>
            <a:ext cx="12953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38101" y="771079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REST API 호출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38101" y="913954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42951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97001" y="498128"/>
            <a:ext cx="4749998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98421" y="685354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98421" y="837754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검증 · 테넌트 식별 · 우선순위 할당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023199" y="728216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277249" y="498128"/>
            <a:ext cx="1561951" cy="669727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10550" y="623441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Rate Limiter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410550" y="766316"/>
            <a:ext cx="12953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버킷 확인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410550" y="909191"/>
            <a:ext cx="129534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한도 초과 시 거부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497288" y="121845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6301" y="1450032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2: 스케줄링 결정 (런타임 교체 가능)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0480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9728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9728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도착 순서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457450" y="1668959"/>
            <a:ext cx="2076450" cy="647700"/>
          </a:xfrm>
          <a:prstGeom prst="rect">
            <a:avLst/>
          </a:prstGeom>
          <a:solidFill>
            <a:srgbClr val="E8E8E8"/>
          </a:solidFill>
          <a:ln w="9525">
            <a:solidFill>
              <a:srgbClr val="4472C4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549932" y="1854696"/>
            <a:ext cx="189148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9932" y="1997571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+ 에이징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461010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702582" y="175468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MLFQ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02582" y="188803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큐 + 선점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4702582" y="1992809"/>
            <a:ext cx="1891486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Q0:1,000ms Q1:3,000ms Q2:8,000ms Q3:무제한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762750" y="1668959"/>
            <a:ext cx="2076450" cy="647700"/>
          </a:xfrm>
          <a:prstGeom prst="rect">
            <a:avLst/>
          </a:prstGeom>
          <a:solidFill>
            <a:srgbClr val="D5E8F0"/>
          </a:solidFill>
          <a:ln w="9525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5232" y="1811834"/>
            <a:ext cx="18914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WFQ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55232" y="1945184"/>
            <a:ext cx="1891486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가상 종료 시각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6855232" y="2049959"/>
            <a:ext cx="189148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가중치: 100/50/10/1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13212" y="2354610"/>
            <a:ext cx="256792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PUT /api/scheduler → 런타임 알고리즘 전환 (재시작 불필요)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497288" y="2516386"/>
            <a:ext cx="15241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06301" y="2747963"/>
            <a:ext cx="849802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3: 실행 및 응답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04800" y="2966889"/>
            <a:ext cx="4749998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06220" y="3158877"/>
            <a:ext cx="454715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스케줄러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06220" y="3311277"/>
            <a:ext cx="4547158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요청 추출 · LLM 백엔드로 전달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30998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85048" y="2966889"/>
            <a:ext cx="1688902" cy="679252"/>
          </a:xfrm>
          <a:prstGeom prst="rect">
            <a:avLst/>
          </a:prstGeom>
          <a:solidFill>
            <a:srgbClr val="2B579A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517079" y="3163639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Ollama (LLM)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7079" y="3306514"/>
            <a:ext cx="142483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CCC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추론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150150" y="3201739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57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404199" y="2966889"/>
            <a:ext cx="1435001" cy="679252"/>
          </a:xfrm>
          <a:prstGeom prst="rect">
            <a:avLst/>
          </a:prstGeom>
          <a:solidFill>
            <a:srgbClr val="F5F5F5"/>
          </a:solidFill>
          <a:ln w="19050">
            <a:solidFill>
              <a:srgbClr val="2B579A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538770" y="3087439"/>
            <a:ext cx="116586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333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538770" y="3239839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대기시간 기록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538770" y="3382714"/>
            <a:ext cx="116586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JFI 계산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4800" y="4862661"/>
            <a:ext cx="85344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04800" y="4918174"/>
            <a:ext cx="870508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에이징/부스트로 기아 방지 · MLFQ 선점으로 짧은 요청 우선 · JFI로 공정성 측정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Proposal Figures - OS Scheduling for LLM API</dc:title>
  <dc:subject>PptxGenJS Presentation</dc:subject>
  <dc:creator>서민지 (C235180)</dc:creator>
  <cp:lastModifiedBy>서민지 (C235180)</cp:lastModifiedBy>
  <cp:revision>1</cp:revision>
  <dcterms:created xsi:type="dcterms:W3CDTF">2026-03-12T04:40:41Z</dcterms:created>
  <dcterms:modified xsi:type="dcterms:W3CDTF">2026-03-12T04:40:41Z</dcterms:modified>
</cp:coreProperties>
</file>