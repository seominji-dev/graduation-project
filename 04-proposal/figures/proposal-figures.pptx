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04800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스케줄링 알고리즘 (비교 대상)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81000" y="498425"/>
            <a:ext cx="2000250" cy="3959572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90525" y="507950"/>
            <a:ext cx="1981200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74244" y="584150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0202" y="1003102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선착순 처리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7475" y="1503015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7475" y="1307753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17475" y="1596479"/>
            <a:ext cx="1727299" cy="4572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FIFO 큐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비선점형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O(1) 스케줄링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17475" y="23757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475" y="2180481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7475" y="2469207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호위 효과 발생, 차등 서비스 불가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508200" y="498425"/>
            <a:ext cx="2000399" cy="3959572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517725" y="507950"/>
            <a:ext cx="1981349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601443" y="584150"/>
            <a:ext cx="18139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27401" y="1003102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기반 + 에이징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44676" y="1503015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44676" y="1307753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44676" y="1596479"/>
            <a:ext cx="1727448" cy="3048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등급/긴급도 기반 우선순위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에이징으로 기아 방지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644676" y="2223343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44676" y="2028081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44676" y="2316807"/>
            <a:ext cx="1761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에이징 없으면 기아 발생 가능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35550" y="498425"/>
            <a:ext cx="2000250" cy="3959572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645075" y="507950"/>
            <a:ext cx="1981200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728793" y="584150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754752" y="1003102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다단계 피드백 큐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72025" y="1503015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72025" y="1307753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72025" y="1596479"/>
            <a:ext cx="1727299" cy="3048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특성 관찰 후 분류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다단계 큐 구조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772025" y="22233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72025" y="2028081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72025" y="2316807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파라미터 튜닝 복잡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762750" y="498425"/>
            <a:ext cx="2000250" cy="3959572"/>
          </a:xfrm>
          <a:prstGeom prst="rect">
            <a:avLst/>
          </a:prstGeom>
          <a:noFill/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772275" y="507950"/>
            <a:ext cx="1981200" cy="342900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855994" y="584150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WFQ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81952" y="1003102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공정 큐잉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99225" y="1503015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99225" y="1307753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899225" y="1596479"/>
            <a:ext cx="1727299" cy="3048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비례 배분</a:t>
            </a:r>
            <a:endParaRPr lang="en-US" sz="950" dirty="0"/>
          </a:p>
          <a:p>
            <a:pPr algn="l" marL="88900" indent="-88900"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GPS 모델 근사 구현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899225" y="22233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99225" y="2028081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899225" y="2316807"/>
            <a:ext cx="1761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스케줄링 계산 부담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81000" y="4594473"/>
            <a:ext cx="8382000" cy="0"/>
          </a:xfrm>
          <a:prstGeom prst="line">
            <a:avLst/>
          </a:prstGeom>
          <a:noFill/>
          <a:ln w="19050">
            <a:solidFill>
              <a:srgbClr val="2B579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1000" y="4642098"/>
            <a:ext cx="2017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942159" y="4642098"/>
            <a:ext cx="12850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복잡도 / 기능 다양성  →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565207" y="4642098"/>
            <a:ext cx="2017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81000" y="4891236"/>
            <a:ext cx="838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81000" y="4946749"/>
            <a:ext cx="854964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Silberschatz et al., Operating System Concepts, 10th ed., 2018.  [4] Arpaci-Dusseau, OSTEP, v1.10, 2023.  [5] Kurose &amp; Ross, Computer Networking, 9th ed., 2025.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800" y="203150"/>
            <a:ext cx="3746599" cy="403027"/>
          </a:xfrm>
          <a:prstGeom prst="rect">
            <a:avLst/>
          </a:prstGeom>
          <a:solidFill>
            <a:srgbClr val="2B57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304800" y="596652"/>
            <a:ext cx="3746599" cy="0"/>
          </a:xfrm>
          <a:prstGeom prst="line">
            <a:avLst/>
          </a:prstGeom>
          <a:noFill/>
          <a:ln w="19050">
            <a:solidFill>
              <a:srgbClr val="2B57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6823" y="304651"/>
            <a:ext cx="356255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 프로세스 스케줄링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800" y="682377"/>
            <a:ext cx="3746599" cy="536377"/>
          </a:xfrm>
          <a:prstGeom prst="rect">
            <a:avLst/>
          </a:prstGeom>
          <a:solidFill>
            <a:srgbClr val="F0F4FA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76250" y="802928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(Process)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76250" y="955328"/>
            <a:ext cx="3471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시간을 할당받는 기본 단위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800" y="1294954"/>
            <a:ext cx="3746599" cy="536377"/>
          </a:xfrm>
          <a:prstGeom prst="rect">
            <a:avLst/>
          </a:prstGeom>
          <a:solidFill>
            <a:srgbClr val="F0F4FA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6250" y="1415504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시간 배분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76250" y="1567904"/>
            <a:ext cx="3471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 퀀텀 단위로 분할 할당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800" y="1907530"/>
            <a:ext cx="3746599" cy="536377"/>
          </a:xfrm>
          <a:prstGeom prst="rect">
            <a:avLst/>
          </a:prstGeom>
          <a:solidFill>
            <a:srgbClr val="F0F4FA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76250" y="2028081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선점형 (Preemptive)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6250" y="2180481"/>
            <a:ext cx="3471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 프로세스를 중단 가능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800" y="2520107"/>
            <a:ext cx="3746599" cy="526852"/>
          </a:xfrm>
          <a:prstGeom prst="rect">
            <a:avLst/>
          </a:prstGeom>
          <a:solidFill>
            <a:srgbClr val="F0F4FA"/>
          </a:solidFill>
          <a:ln w="19050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76250" y="2640657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스케줄링 알고리즘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6250" y="2793057"/>
            <a:ext cx="34717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FCFS, Priority, MLFQ, WFQ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70350" y="1282898"/>
            <a:ext cx="20736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470350" y="2019449"/>
            <a:ext cx="20736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380012" y="2755999"/>
            <a:ext cx="39150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?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470350" y="3492550"/>
            <a:ext cx="20736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092601" y="203150"/>
            <a:ext cx="3746599" cy="403027"/>
          </a:xfrm>
          <a:prstGeom prst="rect">
            <a:avLst/>
          </a:prstGeom>
          <a:solidFill>
            <a:srgbClr val="4472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5092601" y="596652"/>
            <a:ext cx="3746599" cy="0"/>
          </a:xfrm>
          <a:prstGeom prst="line">
            <a:avLst/>
          </a:prstGeom>
          <a:noFill/>
          <a:ln w="19050">
            <a:solidFill>
              <a:srgbClr val="447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84624" y="304651"/>
            <a:ext cx="356255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API 요청 관리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92601" y="682377"/>
            <a:ext cx="3746599" cy="536377"/>
          </a:xfrm>
          <a:prstGeom prst="rect">
            <a:avLst/>
          </a:prstGeom>
          <a:solidFill>
            <a:srgbClr val="F0F6FC"/>
          </a:solidFill>
          <a:ln w="19050">
            <a:solidFill>
              <a:srgbClr val="4472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264051" y="802928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API 요청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264051" y="955328"/>
            <a:ext cx="3471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추론 시간을 할당받는 단위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92601" y="1294954"/>
            <a:ext cx="3746599" cy="536377"/>
          </a:xfrm>
          <a:prstGeom prst="rect">
            <a:avLst/>
          </a:prstGeom>
          <a:solidFill>
            <a:srgbClr val="F0F6FC"/>
          </a:solidFill>
          <a:ln w="19050">
            <a:solidFill>
              <a:srgbClr val="4472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264051" y="1415504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추론 시간 배분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64051" y="1567904"/>
            <a:ext cx="3471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등급에 따른 자원 배분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92601" y="1907530"/>
            <a:ext cx="3746599" cy="536377"/>
          </a:xfrm>
          <a:prstGeom prst="rect">
            <a:avLst/>
          </a:prstGeom>
          <a:solidFill>
            <a:srgbClr val="FDF2F2"/>
          </a:solidFill>
          <a:ln w="19050">
            <a:solidFill>
              <a:srgbClr val="C0392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264051" y="2028081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비선점형 (Non-preemptive)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264051" y="2180481"/>
            <a:ext cx="3471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추론은 중단 불가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092601" y="2520107"/>
            <a:ext cx="3746599" cy="536377"/>
          </a:xfrm>
          <a:prstGeom prst="rect">
            <a:avLst/>
          </a:prstGeom>
          <a:solidFill>
            <a:srgbClr val="F0F6FC"/>
          </a:solidFill>
          <a:ln w="19050">
            <a:solidFill>
              <a:srgbClr val="4472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264051" y="2640657"/>
            <a:ext cx="3471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처리 순서 결정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64051" y="2793057"/>
            <a:ext cx="3471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환경에 맞게 적응 필요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04800" y="4464397"/>
            <a:ext cx="8534400" cy="393502"/>
          </a:xfrm>
          <a:prstGeom prst="rect">
            <a:avLst/>
          </a:prstGeom>
          <a:solidFill>
            <a:srgbClr val="FDF2F2"/>
          </a:solidFill>
          <a:ln w="19050">
            <a:solidFill>
              <a:srgbClr val="C0392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46100" y="4584948"/>
            <a:ext cx="82517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과제: OS 스케줄링 알고리즘을 LLM 환경에 어떻게 적용할 수 있을까?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04800" y="4862661"/>
            <a:ext cx="8534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800" y="4918174"/>
            <a:ext cx="87050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OS에서는 실행 중인 작업을 중단할 수 있지만, LLM 추론은 중단이 어려움 → 이 차이를 어떻게 해결할지가 주요 과제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Figures - OS Scheduling for LLM API</dc:title>
  <dc:subject>PptxGenJS Presentation</dc:subject>
  <dc:creator>서민지 (C235180)</dc:creator>
  <cp:lastModifiedBy>서민지 (C235180)</cp:lastModifiedBy>
  <cp:revision>1</cp:revision>
  <dcterms:created xsi:type="dcterms:W3CDTF">2026-03-21T15:51:59Z</dcterms:created>
  <dcterms:modified xsi:type="dcterms:W3CDTF">2026-03-21T15:51:59Z</dcterms:modified>
</cp:coreProperties>
</file>