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Wait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2572</c:v>
                </c:pt>
                <c:pt idx="1">
                  <c:v>2826</c:v>
                </c:pt>
                <c:pt idx="2">
                  <c:v>2572</c:v>
                </c:pt>
                <c:pt idx="3">
                  <c:v>2819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Response (ms)</c:v>
                </c:pt>
              </c:strCache>
            </c:strRef>
          </c:tx>
          <c:spPr>
            <a:solidFill>
              <a:srgbClr val="55555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849</c:v>
                </c:pt>
                <c:pt idx="1">
                  <c:v>1256</c:v>
                </c:pt>
                <c:pt idx="2">
                  <c:v>3278</c:v>
                </c:pt>
                <c:pt idx="3">
                  <c:v>4894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04800"/>
            <a:ext cx="2000250" cy="419129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9052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74244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FCFS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020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First-Come First-Served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747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747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17475" y="1383804"/>
            <a:ext cx="1727299" cy="3429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 FIFO queue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Non-preemptive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O(1) scheduling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17475" y="20392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7475" y="185350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17475" y="2132707"/>
            <a:ext cx="17618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Convoy effect; no service differentiation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508200" y="304800"/>
            <a:ext cx="2000399" cy="419129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517725" y="314325"/>
            <a:ext cx="1981349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601443" y="390525"/>
            <a:ext cx="18139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Priority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27401" y="809476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Priority-based + Aging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44676" y="1290340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44676" y="1104602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644676" y="1383804"/>
            <a:ext cx="1727448" cy="3429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4-level priority (URGENT~LOW)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Aging for starvation prevention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Dynamic priority adjustment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644676" y="2039243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44676" y="1853505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644676" y="2132707"/>
            <a:ext cx="17619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Potential starvation without aging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635550" y="304800"/>
            <a:ext cx="2000250" cy="419129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64507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728793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MLFQ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75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Multi-Level Feedback Queue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7202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202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2025" y="1383804"/>
            <a:ext cx="1727299" cy="3429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Adaptive classification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 quantum per level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Preemptive scheduling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72025" y="20392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72025" y="185350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72025" y="2132707"/>
            <a:ext cx="17618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Parameter tuning complexity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2750" y="304800"/>
            <a:ext cx="2000250" cy="419129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77227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855994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WFQ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8195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Weighted Fair Queuing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89922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9922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899225" y="1383804"/>
            <a:ext cx="1727299" cy="3429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Weight-proportional service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Virtual Finish Time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JFI fairness metric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899225" y="20392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99225" y="185350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899225" y="2132707"/>
            <a:ext cx="17618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Computational overhead of VFT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81000" y="4632573"/>
            <a:ext cx="838200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1000" y="4680198"/>
            <a:ext cx="28190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312914" y="4680198"/>
            <a:ext cx="248231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Implementation Complexity / Performance Optimization  →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401943" y="4680198"/>
            <a:ext cx="3682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Complex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81000" y="489123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81000" y="4946749"/>
            <a:ext cx="854964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[1] Silberschatz et al., Operating System Concepts, 10th ed., 2018.  [2] Arpaci-Dusseau, OSTEP, 2018.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04800"/>
            <a:ext cx="3385691" cy="336352"/>
          </a:xfrm>
          <a:prstGeom prst="rect">
            <a:avLst/>
          </a:prstGeom>
          <a:solidFill>
            <a:srgbClr val="333333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243" y="387251"/>
            <a:ext cx="32852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Operating System Domain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42656" y="396776"/>
            <a:ext cx="4677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Mapping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77160" y="304800"/>
            <a:ext cx="3385840" cy="336352"/>
          </a:xfrm>
          <a:prstGeom prst="rect">
            <a:avLst/>
          </a:prstGeom>
          <a:solidFill>
            <a:srgbClr val="666666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27402" y="387251"/>
            <a:ext cx="328535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LLM API Domain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1000" y="768102"/>
            <a:ext cx="3407420" cy="33337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861096" y="853827"/>
            <a:ext cx="4561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Process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83001" y="777627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74344" y="987177"/>
            <a:ext cx="607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Scheduling unit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355580" y="768102"/>
            <a:ext cx="3407420" cy="333375"/>
          </a:xfrm>
          <a:prstGeom prst="rect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508403" y="853827"/>
            <a:ext cx="11236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LLM API Request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1000" y="1177677"/>
            <a:ext cx="3407420" cy="33337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71055" y="1263402"/>
            <a:ext cx="6397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CPU Time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3001" y="1187202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14366" y="1396752"/>
            <a:ext cx="7294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Allocated resource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55580" y="1177677"/>
            <a:ext cx="3407420" cy="333375"/>
          </a:xfrm>
          <a:prstGeom prst="rect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93681" y="1263402"/>
            <a:ext cx="9496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API Call Quota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1000" y="1587252"/>
            <a:ext cx="3407420" cy="33337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848148" y="1672977"/>
            <a:ext cx="48258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Priority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3001" y="1596777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17789" y="1806327"/>
            <a:ext cx="7224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Ordering criterion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355580" y="1587252"/>
            <a:ext cx="3407420" cy="333375"/>
          </a:xfrm>
          <a:prstGeom prst="rect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38441" y="1672977"/>
            <a:ext cx="14705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Tenant Grade / Urgency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1000" y="1996827"/>
            <a:ext cx="3407420" cy="33337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430982" y="2082552"/>
            <a:ext cx="13336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Scheduling Algorithm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83001" y="2006352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271665" y="2215902"/>
            <a:ext cx="6125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Dispatch policy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355580" y="1996827"/>
            <a:ext cx="3407420" cy="333375"/>
          </a:xfrm>
          <a:prstGeom prst="rect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280993" y="2082552"/>
            <a:ext cx="15877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Request Processing Order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81000" y="2406402"/>
            <a:ext cx="3407420" cy="33337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736973" y="2492127"/>
            <a:ext cx="7093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Preemption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483001" y="2415927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199334" y="2625477"/>
            <a:ext cx="76023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Control mechanism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5355580" y="2406402"/>
            <a:ext cx="3407420" cy="333375"/>
          </a:xfrm>
          <a:prstGeom prst="rect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35129" y="2492127"/>
            <a:ext cx="20892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Request Suspension / Queue Move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81000" y="4856262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7180" y="4937224"/>
            <a:ext cx="85496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research applies proven OS scheduling theory to LLM API request management domain.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53901"/>
            <a:ext cx="8382000" cy="453926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272951"/>
            <a:ext cx="2590800" cy="415826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2450" y="399901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Client Layer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94000" y="404664"/>
            <a:ext cx="15661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REST API Client · Dashboard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96544" y="784027"/>
            <a:ext cx="15393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▼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1000" y="1031677"/>
            <a:ext cx="8382000" cy="558701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0050" y="1050727"/>
            <a:ext cx="2590800" cy="520601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2450" y="1177677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API Layer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52450" y="1339602"/>
            <a:ext cx="23317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(Express.js)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194000" y="1234827"/>
            <a:ext cx="36005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Request Mgmt · Scheduler Mgmt · Statistics/Fairness · Health Check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96544" y="1666577"/>
            <a:ext cx="15393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1000" y="1914227"/>
            <a:ext cx="8382000" cy="660202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00050" y="1984028"/>
            <a:ext cx="2590800" cy="52060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2450" y="2110978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Scheduler Engine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2450" y="2272903"/>
            <a:ext cx="23317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(Runtime-swappable)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194000" y="2034778"/>
            <a:ext cx="558701" cy="23812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330476" y="2082403"/>
            <a:ext cx="291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FCFS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828901" y="2034778"/>
            <a:ext cx="660202" cy="23812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965377" y="2082403"/>
            <a:ext cx="3949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Priority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65303" y="2034778"/>
            <a:ext cx="615851" cy="23812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01778" y="2082403"/>
            <a:ext cx="3497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MLFQ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57354" y="2034778"/>
            <a:ext cx="546050" cy="23812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393829" y="2082403"/>
            <a:ext cx="278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WFQ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879604" y="2034778"/>
            <a:ext cx="904577" cy="23812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016079" y="2082403"/>
            <a:ext cx="644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Rate Limiter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194000" y="2349103"/>
            <a:ext cx="219069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Features: Aging, Boost, Dual-level JFI measurement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496544" y="2650629"/>
            <a:ext cx="15393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81000" y="2898279"/>
            <a:ext cx="8382000" cy="453926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00050" y="2917329"/>
            <a:ext cx="2590800" cy="415826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52450" y="3044279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Storage Layer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194000" y="3049042"/>
            <a:ext cx="36757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Memory Arrays (Queue) · JSON Files (Log) · Ollama (LLM Backend)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1000" y="4881711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1000" y="4937224"/>
            <a:ext cx="85496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Stack: Node.js 22 LTS + Express.js 4.18 + Jest 29.x (307 tests, 99.76% coverage)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5550" y="228600"/>
            <a:ext cx="40449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Average Wait Time (ms)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498925" y="228600"/>
            <a:ext cx="4289524" cy="3264247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660850" y="365075"/>
            <a:ext cx="40449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60850" y="953839"/>
            <a:ext cx="3965674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0850" y="657076"/>
            <a:ext cx="40449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RQ1 (Priority):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URGENT requests processed 62% faster than FCFS baseline (Cohen's d = 0.78, p &lt; 0.001)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60850" y="1204466"/>
            <a:ext cx="3965674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0850" y="1022003"/>
            <a:ext cx="40449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RQ2 (MLFQ):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Short requests improved 73.78% (10 seeds, 95% CI: [72.36, 75.20])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660850" y="1272629"/>
            <a:ext cx="40449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RQ3 (WFQ):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Enterprise tier 5.8x faster than Free tier (JFI: system 0.89, tenant 0.92-0.98)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55550" y="3594348"/>
            <a:ext cx="40709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WFQ Tenant Response Time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24375" y="3594348"/>
            <a:ext cx="4264075" cy="1215926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60850" y="3705374"/>
            <a:ext cx="40709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MLFQ Multi-Seed Validation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60850" y="3898999"/>
            <a:ext cx="40709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 improvement: 73.78%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660850" y="4025950"/>
            <a:ext cx="40709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Std. dev.: 1.98% | CV: 2.68%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660850" y="4152900"/>
            <a:ext cx="40709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95% CI: [72.36, 75.20]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60850" y="4279850"/>
            <a:ext cx="40709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 &lt; 0.001 | Cohen's d = 15.9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55550" y="4891236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5550" y="4946749"/>
            <a:ext cx="8601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Experiment: 100 requests, 4 tenants (Enterprise/Premium/Standard/Free), Ollama LLM backend.</a:t>
            </a:r>
            <a:endParaRPr lang="en-US" sz="7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355550" y="431750"/>
          <a:ext cx="3965674" cy="3061097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Chart 1" descr=""/>
          <p:cNvGraphicFramePr/>
          <p:nvPr/>
        </p:nvGraphicFramePr>
        <p:xfrm>
          <a:off x="355550" y="3775323"/>
          <a:ext cx="3991124" cy="103495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Figures - OS Scheduling for LLM API</dc:title>
  <dc:subject>PptxGenJS Presentation</dc:subject>
  <dc:creator>서민지 (C235180)</dc:creator>
  <cp:lastModifiedBy>서민지 (C235180)</cp:lastModifiedBy>
  <cp:revision>1</cp:revision>
  <dcterms:created xsi:type="dcterms:W3CDTF">2026-03-05T05:25:00Z</dcterms:created>
  <dcterms:modified xsi:type="dcterms:W3CDTF">2026-03-05T05:25:00Z</dcterms:modified>
</cp:coreProperties>
</file>