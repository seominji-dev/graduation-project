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
(비선점형)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0"/>
          <c:min val="11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
(Short)</c:v>
                  </c:pt>
                  <c:pt idx="1">
                    <c:v>중간 요청
(Medium)</c:v>
                  </c:pt>
                  <c:pt idx="2">
                    <c:v>긴 요청
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선점형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
(Short)</c:v>
                  </c:pt>
                  <c:pt idx="1">
                    <c:v>중간 요청
(Medium)</c:v>
                  </c:pt>
                  <c:pt idx="2">
                    <c:v>긴 요청
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맑은 고딕"/>
              <a:cs typeface="맑은 고딕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2046</c:v>
                </c:pt>
                <c:pt idx="1">
                  <c:v>8301</c:v>
                </c:pt>
                <c:pt idx="2">
                  <c:v>15247</c:v>
                </c:pt>
                <c:pt idx="3">
                  <c:v>21790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저는 홍익대학교 컴퓨터공학과 4학년 서민지입니다. 저의 졸업 프로젝트인 "스케줄링 알고리즘을 활용한 다중 사용자 LLM API 요청 관리 시스템"을 발표하겠습니다.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발표는 크게 다섯 부분으로 구성되어 있습니다. 연구 배경과 목적을 시작으로, 시스템 설계, 구현 내용, 실험 결과, 그리고 결론 순서로 진행하겠습니다.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API 서비스는 현재 다중 사용자 환경에서 요청 관리 문제가 심각합니다. OS에서 오래전부터 검증된 스케줄링 알고리즘을 이 문제에 적용해보고자 했습니다. 세 가지 핵심 연구 질문을 중심으로 연구를 진행했습니다.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시스템은 5개 계층으로 구성됩니다. 클라이언트 요청이 API 계층에 도달하면, Rate Limiter가 구독 등급에 따라 요청 진입 여부를 결정하고, 스케줄러가 처리 순서를 결정하며, 최종적으로 LLM이 처리합니다. Node.js와 Express.js로 구현했습니다.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스케줄링 알고리즘을 구현했습니다. FCFS는 가장 단순하며 도착 순서를 보장합니다. Priority는 요청 긴급도에 따라 처리 순서를 결정합니다. MLFQ는 짧은 요청이 빠르게 처리되도록 설계되었습니다. WFQ는 구독 등급에 따라 처리 비중을 차등 적용합니다.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등급 체계는 두 가지 축으로 구성됩니다. 왼쪽은 요청 자체의 긴급도를 나타내는 우선순위로, Priority Scheduler에서 사용합니다. 오른쪽은 사용자의 구독 등급으로, WFQ와 Rate Limiter에서 활용합니다. Enterprise는 Free보다 8배 높은 처리 가중치를 가집니다.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500건의 시뮬레이션 실험 결과입니다. WFQ가 약 11,846ms로 가장 짧은 평균 대기시간을 보였습니다. 흥미로운 점은 MLFQ 비선점형이 FCFS와 동일한 결과를 보였다는 것입니다. 이는 한번 실행을 시작하면 중단되지 않기 때문에 큐 구조가 실질적인 차이를 만들지 못했기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선점형 MLFQ를 별도로 시뮬레이션한 결과입니다. 짧은 요청의 대기시간이 약 73% 감소했습니다. 그러나 긴 요청은 계속 낮은 큐로 밀려나 오히려 약 89% 증가했습니다. 이는 MLFQ의 특성으로, 짧은 요청 위주의 서비스에서는 매우 효과적이지만 긴 요청이 많은 환경에서는 주의가 필요합니다.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WFQ 실험에서 구독 등급별 확연한 차이가 나타났습니다. Enterprise는 약 2,046ms, Free는 약 21,790ms로 약 10배 차이를 보였습니다. 가중치 비율(8:4:2:1)에 비례하여 서비스 품질이 차등 적용된 것을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시뮬레이션을 넘어 실제 Ollama LLM 서버로 검증했습니다. 실서버에서도 스케줄링 순서가 올바르게 동작했으며, 실제 LLM 추론 시간은 약 116ms였습니다. 중요한 발견은 실제 LLM 추론은 중단할 수 없어 선점형 알고리즘 적용에 한계가 있다는 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연구 질문 모두에 답할 수 있었습니다. RQ1: 4개 알고리즘 모두 구현하여 실서버 검증까지 완료했습니다. RQ2: WFQ가 가장 짧은 대기시간을, MLFQ 선점형이 짧은 요청에 유리함을 확인했습니다. RQ3: FCFS계열은 공정하고 WFQ는 의도적으로 차등 서비스를 제공함을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가지 시나리오로 데모를 진행합니다. 첫 번째는 FCFS와 WFQ의 처리 순서 차이를 직접 보여드립니다. 두 번째는 Rate Limiter가 Free 등급에 대해 요청을 제한하는 모습을 보여드립니다. 화면에 표시된 명령어로 요청을 전송합니다.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스케줄링 알고리즘을 활용한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사용자 LLM API 요청 관리 시스템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BFD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Multi-User LLM API Request Management System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BFD7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Using Scheduling Algorithms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28800" y="3566160"/>
            <a:ext cx="5486400" cy="2560320"/>
          </a:xfrm>
          <a:prstGeom prst="rect">
            <a:avLst>
              <a:gd name="adj" fmla="val 357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374904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66160" y="3749040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서민지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94560" y="4261104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4261104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홍익대학교 컴퓨터공학과 4학년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94560" y="4773168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지도교수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4773168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이장호 교수님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94560" y="5285232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528523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5월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0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홍익대학교 컴퓨터공학과 | 서민지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1155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0698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배경 및 목적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61872" y="1371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 · 연구 질문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746504"/>
            <a:ext cx="80467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0299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29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19842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설계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61872" y="22860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· 4계층 구조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660904"/>
            <a:ext cx="80467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443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44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8986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261872" y="32004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4가지 스케줄링 알고리즘 · 등급 체계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575304"/>
            <a:ext cx="80467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587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587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38130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261872" y="41148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비교 · MLFQ 선점형 · WFQ 차등 서비스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489704"/>
            <a:ext cx="804672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77316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73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34440" y="47274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261872" y="50292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요약 · 한계 · 향후 과제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배경 및 목적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0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홍익대학교 컴퓨터공학과 | 서민지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2286000"/>
          </a:xfrm>
          <a:prstGeom prst="rect">
            <a:avLst>
              <a:gd name="adj" fmla="val 32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LLM API 서비스 다중 사용자 동시 접속 급증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요청 처리 순서·우선순위 기준 없음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특정 사용자 독점 시 다른 사용자 대기 지연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구독 등급별 차등 서비스 불가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6280" y="2057400"/>
            <a:ext cx="5486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920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20640" y="1005840"/>
            <a:ext cx="3749040" cy="2286000"/>
          </a:xfrm>
          <a:prstGeom prst="rect">
            <a:avLst>
              <a:gd name="adj" fmla="val 3200"/>
            </a:avLst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접근법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03520" y="148132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스케줄링 알고리즘을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API 요청 관리에 적용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2860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 · Priority · MLFQ · WFQ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4가지 알고리즘 구현 및 비교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질문 (Research Questions)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74320" y="3913632"/>
            <a:ext cx="1005840" cy="365760"/>
          </a:xfrm>
          <a:prstGeom prst="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1363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RQ1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931920"/>
            <a:ext cx="7452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스케줄링 알고리즘을 LLM API 환경에 구현할 수 있는가?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443984"/>
            <a:ext cx="1005840" cy="365760"/>
          </a:xfrm>
          <a:prstGeom prst="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44398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RQ2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462272"/>
            <a:ext cx="7452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알고리즘별 성능(대기시간)은 어떻게 다른가?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4974336"/>
            <a:ext cx="1005840" cy="365760"/>
          </a:xfrm>
          <a:prstGeom prst="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74336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RQ3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992624"/>
            <a:ext cx="7452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공정성(JFI)은 알고리즘별로 어떻게 차이나는가?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아키텍처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0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홍익대학교 컴퓨터공학과 | 서민지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960120"/>
            <a:ext cx="5852160" cy="640080"/>
          </a:xfrm>
          <a:prstGeom prst="rect">
            <a:avLst>
              <a:gd name="adj" fmla="val 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9875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987552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  ·  대시보드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16002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1709928"/>
            <a:ext cx="5852160" cy="640080"/>
          </a:xfrm>
          <a:prstGeom prst="rect">
            <a:avLst>
              <a:gd name="adj" fmla="val 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737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40480" y="1737360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Express.js  ·  요청 접수  ·  통계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235000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2459736"/>
            <a:ext cx="5852160" cy="640080"/>
          </a:xfrm>
          <a:prstGeom prst="rect">
            <a:avLst>
              <a:gd name="adj" fmla="val 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24871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제한 계층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40480" y="2487168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 ·  토큰 버킷 알고리즘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309981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97280" y="3209544"/>
            <a:ext cx="5852160" cy="640080"/>
          </a:xfrm>
          <a:prstGeom prst="rect">
            <a:avLst>
              <a:gd name="adj" fmla="val 857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2369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40480" y="3236976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  ·  Priority  ·  MLFQ  ·  WFQ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84962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3959352"/>
            <a:ext cx="5852160" cy="640080"/>
          </a:xfrm>
          <a:prstGeom prst="rect">
            <a:avLst>
              <a:gd name="adj" fmla="val 857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398678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/ LLM 계층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840480" y="3986784"/>
            <a:ext cx="29260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  ·  JSON 로그  ·  Ollama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78040" y="960120"/>
            <a:ext cx="1737360" cy="3639312"/>
          </a:xfrm>
          <a:prstGeom prst="rect">
            <a:avLst>
              <a:gd name="adj" fmla="val 315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0241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69480" y="1325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Node.js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69480" y="192938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Express.js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69480" y="253288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JavaScript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69480" y="31363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SQLite (로그)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69480" y="373989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Ollama (LLM)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스케줄링 알고리즘 비교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0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홍익대학교 컴퓨터공학과 | 서민지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22860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05840"/>
            <a:ext cx="4114800" cy="438912"/>
          </a:xfrm>
          <a:prstGeom prst="rect">
            <a:avLst>
              <a:gd name="adj" fmla="val 208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61872"/>
            <a:ext cx="411480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424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First-Come, First-Served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8928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" y="24505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단순, 공평, 순서 보장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14800" cy="22860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005840"/>
            <a:ext cx="4114800" cy="438912"/>
          </a:xfrm>
          <a:prstGeom prst="rect">
            <a:avLst>
              <a:gd name="adj" fmla="val 208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261872"/>
            <a:ext cx="411480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04241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9204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 Scheduling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8928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긴급한 요청 먼저 처리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24505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URGENT &gt; HIGH &gt; NORMAL &gt; 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4114800" cy="22860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74720"/>
            <a:ext cx="4114800" cy="438912"/>
          </a:xfrm>
          <a:prstGeom prst="rect">
            <a:avLst>
              <a:gd name="adj" fmla="val 208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730752"/>
            <a:ext cx="411480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112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11480" y="4023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Multi-Level Feedback Queue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361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 우선 처리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1480" y="49194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큐 수준에 따른 시간 할당량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474720"/>
            <a:ext cx="4114800" cy="2286000"/>
          </a:xfrm>
          <a:prstGeom prst="rect">
            <a:avLst>
              <a:gd name="adj" fmla="val 4000"/>
            </a:avLst>
          </a:prstGeom>
          <a:solidFill>
            <a:srgbClr val="EFF6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474720"/>
            <a:ext cx="4114800" cy="438912"/>
          </a:xfrm>
          <a:prstGeom prst="rect">
            <a:avLst>
              <a:gd name="adj" fmla="val 208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730752"/>
            <a:ext cx="411480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51129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892040" y="4023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Weighted Fair Queuing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43616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등급별 차등 서비스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92040" y="491947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Enterprise &gt; Premium &gt; Standard &gt; Free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체계 설계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0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홍익대학교 컴퓨터공학과 | 서민지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023360" cy="4846320"/>
          </a:xfrm>
          <a:prstGeom prst="rect">
            <a:avLst>
              <a:gd name="adj" fmla="val 2273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05840"/>
            <a:ext cx="4023360" cy="502920"/>
          </a:xfrm>
          <a:prstGeom prst="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61872"/>
            <a:ext cx="4023360" cy="246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332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우선순위 (Request Priority)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 Scheduler 사용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938528"/>
            <a:ext cx="1188720" cy="566928"/>
          </a:xfrm>
          <a:prstGeom prst="rect">
            <a:avLst>
              <a:gd name="adj" fmla="val 967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3852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74520" y="20482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처리 필요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807208"/>
            <a:ext cx="1188720" cy="566928"/>
          </a:xfrm>
          <a:prstGeom prst="rect">
            <a:avLst>
              <a:gd name="adj" fmla="val 967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0720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74520" y="29169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 처리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75888"/>
            <a:ext cx="1188720" cy="566928"/>
          </a:xfrm>
          <a:prstGeom prst="rect">
            <a:avLst>
              <a:gd name="adj" fmla="val 967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7588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74520" y="37856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처리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544568"/>
            <a:ext cx="1188720" cy="566928"/>
          </a:xfrm>
          <a:prstGeom prst="rect">
            <a:avLst>
              <a:gd name="adj" fmla="val 967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544568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74520" y="465429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여유 처리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114800" cy="4846320"/>
          </a:xfrm>
          <a:prstGeom prst="rect">
            <a:avLst>
              <a:gd name="adj" fmla="val 2222"/>
            </a:avLst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005840"/>
            <a:ext cx="4114800" cy="502920"/>
          </a:xfrm>
          <a:prstGeom prst="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261872"/>
            <a:ext cx="4114800" cy="246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0332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등급 (Subscription Tier)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89204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 Scheduler · Rate Limiter 사용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1938528"/>
            <a:ext cx="1417320" cy="566928"/>
          </a:xfrm>
          <a:prstGeom prst="rect">
            <a:avLst>
              <a:gd name="adj" fmla="val 96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193852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197510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8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분당 120건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37760" y="2807208"/>
            <a:ext cx="1417320" cy="566928"/>
          </a:xfrm>
          <a:prstGeom prst="rect">
            <a:avLst>
              <a:gd name="adj" fmla="val 967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80720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92240" y="284378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4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분당 60건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937760" y="3675888"/>
            <a:ext cx="1417320" cy="566928"/>
          </a:xfrm>
          <a:prstGeom prst="rect">
            <a:avLst>
              <a:gd name="adj" fmla="val 967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67588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92240" y="371246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2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분당 30건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37760" y="4544568"/>
            <a:ext cx="1417320" cy="566928"/>
          </a:xfrm>
          <a:prstGeom prst="rect">
            <a:avLst>
              <a:gd name="adj" fmla="val 967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45445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92240" y="458114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분당 10건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 1: 알고리즘별 평균 대기시간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0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홍익대학교 컴퓨터공학과 | 서민지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12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005840"/>
          <a:ext cx="54864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 rot="5400000">
            <a:off x="0" y="228600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대기시간 (ms)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005840"/>
            <a:ext cx="2651760" cy="4114800"/>
          </a:xfrm>
          <a:prstGeom prst="rect">
            <a:avLst>
              <a:gd name="adj" fmla="val 3448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0972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발견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55080" y="1572768"/>
            <a:ext cx="233172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19088" y="1792224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03136" y="166420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MLFQ(비선점형)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FCFS 동일 결과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5080" y="2715768"/>
            <a:ext cx="233172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19088" y="2935224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803136" y="280720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WFQ가 가장 짧은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대기시간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5080" y="3858768"/>
            <a:ext cx="2331720" cy="960120"/>
          </a:xfrm>
          <a:prstGeom prst="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19088" y="4078224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803136" y="3950208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선점 없이는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 순서와 무관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5257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시뮬레이션 500건, 처리시간 10~100ms 균등 분포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 2: MLFQ 선점형 vs FCFS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0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홍익대학교 컴퓨터공학과 | 서민지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12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005840"/>
          <a:ext cx="59436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 rot="5400000">
            <a:off x="0" y="228600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대기시간 (초)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1005840"/>
            <a:ext cx="2468880" cy="1645920"/>
          </a:xfrm>
          <a:prstGeom prst="rect">
            <a:avLst>
              <a:gd name="adj" fmla="val 5556"/>
            </a:avLst>
          </a:prstGeom>
          <a:solidFill>
            <a:srgbClr val="FFF7ED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37960" y="1097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 대기시간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37960" y="144475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73% 감소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37960" y="1965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635초 → 170초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2834640"/>
            <a:ext cx="2468880" cy="2377440"/>
          </a:xfrm>
          <a:prstGeom prst="rect">
            <a:avLst>
              <a:gd name="adj" fmla="val 384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29260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트레이드오프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37960" y="3355848"/>
            <a:ext cx="2194560" cy="420624"/>
          </a:xfrm>
          <a:prstGeom prst="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339242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Short  ↓73%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537960" y="3904488"/>
            <a:ext cx="2194560" cy="420624"/>
          </a:xfrm>
          <a:prstGeom prst="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394106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Medium ↑13%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537960" y="4453128"/>
            <a:ext cx="2194560" cy="420624"/>
          </a:xfrm>
          <a:prstGeom prst="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0" y="448970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Long   ↑89%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 3: WFQ 구독 등급별 대기시간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0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홍익대학교 컴퓨터공학과 | 서민지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12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00584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 rot="5400000">
            <a:off x="0" y="228600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대기시간 (ms)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005840"/>
            <a:ext cx="2560320" cy="4206240"/>
          </a:xfrm>
          <a:prstGeom prst="rect">
            <a:avLst>
              <a:gd name="adj" fmla="val 3571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097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결과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46520" y="15087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2,046ms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4652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46520" y="26060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21,790ms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46520" y="3401568"/>
            <a:ext cx="2286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3520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10배 차이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46520" y="4069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비율에 비례한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차등 서비스 확인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 결과 4: 실서버(Ollama) 검증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0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홍익대학교 컴퓨터공학과 | 서민지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206240" cy="4206240"/>
          </a:xfrm>
          <a:prstGeom prst="rect">
            <a:avLst>
              <a:gd name="adj" fmla="val 2174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4206240" cy="502920"/>
          </a:xfrm>
          <a:prstGeom prst="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61872"/>
            <a:ext cx="4206240" cy="246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332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1627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처리시간: 10~100ms (미리 설정)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24942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스케줄러: 처리 순서 결정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87121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결과: 즉시 반환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4930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선점형: 구현 가능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장점: 빠른 반복 실험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92040" y="1005840"/>
            <a:ext cx="4206240" cy="4206240"/>
          </a:xfrm>
          <a:prstGeom prst="rect">
            <a:avLst>
              <a:gd name="adj" fmla="val 2174"/>
            </a:avLst>
          </a:prstGeom>
          <a:solidFill>
            <a:srgbClr val="EFF6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1005840"/>
            <a:ext cx="4206240" cy="502920"/>
          </a:xfrm>
          <a:prstGeom prst="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1261872"/>
            <a:ext cx="4206240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0332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(Ollama LLM)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74920" y="16276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처리시간: 약 116ms (실제 추론)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224942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스케줄러: 처리 순서 결정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74920" y="287121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결과: 실제 LLM 응답 생성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34930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선점형: 불가 (추론 중단 불가)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74920" y="4114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장점: 실제 환경 검증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5349240"/>
            <a:ext cx="8412480" cy="1005840"/>
          </a:xfrm>
          <a:prstGeom prst="rect">
            <a:avLst>
              <a:gd name="adj" fmla="val 7273"/>
            </a:avLst>
          </a:prstGeom>
          <a:solidFill>
            <a:srgbClr val="FEF9C3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413248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발견: 스케줄러는 처리 순서만 결정하며, 실제 LLM 추론 속도에는 영향을 주지 않습니다.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환경에서도 스케줄링 알고리즘이 정상 동작하였고, 선점형 구현은 실제 LLM에서 제약이 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0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홍익대학교 컴퓨터공학과 | 서민지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1143000"/>
          </a:xfrm>
          <a:prstGeom prst="rect">
            <a:avLst>
              <a:gd name="adj" fmla="val 6400"/>
            </a:avLst>
          </a:prstGeom>
          <a:solidFill>
            <a:srgbClr val="EFF6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15568"/>
            <a:ext cx="777240" cy="777240"/>
          </a:xfrm>
          <a:prstGeom prst="rect">
            <a:avLst>
              <a:gd name="adj" fmla="val 705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155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RQ1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097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가능성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1444752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알고리즘 모두 구현 완료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연동까지 검증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8595360" cy="1143000"/>
          </a:xfrm>
          <a:prstGeom prst="rect">
            <a:avLst>
              <a:gd name="adj" fmla="val 6400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77440"/>
            <a:ext cx="777240" cy="777240"/>
          </a:xfrm>
          <a:prstGeom prst="rect">
            <a:avLst>
              <a:gd name="adj" fmla="val 705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774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RQ2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3591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비교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2706624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 평균 대기시간 최소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선점형은 짧은 요청에 유리 (약 73% 감소)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529584"/>
            <a:ext cx="8595360" cy="1143000"/>
          </a:xfrm>
          <a:prstGeom prst="rect">
            <a:avLst>
              <a:gd name="adj" fmla="val 6400"/>
            </a:avLst>
          </a:prstGeom>
          <a:solidFill>
            <a:srgbClr val="EFF6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639312"/>
            <a:ext cx="777240" cy="777240"/>
          </a:xfrm>
          <a:prstGeom prst="rect">
            <a:avLst>
              <a:gd name="adj" fmla="val 705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3931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RQ3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6210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공정성 분석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3968496"/>
            <a:ext cx="7406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FCFS·Priority·MLFQ: JFI = 1.0 (완전 공평)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WFQ: JFI = 0.32 (의도적 차등)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4828032"/>
            <a:ext cx="8595360" cy="868680"/>
          </a:xfrm>
          <a:prstGeom prst="rect">
            <a:avLst>
              <a:gd name="adj" fmla="val 8421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011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및 향후 과제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1937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시뮬레이션 기반 실험 (실제 부하와 차이 가능)   • 선점형은 실제 LLM에서 적용 불가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향후: 분산 환경 적용, 토큰 수 기반 선점형 설계, 실 트래픽 검증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데모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0"/>
            <a:ext cx="8595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홍익대학교 컴퓨터공학과 | 서민지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685800"/>
          </a:xfrm>
          <a:prstGeom prst="rect">
            <a:avLst>
              <a:gd name="adj" fmla="val 10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114800" cy="3108960"/>
          </a:xfrm>
          <a:prstGeom prst="rect">
            <a:avLst>
              <a:gd name="adj" fmla="val 2941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74520"/>
            <a:ext cx="4114800" cy="457200"/>
          </a:xfrm>
          <a:prstGeom prst="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21408"/>
            <a:ext cx="4114800" cy="2103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019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1: FCFS vs WFQ 비교 (2분)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FCFS 서버 시작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4개 등급 요청 전송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처리 순서 확인 (도착 순서)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WFQ로 전환 후 재전송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Enterprise 우선 처리 확인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874520"/>
            <a:ext cx="4206240" cy="3108960"/>
          </a:xfrm>
          <a:prstGeom prst="rect">
            <a:avLst>
              <a:gd name="adj" fmla="val 2941"/>
            </a:avLst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874520"/>
            <a:ext cx="4206240" cy="457200"/>
          </a:xfrm>
          <a:prstGeom prst="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121408"/>
            <a:ext cx="4206240" cy="2103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0195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2: Rate Limiter 시연 (1분)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423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Rate Limiter 활성화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26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Free 등급 6개 요청 전송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429 응답 확인 (한도 초과)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Enterprise는 정상 처리 확인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5102352"/>
            <a:ext cx="8595360" cy="1234440"/>
          </a:xfrm>
          <a:prstGeom prst="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166360"/>
            <a:ext cx="8321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SCHEDULER_TYPE=WFQ node src-simple/server.js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http://localhost:3000/api/requests -H "Content-Type: application/json" \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'{"prompt":"Hello","tenantId":"enterprise","tier":"enterprise","priority":"HIGH"}'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2026-04-11T08:19:15Z</dcterms:created>
  <dcterms:modified xsi:type="dcterms:W3CDTF">2026-04-11T08:19:15Z</dcterms:modified>
</cp:coreProperties>
</file>