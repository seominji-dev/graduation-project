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스케줄링 알고리즘을 활용한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요청 최적화 스케줄러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운영체제 이론의 현대 AI 시스템 적용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홍익대학교 C235180 서민지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졸업프로젝트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10972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문제 제기 및 연구 배경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해결 방안: OS 스케줄링 알고리즘 적용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시스템 설계 및 아키텍처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구현 상세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9260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실험 결과 및 평가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3832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데모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840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결론 및 향후 계획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 / 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사용 환경의 문제점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사용자 LLM API 환경에서 발생하는 문제들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폭증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무분별한 API 요청으로 예산 초과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지연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대기열 관리 부재로 불규칙한 응답 시간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공정성 부재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긴급 요청도 대량 작업 뒤에서 대기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자원 낭비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 없는 비효율적 처리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 / 24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문제 시나리오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사용자 A: 긴급 고객 문의 응답 (URGENT)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사용자 B: 대량 데이터 분석 100건 (LOW)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사용자 C: 일반 채팅 (NORMAL)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시스템 문제: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도착 순서대로 처리 → 긴급 요청 A가 대량 작업 B 뒤에서 장시간 대기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결과: 고객 불만, 서비스 품질 저하, 비즈니스 손실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1A3D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해결책: 스케줄링 알고리즘 적용으로 우선순위 기반 처리!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 / 24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질문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"운영체제의 검증된 스케줄링 알고리즘을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요청 관리에 적용하면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효율성과 공정성을 동시에 달성할 수 있을까?"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착안점: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OS에서 CPU는 한정된 자원 → LLM에서 API 호출 권한도 한정된 자원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OS에서 프로세스 스케줄링 → LLM에서 요청 스케줄링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수십 년간 검증된 알고리즘의 새로운 도메인 적용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 / 24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 매핑 - OS와 LLM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4389120" y="1005840"/>
            <a:ext cx="42976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개념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시스템 적용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8404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0" y="1508760"/>
            <a:ext cx="4297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프로세스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1600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요청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38404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2011680"/>
            <a:ext cx="4297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시간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호출 권한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38404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4389120" y="2514600"/>
            <a:ext cx="4297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2606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등급, 요청 긴급도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38404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4389120" y="3017520"/>
            <a:ext cx="4297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스케줄링 알고리즘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3108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처리 순서 결정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38404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4389120" y="3520440"/>
            <a:ext cx="4297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스위칭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80560" y="3611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간 전환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 / 24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4가지 스케줄링 알고리즘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First-Come, First-Served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도착 순서대로 처리 (베이스라인)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11480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 기반 처리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Aging으로 기아 방지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411480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MLFQ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Multi-Level Feedback Queue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 큐, 응답성+처리량 동시 달성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411480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WFQ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3291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Fair Queuing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 기반 공정 스케줄링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 / 24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MLFQ 상세 설명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규칙: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Rule 1: 높은 우선순위 큐 먼저 실행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Rule 2: 같은 우선순위는 Round-Robin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Rule 3: 새 작업은 최고 우선순위(Q0)에서 시작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Rule 4: 타임 슬라이스 초과 시 강등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Rule 5: 주기적으로 모든 작업을 Q0로 Boost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137160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1920240" y="3017520"/>
            <a:ext cx="137160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3017520"/>
            <a:ext cx="228600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63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3063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타임 퀀텀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30632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13716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1920240" y="3383280"/>
            <a:ext cx="13716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3383280" y="3383280"/>
            <a:ext cx="22860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290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4290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34290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짧은 대화형 요청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13716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1920240" y="3749040"/>
            <a:ext cx="13716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3383280" y="3749040"/>
            <a:ext cx="22860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7947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37947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7947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 길이 요청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13716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1920240" y="4114800"/>
            <a:ext cx="13716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3383280" y="4114800"/>
            <a:ext cx="22860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160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11680" y="4160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8초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74720" y="41605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 요청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480560"/>
            <a:ext cx="13716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1920240" y="4480560"/>
            <a:ext cx="13716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Shape 34"/>
          <p:cNvSpPr/>
          <p:nvPr/>
        </p:nvSpPr>
        <p:spPr>
          <a:xfrm>
            <a:off x="3383280" y="4480560"/>
            <a:ext cx="22860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5262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011680" y="45262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무제한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74720" y="45262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작업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0" y="914400"/>
            <a:ext cx="27432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Q0 - 최고 우선순위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943600" y="1463040"/>
            <a:ext cx="2743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1554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943600" y="2011680"/>
            <a:ext cx="2743200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5040" y="2103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943600" y="2560320"/>
            <a:ext cx="274320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0" y="2651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Q3 - 최저 우선순위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94360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타임슬라이스 초과 시 강등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94360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Boost: 60초마다 Q0로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 / 24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WFQ와 공정성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 Finish Time = Virtual Start Time + (Service Time / Weight)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테넌트 가중치: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Enterprise: 100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Premium: 50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Standard: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Free: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645920"/>
            <a:ext cx="411480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Jain's Fairness Index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1031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1.0 → 완벽한 공정성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 테넌트: 0.92-0.98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시스템: 0.89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멀티테넌트 공정성 우수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9 / 24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아키텍처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7315200" cy="77724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960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Controller  •  Scheduler Factory  •  Dashboard Service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0" y="16916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7315200" cy="777240"/>
          </a:xfrm>
          <a:prstGeom prst="rect">
            <a:avLst/>
          </a:prstGeom>
          <a:solidFill>
            <a:srgbClr val="1E293B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Engine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FCFS | Priority | MLFQ | WFQ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2606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743200"/>
            <a:ext cx="7315200" cy="77724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788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1546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Manager  •  Boost Manager  •  Fairness Calculator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35204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3657600"/>
            <a:ext cx="7315200" cy="77724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069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(BullMQ)  •  MongoDB (Logs)  •  LLM Service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 / 24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2860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914400"/>
            <a:ext cx="22860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0" y="914400"/>
            <a:ext cx="13716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875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9875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0" y="987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0" y="13716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5212080" y="1371600"/>
            <a:ext cx="1371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4447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런타임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14447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14447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LTS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8288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2834640" y="18288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5212080" y="1828800"/>
            <a:ext cx="1371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1901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1901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1901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2860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2834640" y="22860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5212080" y="2286000"/>
            <a:ext cx="1371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3591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프레임워크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0" y="23591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3591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4.18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27432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2834640" y="27432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5212080" y="2743200"/>
            <a:ext cx="1371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28163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큐 시스템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926080" y="28163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BullMQ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28163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2004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2834640" y="32004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Shape 34"/>
          <p:cNvSpPr/>
          <p:nvPr/>
        </p:nvSpPr>
        <p:spPr>
          <a:xfrm>
            <a:off x="5212080" y="3200400"/>
            <a:ext cx="1371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2735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926080" y="32735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03520" y="3273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36576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9"/>
          <p:cNvSpPr/>
          <p:nvPr/>
        </p:nvSpPr>
        <p:spPr>
          <a:xfrm>
            <a:off x="2834640" y="36576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Shape 40"/>
          <p:cNvSpPr/>
          <p:nvPr/>
        </p:nvSpPr>
        <p:spPr>
          <a:xfrm>
            <a:off x="5212080" y="3657600"/>
            <a:ext cx="1371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37307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캐싱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926080" y="37307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03520" y="37307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7.2+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41148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Shape 45"/>
          <p:cNvSpPr/>
          <p:nvPr/>
        </p:nvSpPr>
        <p:spPr>
          <a:xfrm>
            <a:off x="2834640" y="41148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8" name="Shape 46"/>
          <p:cNvSpPr/>
          <p:nvPr/>
        </p:nvSpPr>
        <p:spPr>
          <a:xfrm>
            <a:off x="5212080" y="4114800"/>
            <a:ext cx="1371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187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926080" y="4187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303520" y="4187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29.7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11 / 24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모델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LLMRequest 모델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id: 고유 식별자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prompt: 사용자 입력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provider: ollama, openai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priority: LOW(0) ~ URGENT(3)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status: pending → completed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91440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05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MLFQ 확장 필드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280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queueLevel, timeSliceUsed, totalCPUTime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011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WFQ 확장 필드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virtualStartTime, virtualFinishTime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weight, tenantId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12 / 24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스케줄러 인터페이스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통일된 인터페이스로 알고리즘 교체 가능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029200" cy="2743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initialize()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submit(request)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getStatus(requestId)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cancel(requestId)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getStats()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pause()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resume()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shutdown()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1280160"/>
            <a:ext cx="301752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52160" y="17373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런타임 알고리즘 교체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테스트 용이성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확장성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13 / 24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컴포넌트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AgingManager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Scheduler용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기아 방지 우선순위 동적 조정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30초 대기 시 우선순위 상향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BoostManager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3716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MLFQ용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60초 주기로 모든 작업을 Q0로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5 구현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411480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43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FairnessCalculator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1089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WFQ용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Jain's Fairness Index 계산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공정성 리포트 생성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651760"/>
            <a:ext cx="411480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743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TenantRegistry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31089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WFQ용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테넌트별 가중치 관리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동적 가중치 조정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14 / 24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FCFS &amp; Priority 구현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FCFS 구현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BullMQ 큐의 FIFO 특성 활용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모든 작업에 동일 우선순위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시간 복잡도: O(1)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114800" cy="182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구현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BullMQ priority 옵션 활용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우선순위 변환 적용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AgingManager 연동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변환 로직: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URGENT(3) → 0    HIGH(2) → 2    NORMAL(1) → 4    LOW(0) → 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(MAX_PRIORITY - priority) * 2 = BullMQ Priority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15 / 24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MLFQ 구현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구현 포인트: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4개 독립 큐: mlfq-q0, mlfq-q1, mlfq-q2, mlfq-q3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타임 슬라이스 추적: 각 작업의 CPU 사용량 기록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큐 강등 로직: 타임 슬라이스 초과 시 다음 레벨로 이동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Boost 구현: 60초마다 모든 작업을 Q0로 이동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4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 특성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대화형 요청: Q0에서 빠르게 처리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배치 작업: 점진적 강등 후 Q3에서 안정적 처리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공정성: Boost로 장기 대기 방지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16 / 24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WFQ 구현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 Finish Time = Virtual Start Time + (Service Time / Weight)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컴포넌트: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VirtualTimeTracker: 전역 가상 시간 관리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TenantRegistry: 테넌트 가중치 관리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FairnessCalculator: 공정성 지표 계산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17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공정성 보장 원리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가중치가 높은 테넌트 → 낮은 Virtual Finish Time → 우선 처리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가중치가 낮은 테넌트 → 높은 Virtual Finish Time → 지연 처리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결과: 가중치 비율에 맞는 자원 분배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17 / 24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품질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현황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테스트: 757개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통과율: 100%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시간: 2.988초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11480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커버리지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Statements: 98.37%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Branches: 82.57%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Functions: 90.19%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Lines: 96.54%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51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5 점수: 88/100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1463040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286000" y="3108960"/>
            <a:ext cx="1463040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3172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931920" y="3108960"/>
            <a:ext cx="1463040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7764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577840" y="3108960"/>
            <a:ext cx="1463040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2356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23760" y="3108960"/>
            <a:ext cx="1463040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948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Trackable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18 / 24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 비교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914400"/>
            <a:ext cx="20116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69748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대기시간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20116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03720" y="914400"/>
            <a:ext cx="21031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6995160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18288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508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06040" y="1417320"/>
            <a:ext cx="2011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2011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1417320"/>
            <a:ext cx="21031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1920240"/>
            <a:ext cx="18288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06040" y="1920240"/>
            <a:ext cx="2011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269748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개선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920240"/>
            <a:ext cx="2011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03720" y="1920240"/>
            <a:ext cx="21031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2423160"/>
            <a:ext cx="18288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MLFQ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06040" y="2423160"/>
            <a:ext cx="2011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269748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개선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2423160"/>
            <a:ext cx="2011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증가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03720" y="2423160"/>
            <a:ext cx="21031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6995160" y="2514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017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WFQ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606040" y="2926080"/>
            <a:ext cx="2011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9" name="Text 37"/>
          <p:cNvSpPr/>
          <p:nvPr/>
        </p:nvSpPr>
        <p:spPr>
          <a:xfrm>
            <a:off x="269748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개선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54880" y="2926080"/>
            <a:ext cx="2011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903720" y="2926080"/>
            <a:ext cx="21031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3" name="Text 41"/>
          <p:cNvSpPr/>
          <p:nvPr/>
        </p:nvSpPr>
        <p:spPr>
          <a:xfrm>
            <a:off x="699516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매우 높음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인사이트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0080" y="3886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Priority: 긴급 요청 대기시간 효과적 단축  • MLFQ: 대화형 + 배치 모두 효과적 처리  • WFQ: 멀티테넌트 환경 최적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19 / 24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공정성 분석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Jain's Fairness Index 결과: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2004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3749040" y="1280160"/>
            <a:ext cx="22860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533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353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Index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32004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3749040" y="173736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105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18105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32004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3749040" y="219456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2677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22677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32004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3749040" y="265176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7249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27249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32004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3749040" y="310896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1821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31821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1A3D2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시스템: 0.89 (티어별 가중치 차이로 인한 의도된 불균형)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 / 24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 선택 가이드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7432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0" y="914400"/>
            <a:ext cx="18288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0" y="914400"/>
            <a:ext cx="347472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51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051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알고리즘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0" y="1051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27432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508760"/>
            <a:ext cx="18288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5212080" y="1508760"/>
            <a:ext cx="347472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645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환경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1645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오버헤드 최소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27432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2103120"/>
            <a:ext cx="18288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5212080" y="2103120"/>
            <a:ext cx="347472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240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 필요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2240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2240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긴급 요청 우선 처리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697480"/>
            <a:ext cx="27432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3291840" y="2697480"/>
            <a:ext cx="18288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5212080" y="2697480"/>
            <a:ext cx="347472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혼합 워크로드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MLFQ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834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응답성 + 처리량 균형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27432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3291840" y="3291840"/>
            <a:ext cx="18288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5212080" y="3291840"/>
            <a:ext cx="347472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429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멀티테넌트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WFQ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3429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공정성 보장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21 / 24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 데모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 시나리오: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시스템 시작: 서버 구동 및 Redis/MongoDB 연결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FCFS 테스트: 순차 처리 확인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Priority 테스트: 우선순위별 처리 순서 확인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MLFQ 테스트: 큐 강등 및 Boost 동작 확인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WFQ 테스트: 가중치별 처리량, Fairness Index 확인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실시간 큐 상태, 처리 통계, 공정성 지표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22 / 24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성과: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OS 스케줄링 알고리즘의 LLM 환경 성공적 적용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4가지 알고리즘 완벽 구현 (FCFS, Priority, MLFQ, WFQ)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기아 방지 (Aging, Boost) 및 공정성 보장 (WFQ)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757개 테스트 100% 통과, 98.37% 커버리지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319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학술적 기여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OS 이론의 AI 시스템 최초 적용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정량적 성능 비교 분석 제공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743200"/>
            <a:ext cx="41148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실용적 가치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3154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멀티테넌트 환경 지원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 API 및 대시보드 제공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오픈소스 공개 (MIT 라이선스)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23 / 24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계획 및 Q&amp;A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연구 방향: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65760" cy="3657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스케줄링: Redis Cluster 기반 수평 확장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783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적응형 스케줄링: 워크로드 기반 자동 알고리즘 선택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40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240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기반 예측: 처리 시간 예측으로 스케줄링 최적화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97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697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LLM 통합: Claude, Gemini, Azure OpenAI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6118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97280" y="40233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질의응답 (Q&amp;A)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24 / 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홍익대학교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스케줄링 알고리즘을 활용한 LLM API 요청 최적화 스케줄러</dc:title>
  <dc:subject>PptxGenJS Presentation</dc:subject>
  <dc:creator>서민지</dc:creator>
  <cp:lastModifiedBy>서민지</cp:lastModifiedBy>
  <cp:revision>1</cp:revision>
  <dcterms:created xsi:type="dcterms:W3CDTF">2026-01-27T07:41:25Z</dcterms:created>
  <dcterms:modified xsi:type="dcterms:W3CDTF">2026-01-27T07:41:25Z</dcterms:modified>
</cp:coreProperties>
</file>